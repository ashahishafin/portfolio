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6" r:id="rId3"/>
    <p:sldId id="287" r:id="rId4"/>
    <p:sldId id="257" r:id="rId5"/>
    <p:sldId id="292" r:id="rId6"/>
    <p:sldId id="293" r:id="rId7"/>
    <p:sldId id="294" r:id="rId8"/>
    <p:sldId id="277" r:id="rId9"/>
    <p:sldId id="274" r:id="rId10"/>
    <p:sldId id="295" r:id="rId11"/>
    <p:sldId id="273" r:id="rId12"/>
    <p:sldId id="278" r:id="rId13"/>
    <p:sldId id="288" r:id="rId14"/>
    <p:sldId id="284" r:id="rId15"/>
    <p:sldId id="290" r:id="rId16"/>
    <p:sldId id="29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226" y="-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6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3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54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9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00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8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20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78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24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12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2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973B2-0B86-436F-A23D-2271D3305795}" type="datetimeFigureOut">
              <a:rPr lang="en-US" smtClean="0"/>
              <a:t>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0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23962611-DFD5-4092-AAFD-559E3DFCE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56616" y="0"/>
            <a:ext cx="818271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270F1FA-0425-408F-9861-80BF5AFB2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4026" y="2043663"/>
            <a:ext cx="4578895" cy="203105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LABORATORY No </a:t>
            </a:r>
            <a:r>
              <a:rPr lang="en-US" dirty="0" smtClean="0">
                <a:solidFill>
                  <a:srgbClr val="FFFFFF"/>
                </a:solidFill>
              </a:rPr>
              <a:t>3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4026" y="4074718"/>
            <a:ext cx="4578895" cy="682079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Data Movement using General Purpose Registers and Memory(RAM)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330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400" y="648355"/>
            <a:ext cx="82296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STUDENTS’S  ASSIGNMENT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</a:rPr>
              <a:t>EXAMPLE 3.3 FOR 8-BITS ONLY</a:t>
            </a:r>
          </a:p>
          <a:p>
            <a:endParaRPr lang="en-US" sz="28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ASSIGNING DATA BYTES AND THEN SWAPPING DATA BYTES USING </a:t>
            </a:r>
            <a:r>
              <a:rPr lang="en-US" sz="2400" b="1" dirty="0">
                <a:solidFill>
                  <a:srgbClr val="C00000"/>
                </a:solidFill>
              </a:rPr>
              <a:t>temp</a:t>
            </a:r>
            <a:r>
              <a:rPr lang="en-US" sz="2400" b="1" dirty="0"/>
              <a:t> MEMORY IN TWO GENERAL REGISTERS </a:t>
            </a:r>
            <a:r>
              <a:rPr lang="en-US" sz="2400" b="1" dirty="0">
                <a:solidFill>
                  <a:srgbClr val="C00000"/>
                </a:solidFill>
              </a:rPr>
              <a:t>BL, BH</a:t>
            </a:r>
            <a:r>
              <a:rPr lang="en-US" sz="2400" b="1" dirty="0"/>
              <a:t> USING LETTERS </a:t>
            </a:r>
            <a:r>
              <a:rPr lang="en-US" sz="2400" b="1" dirty="0">
                <a:solidFill>
                  <a:srgbClr val="C00000"/>
                </a:solidFill>
              </a:rPr>
              <a:t>a, A</a:t>
            </a:r>
            <a:r>
              <a:rPr lang="en-US" sz="2400" b="1" dirty="0"/>
              <a:t>.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ASSIGNING DATA BYTES AND THEN SWAPPING DATA BYTES USING </a:t>
            </a:r>
            <a:r>
              <a:rPr lang="en-US" sz="2400" b="1" dirty="0">
                <a:solidFill>
                  <a:srgbClr val="C00000"/>
                </a:solidFill>
              </a:rPr>
              <a:t>XCHG</a:t>
            </a:r>
            <a:r>
              <a:rPr lang="en-US" sz="2400" b="1" dirty="0"/>
              <a:t> IN TWO GENERAL REGISTERS OF </a:t>
            </a:r>
            <a:r>
              <a:rPr lang="en-US" sz="2400" b="1" dirty="0">
                <a:solidFill>
                  <a:srgbClr val="C00000"/>
                </a:solidFill>
              </a:rPr>
              <a:t>BL, BH</a:t>
            </a:r>
            <a:r>
              <a:rPr lang="en-US" sz="2400" b="1" dirty="0"/>
              <a:t> USING LETTERS </a:t>
            </a:r>
            <a:r>
              <a:rPr lang="en-US" sz="2400" b="1" dirty="0">
                <a:solidFill>
                  <a:srgbClr val="C00000"/>
                </a:solidFill>
              </a:rPr>
              <a:t>a, A</a:t>
            </a:r>
            <a:r>
              <a:rPr lang="en-US" sz="2400" b="1" dirty="0"/>
              <a:t>.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ASSIGNING DATA BYTES AND THEN SWAPPING DATA BYTES USING </a:t>
            </a:r>
            <a:r>
              <a:rPr lang="en-US" sz="2400" b="1" dirty="0">
                <a:solidFill>
                  <a:srgbClr val="C00000"/>
                </a:solidFill>
              </a:rPr>
              <a:t>XCHG </a:t>
            </a:r>
            <a:r>
              <a:rPr lang="en-US" sz="2400" b="1" dirty="0"/>
              <a:t>WITH </a:t>
            </a:r>
            <a:r>
              <a:rPr lang="en-US" sz="2400" b="1" dirty="0">
                <a:solidFill>
                  <a:srgbClr val="C00000"/>
                </a:solidFill>
              </a:rPr>
              <a:t>CORRECTIONS</a:t>
            </a:r>
            <a:r>
              <a:rPr lang="en-US" sz="2400" b="1" dirty="0"/>
              <a:t> IN TWO GENERAL REGISTERS OF </a:t>
            </a:r>
            <a:r>
              <a:rPr lang="en-US" sz="2400" b="1" dirty="0">
                <a:solidFill>
                  <a:srgbClr val="C00000"/>
                </a:solidFill>
              </a:rPr>
              <a:t>AL, AH</a:t>
            </a:r>
            <a:r>
              <a:rPr lang="en-US" sz="2400" b="1" dirty="0"/>
              <a:t>  USING LETTERS </a:t>
            </a:r>
            <a:r>
              <a:rPr lang="en-US" sz="2400" b="1" dirty="0">
                <a:solidFill>
                  <a:srgbClr val="C00000"/>
                </a:solidFill>
              </a:rPr>
              <a:t>b, B</a:t>
            </a:r>
            <a:r>
              <a:rPr lang="en-US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1419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15618" y="228600"/>
            <a:ext cx="918546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TO MAKE CORRECTION  TO THE SECOND EXCHANGE “XCHG” 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</a:rPr>
              <a:t>INSTRUCTION FOR 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</a:rPr>
              <a:t>EXAMPLE 3.3 FOR 8-BITS, 16-BITS</a:t>
            </a:r>
          </a:p>
          <a:p>
            <a:endParaRPr lang="en-US" sz="2800" b="1" dirty="0"/>
          </a:p>
          <a:p>
            <a:endParaRPr lang="en-US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1143000" y="1859340"/>
            <a:ext cx="69342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	</a:t>
            </a:r>
            <a:r>
              <a:rPr lang="en-US" sz="2800" dirty="0"/>
              <a:t>_</a:t>
            </a:r>
            <a:r>
              <a:rPr lang="en-US" sz="2800" dirty="0" err="1"/>
              <a:t>asm</a:t>
            </a:r>
            <a:endParaRPr lang="en-US" sz="2800" dirty="0"/>
          </a:p>
          <a:p>
            <a:r>
              <a:rPr lang="en-US" sz="2800" dirty="0"/>
              <a:t>	{</a:t>
            </a:r>
          </a:p>
          <a:p>
            <a:r>
              <a:rPr lang="en-US" sz="2800" dirty="0"/>
              <a:t>		</a:t>
            </a:r>
            <a:r>
              <a:rPr lang="en-US" sz="2800" dirty="0">
                <a:solidFill>
                  <a:srgbClr val="C00000"/>
                </a:solidFill>
              </a:rPr>
              <a:t>XXX  XX, XX</a:t>
            </a:r>
            <a:r>
              <a:rPr lang="en-US" sz="2800" dirty="0"/>
              <a:t>;</a:t>
            </a:r>
          </a:p>
          <a:p>
            <a:r>
              <a:rPr lang="en-US" sz="2800" dirty="0"/>
              <a:t>		</a:t>
            </a:r>
            <a:r>
              <a:rPr lang="en-US" sz="2800" dirty="0">
                <a:solidFill>
                  <a:srgbClr val="C00000"/>
                </a:solidFill>
              </a:rPr>
              <a:t>XXX  XX, XX</a:t>
            </a:r>
            <a:r>
              <a:rPr lang="en-US" sz="2800" dirty="0"/>
              <a:t>;</a:t>
            </a:r>
          </a:p>
          <a:p>
            <a:r>
              <a:rPr lang="en-US" sz="2800" dirty="0"/>
              <a:t>		XCHG AL, AH;</a:t>
            </a:r>
          </a:p>
          <a:p>
            <a:r>
              <a:rPr lang="en-US" sz="2800" dirty="0"/>
              <a:t>		MOV  r1, AL;</a:t>
            </a:r>
          </a:p>
          <a:p>
            <a:r>
              <a:rPr lang="en-US" sz="2800" dirty="0"/>
              <a:t>		MOV  r2, AH;</a:t>
            </a:r>
          </a:p>
          <a:p>
            <a:r>
              <a:rPr lang="en-US" sz="2800" dirty="0"/>
              <a:t>		MOV  r, AX;</a:t>
            </a:r>
          </a:p>
          <a:p>
            <a:r>
              <a:rPr lang="en-US" sz="2800" dirty="0"/>
              <a:t>		</a:t>
            </a:r>
          </a:p>
          <a:p>
            <a:r>
              <a:rPr lang="en-US" sz="2800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641124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8382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-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ADDRESSING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85800"/>
            <a:ext cx="858167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F0"/>
                </a:solidFill>
              </a:rPr>
              <a:t>Objective:</a:t>
            </a:r>
          </a:p>
          <a:p>
            <a:r>
              <a:rPr lang="en-US" sz="3200" dirty="0"/>
              <a:t>Moving instructions involving </a:t>
            </a:r>
            <a:r>
              <a:rPr lang="en-US" sz="3200" b="1" i="1" dirty="0"/>
              <a:t>data transfer and register addressing modes</a:t>
            </a:r>
            <a:r>
              <a:rPr lang="en-US" sz="3200" dirty="0"/>
              <a:t>: </a:t>
            </a:r>
          </a:p>
          <a:p>
            <a:r>
              <a:rPr lang="en-US" sz="3200" dirty="0"/>
              <a:t> 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Register to Register</a:t>
            </a:r>
            <a:r>
              <a:rPr lang="en-US" sz="3200" dirty="0"/>
              <a:t> …………………..</a:t>
            </a:r>
            <a:r>
              <a:rPr lang="en-US" sz="3200" b="1" dirty="0"/>
              <a:t>MOV EAX, EBX</a:t>
            </a:r>
            <a:r>
              <a:rPr lang="en-US" sz="3200" dirty="0"/>
              <a:t> </a:t>
            </a:r>
          </a:p>
          <a:p>
            <a:r>
              <a:rPr lang="en-US" sz="3200" b="1" dirty="0">
                <a:solidFill>
                  <a:srgbClr val="00B050"/>
                </a:solidFill>
              </a:rPr>
              <a:t>Immediate data to Register</a:t>
            </a:r>
            <a:r>
              <a:rPr lang="en-US" sz="3200" dirty="0"/>
              <a:t>……….</a:t>
            </a:r>
            <a:r>
              <a:rPr lang="en-US" sz="3200" b="1" dirty="0"/>
              <a:t>MOV EAX, 'd'</a:t>
            </a:r>
            <a:r>
              <a:rPr lang="en-US" sz="3200" dirty="0"/>
              <a:t> 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Direct memory to Register</a:t>
            </a:r>
            <a:r>
              <a:rPr lang="en-US" sz="3200" dirty="0"/>
              <a:t>………..	</a:t>
            </a:r>
            <a:r>
              <a:rPr lang="en-US" sz="3200" b="1" dirty="0"/>
              <a:t>MOV EAX, </a:t>
            </a:r>
            <a:r>
              <a:rPr lang="en-US" sz="3200" b="1" dirty="0" smtClean="0"/>
              <a:t>j</a:t>
            </a:r>
          </a:p>
          <a:p>
            <a:r>
              <a:rPr lang="en-US" sz="3200" b="1" dirty="0" smtClean="0">
                <a:solidFill>
                  <a:srgbClr val="00B050"/>
                </a:solidFill>
              </a:rPr>
              <a:t>Indirect memory to Register</a:t>
            </a:r>
            <a:r>
              <a:rPr lang="en-US" sz="3200" b="1" dirty="0" smtClean="0"/>
              <a:t>……..MOV </a:t>
            </a:r>
            <a:r>
              <a:rPr lang="en-US" sz="3200" b="1" dirty="0"/>
              <a:t>EAX, </a:t>
            </a:r>
            <a:r>
              <a:rPr lang="en-US" sz="3200" b="1" dirty="0" smtClean="0"/>
              <a:t>[EBX]</a:t>
            </a:r>
            <a:endParaRPr lang="en-US" sz="3200" b="1" dirty="0"/>
          </a:p>
          <a:p>
            <a:r>
              <a:rPr lang="en-US" sz="3200" b="1" dirty="0">
                <a:solidFill>
                  <a:srgbClr val="C00000"/>
                </a:solidFill>
              </a:rPr>
              <a:t>Register to Memory</a:t>
            </a:r>
            <a:r>
              <a:rPr lang="en-US" sz="3200" dirty="0"/>
              <a:t>………………….	</a:t>
            </a:r>
            <a:r>
              <a:rPr lang="en-US" sz="3200" b="1" dirty="0"/>
              <a:t>MOV j, EAX</a:t>
            </a:r>
            <a:r>
              <a:rPr lang="en-US" sz="3200" dirty="0"/>
              <a:t> </a:t>
            </a:r>
          </a:p>
          <a:p>
            <a:r>
              <a:rPr lang="en-US" sz="3200" b="1" dirty="0">
                <a:solidFill>
                  <a:srgbClr val="00B050"/>
                </a:solidFill>
              </a:rPr>
              <a:t>Immediate data to Memory</a:t>
            </a:r>
            <a:r>
              <a:rPr lang="en-US" sz="3200" dirty="0"/>
              <a:t>…….. </a:t>
            </a:r>
            <a:r>
              <a:rPr lang="en-US" sz="3200" b="1" dirty="0"/>
              <a:t>MOV [EAX], 34</a:t>
            </a:r>
          </a:p>
          <a:p>
            <a:r>
              <a:rPr lang="en-US" sz="3200" b="1" dirty="0" smtClean="0"/>
              <a:t>Remember </a:t>
            </a:r>
            <a:r>
              <a:rPr lang="en-US" sz="3200" b="1" dirty="0"/>
              <a:t>MOV is not actually “moving data”</a:t>
            </a:r>
          </a:p>
          <a:p>
            <a:r>
              <a:rPr lang="en-US" sz="3200" b="1" dirty="0"/>
              <a:t>and you cannot move </a:t>
            </a:r>
            <a:r>
              <a:rPr lang="en-US" sz="3200" b="1" i="1" dirty="0">
                <a:solidFill>
                  <a:srgbClr val="C00000"/>
                </a:solidFill>
              </a:rPr>
              <a:t>memory to memory</a:t>
            </a:r>
            <a:r>
              <a:rPr lang="en-US" sz="32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915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730508"/>
            <a:ext cx="8627618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MOVING DATA: 	  </a:t>
            </a:r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AX, EBX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(OPERAND DESTINATION), (OPERAND SOURCE)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DESTINATION                 SOURCE</a:t>
            </a:r>
          </a:p>
          <a:p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 MOV instruction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copies (loads)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operand 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32-bit EBX register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an operand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 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32-bit EAX register.</a:t>
            </a:r>
          </a:p>
          <a:p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same way when using 8-bits and 16-bits registers 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operands.</a:t>
            </a:r>
            <a:endParaRPr lang="en-US" sz="2800" dirty="0">
              <a:solidFill>
                <a:srgbClr val="C0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3124200" y="2286000"/>
            <a:ext cx="1219200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-27709" y="0"/>
            <a:ext cx="9199418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WRITE  INSTRUCTIONS LAB_No_01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33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WRITE  INSTRUCTIONS LAB_No_01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" y="783134"/>
            <a:ext cx="9208675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MOVING DATA: 	  </a:t>
            </a:r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EAX, J</a:t>
            </a:r>
          </a:p>
          <a:p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MOV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EAX,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‘A’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(OPERAND DESTINATION), (OPERAND SOURCE)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DESTINATION                 SOURCE</a:t>
            </a:r>
          </a:p>
          <a:p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 MOV instruction copies (loads) an operand 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MEMORY variable J to an operand destination 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32-bit EAX register.</a:t>
            </a:r>
          </a:p>
          <a:p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 MOV instruction copies (loads) an operand </a:t>
            </a:r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ource MEMORY character ‘A’ to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operand destination </a:t>
            </a:r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32-bit EAX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register.</a:t>
            </a:r>
            <a:endParaRPr lang="en-US" sz="2800" dirty="0">
              <a:solidFill>
                <a:srgbClr val="C0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2895600" y="2819400"/>
            <a:ext cx="1219200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319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WRITE  INSTRUCTIONS LAB_No_01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783134"/>
            <a:ext cx="8805167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MOVING DATA: 	  </a:t>
            </a:r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EAX, [EBX]</a:t>
            </a:r>
          </a:p>
          <a:p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MOV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EBX, 34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(OPERAND DESTINATION), (OPERAND SOURCE)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DESTINATION                 SOURCE</a:t>
            </a:r>
          </a:p>
          <a:p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 MOV instruction copies (loads) an operand 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MEMORY 32-bits EBX register to an operand </a:t>
            </a:r>
          </a:p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estination 32-bit EAX register.</a:t>
            </a:r>
          </a:p>
          <a:p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 MOV instruction copies (loads) an operand </a:t>
            </a:r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MEMORY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34 to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operand destination </a:t>
            </a:r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32-bit EBX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register.</a:t>
            </a:r>
            <a:endParaRPr lang="en-US" sz="2800" dirty="0">
              <a:solidFill>
                <a:srgbClr val="C0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3048000" y="2743200"/>
            <a:ext cx="1219200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590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599" y="685800"/>
            <a:ext cx="8713519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 </a:t>
            </a:r>
            <a:r>
              <a:rPr lang="en-US" sz="2800" dirty="0"/>
              <a:t>1. The students must find the missing </a:t>
            </a:r>
            <a:r>
              <a:rPr lang="en-US" sz="2800" b="1" dirty="0">
                <a:solidFill>
                  <a:srgbClr val="C00000"/>
                </a:solidFill>
              </a:rPr>
              <a:t>AX = AH+AL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C00000"/>
                </a:solidFill>
              </a:rPr>
              <a:t>BX = BH+BL</a:t>
            </a:r>
            <a:r>
              <a:rPr lang="en-US" sz="2800" dirty="0"/>
              <a:t> in the output results of examples 3.1 and 3.2 to use them in </a:t>
            </a:r>
            <a:r>
              <a:rPr lang="en-US" sz="2800" b="1" dirty="0">
                <a:solidFill>
                  <a:srgbClr val="C00000"/>
                </a:solidFill>
              </a:rPr>
              <a:t>example 3.3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/>
              <a:t>2. The students must </a:t>
            </a:r>
            <a:r>
              <a:rPr lang="en-US" sz="2800" dirty="0" smtClean="0"/>
              <a:t>use  </a:t>
            </a:r>
            <a:r>
              <a:rPr lang="en-US" sz="2800" dirty="0"/>
              <a:t>letters </a:t>
            </a:r>
            <a:r>
              <a:rPr lang="en-US" sz="2800" b="1" dirty="0">
                <a:solidFill>
                  <a:srgbClr val="C00000"/>
                </a:solidFill>
              </a:rPr>
              <a:t>a </a:t>
            </a:r>
            <a:r>
              <a:rPr lang="en-US" sz="2800" dirty="0"/>
              <a:t>and </a:t>
            </a:r>
            <a:r>
              <a:rPr lang="en-US" sz="2800" b="1" dirty="0">
                <a:solidFill>
                  <a:srgbClr val="C00000"/>
                </a:solidFill>
              </a:rPr>
              <a:t>b</a:t>
            </a:r>
            <a:r>
              <a:rPr lang="en-US" sz="2800" dirty="0"/>
              <a:t> instead of </a:t>
            </a:r>
            <a:r>
              <a:rPr lang="en-US" sz="2800" b="1" dirty="0">
                <a:solidFill>
                  <a:srgbClr val="C00000"/>
                </a:solidFill>
              </a:rPr>
              <a:t>i </a:t>
            </a:r>
            <a:r>
              <a:rPr lang="en-US" sz="2800" dirty="0"/>
              <a:t>and </a:t>
            </a:r>
            <a:r>
              <a:rPr lang="en-US" sz="2800" b="1" dirty="0">
                <a:solidFill>
                  <a:srgbClr val="C00000"/>
                </a:solidFill>
              </a:rPr>
              <a:t>j</a:t>
            </a:r>
            <a:r>
              <a:rPr lang="en-US" sz="2800" dirty="0"/>
              <a:t> in </a:t>
            </a:r>
            <a:r>
              <a:rPr lang="en-US" sz="2800" b="1" dirty="0">
                <a:solidFill>
                  <a:srgbClr val="C00000"/>
                </a:solidFill>
              </a:rPr>
              <a:t>example 3.3</a:t>
            </a:r>
            <a:r>
              <a:rPr lang="en-US" sz="2800" dirty="0"/>
              <a:t>. The students must use the exchange format with the memory “</a:t>
            </a:r>
            <a:r>
              <a:rPr lang="en-US" sz="2800" b="1" dirty="0">
                <a:solidFill>
                  <a:srgbClr val="C00000"/>
                </a:solidFill>
              </a:rPr>
              <a:t>temp</a:t>
            </a:r>
            <a:r>
              <a:rPr lang="en-US" sz="2800" dirty="0"/>
              <a:t>” from the </a:t>
            </a:r>
            <a:r>
              <a:rPr lang="en-US" sz="2800" b="1" dirty="0"/>
              <a:t>example 3.1 </a:t>
            </a:r>
            <a:r>
              <a:rPr lang="en-US" sz="2800" dirty="0"/>
              <a:t>into </a:t>
            </a:r>
            <a:r>
              <a:rPr lang="en-US" sz="2800" b="1" dirty="0"/>
              <a:t>example 3.3, by placing the instructions at the beginning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/>
              <a:t>4. Work on your laboratory  report by showing your code without comments, code descriptions, flow chart, output console results, comments, and conclusion illustrating an real life application (for </a:t>
            </a:r>
            <a:r>
              <a:rPr lang="en-US" sz="2800" b="1" dirty="0">
                <a:solidFill>
                  <a:srgbClr val="C00000"/>
                </a:solidFill>
              </a:rPr>
              <a:t>2</a:t>
            </a:r>
            <a:r>
              <a:rPr lang="en-US" sz="2800" b="1" dirty="0" smtClean="0">
                <a:solidFill>
                  <a:srgbClr val="C00000"/>
                </a:solidFill>
              </a:rPr>
              <a:t>0 </a:t>
            </a:r>
            <a:r>
              <a:rPr lang="en-US" sz="2800" b="1" dirty="0">
                <a:solidFill>
                  <a:srgbClr val="C00000"/>
                </a:solidFill>
              </a:rPr>
              <a:t>points</a:t>
            </a:r>
            <a:r>
              <a:rPr lang="en-US" sz="2800" dirty="0"/>
              <a:t>) using a template report posted on Blackboard, do not unlock the original report, otherwise, you lose </a:t>
            </a:r>
            <a:r>
              <a:rPr lang="en-US" sz="2800" b="1" dirty="0">
                <a:solidFill>
                  <a:srgbClr val="C00000"/>
                </a:solidFill>
              </a:rPr>
              <a:t>40 points</a:t>
            </a:r>
            <a:r>
              <a:rPr lang="en-US" sz="2800" dirty="0"/>
              <a:t>.</a:t>
            </a:r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8382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STUDENTS’ ASSIGNMENT</a:t>
            </a:r>
          </a:p>
        </p:txBody>
      </p:sp>
    </p:spTree>
    <p:extLst>
      <p:ext uri="{BB962C8B-B14F-4D97-AF65-F5344CB8AC3E}">
        <p14:creationId xmlns:p14="http://schemas.microsoft.com/office/powerpoint/2010/main" val="634918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65"/>
          <a:stretch/>
        </p:blipFill>
        <p:spPr bwMode="auto">
          <a:xfrm>
            <a:off x="455703" y="1839036"/>
            <a:ext cx="8217667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8382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</p:spTree>
    <p:extLst>
      <p:ext uri="{BB962C8B-B14F-4D97-AF65-F5344CB8AC3E}">
        <p14:creationId xmlns:p14="http://schemas.microsoft.com/office/powerpoint/2010/main" val="1510290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838200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ADDRESSING DATA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505604"/>
              </p:ext>
            </p:extLst>
          </p:nvPr>
        </p:nvGraphicFramePr>
        <p:xfrm>
          <a:off x="568071" y="1270000"/>
          <a:ext cx="7160451" cy="18542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597089"/>
                <a:gridCol w="1589151"/>
                <a:gridCol w="1398651"/>
                <a:gridCol w="1624330"/>
                <a:gridCol w="95123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GPRs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Reg.</a:t>
                      </a:r>
                      <a:r>
                        <a:rPr lang="en-US" sz="15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Reg.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to Reg.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Dir. Mem.</a:t>
                      </a:r>
                      <a:r>
                        <a:rPr lang="en-US" sz="15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Reg.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EAX,EBX,ECX,EDX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EAX, EBX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EAX, 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EAX, j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b, …,j</a:t>
                      </a:r>
                    </a:p>
                    <a:p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B,….J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AX,BX,CX,DX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AX, BX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AX, 44h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AX, A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AL,BL,CL,DL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AL, BL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AL, ‘a’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AL,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b, …,j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AH,BH,CH,DH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AH, BH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AH, ‘A’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BH,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B,….J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106948"/>
              </p:ext>
            </p:extLst>
          </p:nvPr>
        </p:nvGraphicFramePr>
        <p:xfrm>
          <a:off x="533400" y="3632200"/>
          <a:ext cx="7445186" cy="18542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597089"/>
                <a:gridCol w="1461135"/>
                <a:gridCol w="1746314"/>
                <a:gridCol w="1689418"/>
                <a:gridCol w="95123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GPRs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Reg. to Mem.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to </a:t>
                      </a:r>
                      <a:r>
                        <a:rPr lang="en-US" sz="1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</a:t>
                      </a:r>
                      <a:endParaRPr 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</a:t>
                      </a:r>
                      <a:r>
                        <a:rPr lang="en-US" sz="1500" baseline="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Mem[No]</a:t>
                      </a:r>
                      <a:endParaRPr lang="en-US" sz="15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EAX,EBX,ECX,EDX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A, ECX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[ECX],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a, 21</a:t>
                      </a:r>
                      <a:endParaRPr lang="en-US" sz="15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b, …,j</a:t>
                      </a:r>
                    </a:p>
                    <a:p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B,….J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AX,BX,CX,DX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[a], 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[EBX], 41h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[AX], [BX]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AL,BL,CL,DL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temp, AL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temp, [AH]</a:t>
                      </a:r>
                      <a:endParaRPr lang="en-US" sz="15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b, …,j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AH,BH,CH,DH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temp, AH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temp, 0xAC</a:t>
                      </a:r>
                      <a:endParaRPr lang="en-US" sz="15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B,….J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579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8382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ARCHITECTURE </a:t>
            </a: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913130"/>
            <a:ext cx="8324850" cy="571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21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8382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ARCHITECTURE </a:t>
            </a: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723900"/>
            <a:ext cx="661035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794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7039" y="228600"/>
            <a:ext cx="820013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FLOWCHART  FOR THE  EXAMPLE 3.3 FOR 8-BITS ONLY</a:t>
            </a:r>
          </a:p>
          <a:p>
            <a:endParaRPr lang="en-US" sz="2800" b="1" dirty="0"/>
          </a:p>
          <a:p>
            <a:endParaRPr lang="en-US" sz="2800" b="1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762000"/>
            <a:ext cx="5257799" cy="6021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250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131875" y="1363682"/>
            <a:ext cx="9417963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STUDENTS’S  ASSIGNMENT RESULT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</a:rPr>
              <a:t>EXAMPLE 3.3 FOR 8-BITS ONLY.</a:t>
            </a:r>
          </a:p>
          <a:p>
            <a:endParaRPr lang="en-US" sz="2800" b="1" dirty="0"/>
          </a:p>
          <a:p>
            <a:r>
              <a:rPr lang="en-US" sz="2800" b="1" dirty="0"/>
              <a:t>The students should get one output result operation </a:t>
            </a:r>
          </a:p>
          <a:p>
            <a:r>
              <a:rPr lang="en-US" sz="2800" b="1" dirty="0"/>
              <a:t>Console result contains: 	One for temp 		</a:t>
            </a:r>
            <a:endParaRPr lang="en-US" sz="2800" b="1" dirty="0">
              <a:solidFill>
                <a:srgbClr val="C00000"/>
              </a:solidFill>
            </a:endParaRPr>
          </a:p>
          <a:p>
            <a:r>
              <a:rPr lang="en-US" sz="2800" b="1" dirty="0"/>
              <a:t>				One for </a:t>
            </a:r>
            <a:r>
              <a:rPr lang="en-US" sz="2800" b="1" dirty="0"/>
              <a:t>XCHG with Corrections </a:t>
            </a:r>
            <a:r>
              <a:rPr lang="en-US" sz="2800" b="1" dirty="0"/>
              <a:t>	</a:t>
            </a:r>
            <a:endParaRPr lang="en-US" sz="2800" b="1" dirty="0">
              <a:solidFill>
                <a:srgbClr val="C00000"/>
              </a:solidFill>
            </a:endParaRPr>
          </a:p>
          <a:p>
            <a:r>
              <a:rPr lang="en-US" sz="2800" b="1" dirty="0"/>
              <a:t>			 </a:t>
            </a:r>
            <a:r>
              <a:rPr lang="en-US" sz="2800" b="1"/>
              <a:t>	</a:t>
            </a:r>
            <a:endParaRPr lang="en-US" sz="2800" b="1" dirty="0"/>
          </a:p>
          <a:p>
            <a:endParaRPr lang="en-US" sz="2800" b="1" dirty="0"/>
          </a:p>
          <a:p>
            <a:pPr algn="ctr"/>
            <a:r>
              <a:rPr lang="en-US" sz="2800" b="1" dirty="0"/>
              <a:t>Total of 1 outputs</a:t>
            </a:r>
          </a:p>
        </p:txBody>
      </p:sp>
    </p:spTree>
    <p:extLst>
      <p:ext uri="{BB962C8B-B14F-4D97-AF65-F5344CB8AC3E}">
        <p14:creationId xmlns:p14="http://schemas.microsoft.com/office/powerpoint/2010/main" val="2094281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7845966-6EFC-468A-9CC7-BAB4B95854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75554383-98AF-4A47-BB65-705FAAA4BE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DAD1991-FFD1-4E94-ABAB-7560D33008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55410" y="-3970"/>
            <a:ext cx="7748362" cy="6874811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3" name="Picture 4" descr="MCj0434411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21856" y="1172029"/>
            <a:ext cx="4015469" cy="451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5781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xmlns="" id="{934F1179-B481-4F9E-BCA3-AFB972070F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ight Triangle 75">
            <a:extLst>
              <a:ext uri="{FF2B5EF4-FFF2-40B4-BE49-F238E27FC236}">
                <a16:creationId xmlns:a16="http://schemas.microsoft.com/office/drawing/2014/main" xmlns="" id="{827DC2C4-B485-428A-BF4A-472D2967F4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xmlns="" id="{EE04B5EB-F158-4507-90DD-BD23620C7C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021" name="WordArt 5"/>
          <p:cNvSpPr>
            <a:spLocks noChangeArrowheads="1" noChangeShapeType="1" noTextEdit="1"/>
          </p:cNvSpPr>
          <p:nvPr/>
        </p:nvSpPr>
        <p:spPr bwMode="auto">
          <a:xfrm>
            <a:off x="963930" y="1008993"/>
            <a:ext cx="6923558" cy="3542045"/>
          </a:xfrm>
          <a:prstGeom prst="rect">
            <a:avLst/>
          </a:prstGeom>
        </p:spPr>
        <p:txBody>
          <a:bodyPr vert="horz" lIns="91440" tIns="45720" rIns="91440" bIns="45720" rtlCol="0" fromWordArt="1" anchor="b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0000" i="1" kern="1200">
                <a:ln w="9525">
                  <a:solidFill>
                    <a:srgbClr val="8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effectLst>
                  <a:outerShdw dist="35921" dir="2700000" algn="ctr" rotWithShape="0">
                    <a:srgbClr val="B2B2B2">
                      <a:alpha val="80000"/>
                    </a:srgbClr>
                  </a:outerShdw>
                </a:effectLst>
                <a:latin typeface="+mj-lt"/>
                <a:ea typeface="+mj-ea"/>
                <a:cs typeface="+mj-cs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545918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543</Words>
  <Application>Microsoft Office PowerPoint</Application>
  <PresentationFormat>On-screen Show (4:3)</PresentationFormat>
  <Paragraphs>140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LABORATORY No 3</vt:lpstr>
      <vt:lpstr>PowerPoint Presentation</vt:lpstr>
      <vt:lpstr>PowerPoint Presentation</vt:lpstr>
      <vt:lpstr>DATA TRANSFER - REGISTER ADDRESSING</vt:lpstr>
      <vt:lpstr>PowerPoint Presentation</vt:lpstr>
      <vt:lpstr>HOW TO WRITE  INSTRUCTIONS LAB_No_01</vt:lpstr>
      <vt:lpstr>HOW TO WRITE  INSTRUCTIONS LAB_No_01</vt:lpstr>
      <vt:lpstr>STUDENTS’ ASSIGNMENT</vt:lpstr>
      <vt:lpstr>GENERAL PURPOSE REGISTERS</vt:lpstr>
      <vt:lpstr>REGISTER ADDRESSING DATA</vt:lpstr>
      <vt:lpstr>CPU ARCHITECTURE </vt:lpstr>
      <vt:lpstr>CPU ARCHITECTURE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Ruben Velasquez</dc:creator>
  <cp:lastModifiedBy>Windows User</cp:lastModifiedBy>
  <cp:revision>128</cp:revision>
  <dcterms:created xsi:type="dcterms:W3CDTF">2019-01-03T03:42:08Z</dcterms:created>
  <dcterms:modified xsi:type="dcterms:W3CDTF">2021-02-25T16:04:28Z</dcterms:modified>
</cp:coreProperties>
</file>