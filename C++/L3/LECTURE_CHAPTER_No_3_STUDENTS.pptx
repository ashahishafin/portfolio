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9" r:id="rId2"/>
    <p:sldId id="286" r:id="rId3"/>
    <p:sldId id="287" r:id="rId4"/>
    <p:sldId id="257" r:id="rId5"/>
    <p:sldId id="292" r:id="rId6"/>
    <p:sldId id="293" r:id="rId7"/>
    <p:sldId id="294" r:id="rId8"/>
    <p:sldId id="277" r:id="rId9"/>
    <p:sldId id="274" r:id="rId10"/>
    <p:sldId id="295" r:id="rId11"/>
    <p:sldId id="273" r:id="rId12"/>
    <p:sldId id="278" r:id="rId13"/>
    <p:sldId id="288" r:id="rId14"/>
    <p:sldId id="284" r:id="rId15"/>
    <p:sldId id="290" r:id="rId16"/>
    <p:sldId id="291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5" d="100"/>
          <a:sy n="55" d="100"/>
        </p:scale>
        <p:origin x="-1123" y="-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73B2-0B86-436F-A23D-2271D3305795}" type="datetimeFigureOut">
              <a:rPr lang="en-US" smtClean="0"/>
              <a:t>2/24/2021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86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73B2-0B86-436F-A23D-2271D3305795}" type="datetimeFigureOut">
              <a:rPr lang="en-US" smtClean="0"/>
              <a:t>2/24/2021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637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73B2-0B86-436F-A23D-2271D3305795}" type="datetimeFigureOut">
              <a:rPr lang="en-US" smtClean="0"/>
              <a:t>2/24/2021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654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73B2-0B86-436F-A23D-2271D3305795}" type="datetimeFigureOut">
              <a:rPr lang="en-US" smtClean="0"/>
              <a:t>2/24/2021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194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73B2-0B86-436F-A23D-2271D3305795}" type="datetimeFigureOut">
              <a:rPr lang="en-US" smtClean="0"/>
              <a:t>2/24/2021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700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73B2-0B86-436F-A23D-2271D3305795}" type="datetimeFigureOut">
              <a:rPr lang="en-US" smtClean="0"/>
              <a:t>2/24/2021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968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73B2-0B86-436F-A23D-2271D3305795}" type="datetimeFigureOut">
              <a:rPr lang="en-US" smtClean="0"/>
              <a:t>2/24/2021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120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73B2-0B86-436F-A23D-2271D3305795}" type="datetimeFigureOut">
              <a:rPr lang="en-US" smtClean="0"/>
              <a:t>2/24/2021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078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73B2-0B86-436F-A23D-2271D3305795}" type="datetimeFigureOut">
              <a:rPr lang="en-US" smtClean="0"/>
              <a:t>2/24/2021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624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73B2-0B86-436F-A23D-2271D3305795}" type="datetimeFigureOut">
              <a:rPr lang="en-US" smtClean="0"/>
              <a:t>2/24/2021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512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73B2-0B86-436F-A23D-2271D3305795}" type="datetimeFigureOut">
              <a:rPr lang="en-US" smtClean="0"/>
              <a:t>2/24/2021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424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6973B2-0B86-436F-A23D-2271D3305795}" type="datetimeFigureOut">
              <a:rPr lang="en-US" smtClean="0"/>
              <a:t>2/24/2021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801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23962611-DFD5-4092-AAFD-559E3DFCE2C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356616" y="0"/>
            <a:ext cx="8182719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2270F1FA-0425-408F-9861-80BF5AFB276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4026" y="2043663"/>
            <a:ext cx="4578895" cy="203105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LABORATORY No </a:t>
            </a:r>
            <a:r>
              <a:rPr lang="en-US" dirty="0" smtClean="0">
                <a:solidFill>
                  <a:srgbClr val="FFFFFF"/>
                </a:solidFill>
              </a:rPr>
              <a:t>3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4026" y="4074718"/>
            <a:ext cx="4578895" cy="682079"/>
          </a:xfrm>
        </p:spPr>
        <p:txBody>
          <a:bodyPr>
            <a:normAutofit fontScale="70000" lnSpcReduction="20000"/>
          </a:bodyPr>
          <a:lstStyle/>
          <a:p>
            <a:r>
              <a:rPr lang="en-US" dirty="0">
                <a:solidFill>
                  <a:schemeClr val="bg1"/>
                </a:solidFill>
              </a:rPr>
              <a:t>Data Movement using General Purpose Registers and Memory(RAM)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6330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33400" y="648355"/>
            <a:ext cx="8229600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</a:rPr>
              <a:t>STUDENTS’S  ASSIGNMENT</a:t>
            </a:r>
          </a:p>
          <a:p>
            <a:pPr algn="ctr"/>
            <a:r>
              <a:rPr lang="en-US" sz="2800" b="1" dirty="0">
                <a:solidFill>
                  <a:srgbClr val="C00000"/>
                </a:solidFill>
              </a:rPr>
              <a:t>EXAMPLE 3.3 FOR 8-BITS ONLY</a:t>
            </a:r>
          </a:p>
          <a:p>
            <a:endParaRPr lang="en-US" sz="2800" b="1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b="1" dirty="0"/>
              <a:t>ASSIGNING DATA BYTES AND THEN SWAPPING DATA BYTES USING </a:t>
            </a:r>
            <a:r>
              <a:rPr lang="en-US" sz="2400" b="1" dirty="0">
                <a:solidFill>
                  <a:srgbClr val="C00000"/>
                </a:solidFill>
              </a:rPr>
              <a:t>temp</a:t>
            </a:r>
            <a:r>
              <a:rPr lang="en-US" sz="2400" b="1" dirty="0"/>
              <a:t> MEMORY IN TWO GENERAL REGISTERS </a:t>
            </a:r>
            <a:r>
              <a:rPr lang="en-US" sz="2400" b="1" dirty="0">
                <a:solidFill>
                  <a:srgbClr val="C00000"/>
                </a:solidFill>
              </a:rPr>
              <a:t>BL, BH</a:t>
            </a:r>
            <a:r>
              <a:rPr lang="en-US" sz="2400" b="1" dirty="0"/>
              <a:t> USING LETTERS </a:t>
            </a:r>
            <a:r>
              <a:rPr lang="en-US" sz="2400" b="1" dirty="0">
                <a:solidFill>
                  <a:srgbClr val="C00000"/>
                </a:solidFill>
              </a:rPr>
              <a:t>a, A</a:t>
            </a:r>
            <a:r>
              <a:rPr lang="en-US" sz="2400" b="1" dirty="0"/>
              <a:t>.</a:t>
            </a:r>
          </a:p>
          <a:p>
            <a:endParaRPr lang="en-US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ASSIGNING DATA BYTES AND THEN SWAPPING DATA BYTES USING </a:t>
            </a:r>
            <a:r>
              <a:rPr lang="en-US" sz="2400" b="1" dirty="0">
                <a:solidFill>
                  <a:srgbClr val="C00000"/>
                </a:solidFill>
              </a:rPr>
              <a:t>XCHG</a:t>
            </a:r>
            <a:r>
              <a:rPr lang="en-US" sz="2400" b="1" dirty="0"/>
              <a:t> IN TWO GENERAL REGISTERS OF </a:t>
            </a:r>
            <a:r>
              <a:rPr lang="en-US" sz="2400" b="1" dirty="0">
                <a:solidFill>
                  <a:srgbClr val="C00000"/>
                </a:solidFill>
              </a:rPr>
              <a:t>BL, BH</a:t>
            </a:r>
            <a:r>
              <a:rPr lang="en-US" sz="2400" b="1" dirty="0"/>
              <a:t> USING LETTERS </a:t>
            </a:r>
            <a:r>
              <a:rPr lang="en-US" sz="2400" b="1" dirty="0">
                <a:solidFill>
                  <a:srgbClr val="C00000"/>
                </a:solidFill>
              </a:rPr>
              <a:t>a, A</a:t>
            </a:r>
            <a:r>
              <a:rPr lang="en-US" sz="2400" b="1" dirty="0"/>
              <a:t>.</a:t>
            </a:r>
          </a:p>
          <a:p>
            <a:endParaRPr lang="en-US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ASSIGNING DATA BYTES AND THEN SWAPPING DATA BYTES USING </a:t>
            </a:r>
            <a:r>
              <a:rPr lang="en-US" sz="2400" b="1" dirty="0">
                <a:solidFill>
                  <a:srgbClr val="C00000"/>
                </a:solidFill>
              </a:rPr>
              <a:t>XCHG </a:t>
            </a:r>
            <a:r>
              <a:rPr lang="en-US" sz="2400" b="1" dirty="0"/>
              <a:t>WITH </a:t>
            </a:r>
            <a:r>
              <a:rPr lang="en-US" sz="2400" b="1" dirty="0">
                <a:solidFill>
                  <a:srgbClr val="C00000"/>
                </a:solidFill>
              </a:rPr>
              <a:t>CORRECTIONS</a:t>
            </a:r>
            <a:r>
              <a:rPr lang="en-US" sz="2400" b="1" dirty="0"/>
              <a:t> IN TWO GENERAL REGISTERS OF </a:t>
            </a:r>
            <a:r>
              <a:rPr lang="en-US" sz="2400" b="1" dirty="0">
                <a:solidFill>
                  <a:srgbClr val="C00000"/>
                </a:solidFill>
              </a:rPr>
              <a:t>AL, AH</a:t>
            </a:r>
            <a:r>
              <a:rPr lang="en-US" sz="2400" b="1" dirty="0"/>
              <a:t>  USING LETTERS </a:t>
            </a:r>
            <a:r>
              <a:rPr lang="en-US" sz="2400" b="1" dirty="0">
                <a:solidFill>
                  <a:srgbClr val="C00000"/>
                </a:solidFill>
              </a:rPr>
              <a:t>b, B</a:t>
            </a:r>
            <a:r>
              <a:rPr lang="en-US" sz="2400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61419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-15618" y="228600"/>
            <a:ext cx="9185464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</a:rPr>
              <a:t>TO MAKE CORRECTION  TO THE SECOND EXCHANGE “XCHG” </a:t>
            </a:r>
          </a:p>
          <a:p>
            <a:pPr algn="ctr"/>
            <a:r>
              <a:rPr lang="en-US" sz="2800" b="1" dirty="0">
                <a:solidFill>
                  <a:srgbClr val="C00000"/>
                </a:solidFill>
              </a:rPr>
              <a:t>INSTRUCTION FOR </a:t>
            </a:r>
          </a:p>
          <a:p>
            <a:pPr algn="ctr"/>
            <a:r>
              <a:rPr lang="en-US" sz="2800" b="1" dirty="0">
                <a:solidFill>
                  <a:srgbClr val="C00000"/>
                </a:solidFill>
              </a:rPr>
              <a:t>EXAMPLE 3.3 FOR 8-BITS, 16-BITS</a:t>
            </a:r>
          </a:p>
          <a:p>
            <a:endParaRPr lang="en-US" sz="2800" b="1" dirty="0"/>
          </a:p>
          <a:p>
            <a:endParaRPr lang="en-US" sz="2800" b="1" dirty="0"/>
          </a:p>
        </p:txBody>
      </p:sp>
      <p:sp>
        <p:nvSpPr>
          <p:cNvPr id="4" name="Rectangle 3"/>
          <p:cNvSpPr/>
          <p:nvPr/>
        </p:nvSpPr>
        <p:spPr>
          <a:xfrm>
            <a:off x="1143000" y="1859340"/>
            <a:ext cx="69342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	</a:t>
            </a:r>
            <a:r>
              <a:rPr lang="en-US" sz="2800" dirty="0"/>
              <a:t>_</a:t>
            </a:r>
            <a:r>
              <a:rPr lang="en-US" sz="2800" dirty="0" err="1"/>
              <a:t>asm</a:t>
            </a:r>
            <a:endParaRPr lang="en-US" sz="2800" dirty="0"/>
          </a:p>
          <a:p>
            <a:r>
              <a:rPr lang="en-US" sz="2800" dirty="0"/>
              <a:t>	{</a:t>
            </a:r>
          </a:p>
          <a:p>
            <a:r>
              <a:rPr lang="en-US" sz="2800" dirty="0"/>
              <a:t>		</a:t>
            </a:r>
            <a:r>
              <a:rPr lang="en-US" sz="2800" dirty="0">
                <a:solidFill>
                  <a:srgbClr val="C00000"/>
                </a:solidFill>
              </a:rPr>
              <a:t>XXX  XX, XX</a:t>
            </a:r>
            <a:r>
              <a:rPr lang="en-US" sz="2800" dirty="0"/>
              <a:t>;</a:t>
            </a:r>
          </a:p>
          <a:p>
            <a:r>
              <a:rPr lang="en-US" sz="2800" dirty="0"/>
              <a:t>		</a:t>
            </a:r>
            <a:r>
              <a:rPr lang="en-US" sz="2800" dirty="0">
                <a:solidFill>
                  <a:srgbClr val="C00000"/>
                </a:solidFill>
              </a:rPr>
              <a:t>XXX  XX, XX</a:t>
            </a:r>
            <a:r>
              <a:rPr lang="en-US" sz="2800" dirty="0"/>
              <a:t>;</a:t>
            </a:r>
          </a:p>
          <a:p>
            <a:r>
              <a:rPr lang="en-US" sz="2800" dirty="0"/>
              <a:t>		XCHG AL, AH;</a:t>
            </a:r>
          </a:p>
          <a:p>
            <a:r>
              <a:rPr lang="en-US" sz="2800" dirty="0"/>
              <a:t>		MOV  r1, AL;</a:t>
            </a:r>
          </a:p>
          <a:p>
            <a:r>
              <a:rPr lang="en-US" sz="2800" dirty="0"/>
              <a:t>		MOV  r2, AH;</a:t>
            </a:r>
          </a:p>
          <a:p>
            <a:r>
              <a:rPr lang="en-US" sz="2800" dirty="0"/>
              <a:t>		MOV  r, AX;</a:t>
            </a:r>
          </a:p>
          <a:p>
            <a:r>
              <a:rPr lang="en-US" sz="2800" dirty="0"/>
              <a:t>		</a:t>
            </a:r>
          </a:p>
          <a:p>
            <a:r>
              <a:rPr lang="en-US" sz="2800" dirty="0"/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1641124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7709" y="0"/>
            <a:ext cx="9199418" cy="838200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TRANSFER -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ADDRESSING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685800"/>
            <a:ext cx="858167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B0F0"/>
                </a:solidFill>
              </a:rPr>
              <a:t>Objective:</a:t>
            </a:r>
          </a:p>
          <a:p>
            <a:r>
              <a:rPr lang="en-US" sz="3200" dirty="0"/>
              <a:t>Moving instructions involving </a:t>
            </a:r>
            <a:r>
              <a:rPr lang="en-US" sz="3200" b="1" i="1" dirty="0"/>
              <a:t>data transfer and register addressing modes</a:t>
            </a:r>
            <a:r>
              <a:rPr lang="en-US" sz="3200" dirty="0"/>
              <a:t>: </a:t>
            </a:r>
            <a:endParaRPr lang="en-US" sz="3200" dirty="0"/>
          </a:p>
          <a:p>
            <a:r>
              <a:rPr lang="en-US" sz="3200" dirty="0"/>
              <a:t> </a:t>
            </a:r>
          </a:p>
          <a:p>
            <a:r>
              <a:rPr lang="en-US" sz="3200" b="1" dirty="0">
                <a:solidFill>
                  <a:srgbClr val="C00000"/>
                </a:solidFill>
              </a:rPr>
              <a:t>Register to Register</a:t>
            </a:r>
            <a:r>
              <a:rPr lang="en-US" sz="3200" dirty="0"/>
              <a:t> …………………..</a:t>
            </a:r>
            <a:r>
              <a:rPr lang="en-US" sz="3200" b="1" dirty="0"/>
              <a:t>MOV EAX, EBX</a:t>
            </a:r>
            <a:r>
              <a:rPr lang="en-US" sz="3200" dirty="0"/>
              <a:t> </a:t>
            </a:r>
          </a:p>
          <a:p>
            <a:r>
              <a:rPr lang="en-US" sz="3200" b="1" dirty="0">
                <a:solidFill>
                  <a:srgbClr val="00B050"/>
                </a:solidFill>
              </a:rPr>
              <a:t>Immediate data to Register</a:t>
            </a:r>
            <a:r>
              <a:rPr lang="en-US" sz="3200" dirty="0"/>
              <a:t>……….</a:t>
            </a:r>
            <a:r>
              <a:rPr lang="en-US" sz="3200" b="1" dirty="0"/>
              <a:t>MOV EAX, 'd'</a:t>
            </a:r>
            <a:r>
              <a:rPr lang="en-US" sz="3200" dirty="0"/>
              <a:t> </a:t>
            </a:r>
          </a:p>
          <a:p>
            <a:r>
              <a:rPr lang="en-US" sz="3200" b="1" dirty="0">
                <a:solidFill>
                  <a:srgbClr val="C00000"/>
                </a:solidFill>
              </a:rPr>
              <a:t>Direct memory to Register</a:t>
            </a:r>
            <a:r>
              <a:rPr lang="en-US" sz="3200" dirty="0"/>
              <a:t>………..	</a:t>
            </a:r>
            <a:r>
              <a:rPr lang="en-US" sz="3200" b="1" dirty="0"/>
              <a:t>MOV EAX, </a:t>
            </a:r>
            <a:r>
              <a:rPr lang="en-US" sz="3200" b="1" dirty="0" smtClean="0"/>
              <a:t>j</a:t>
            </a:r>
          </a:p>
          <a:p>
            <a:r>
              <a:rPr lang="en-US" sz="3200" b="1" dirty="0" smtClean="0">
                <a:solidFill>
                  <a:srgbClr val="00B050"/>
                </a:solidFill>
              </a:rPr>
              <a:t>Indirect memory to Register</a:t>
            </a:r>
            <a:r>
              <a:rPr lang="en-US" sz="3200" b="1" dirty="0" smtClean="0"/>
              <a:t>……..MOV </a:t>
            </a:r>
            <a:r>
              <a:rPr lang="en-US" sz="3200" b="1" dirty="0"/>
              <a:t>EAX, </a:t>
            </a:r>
            <a:r>
              <a:rPr lang="en-US" sz="3200" b="1" dirty="0" smtClean="0"/>
              <a:t>[EBX]</a:t>
            </a:r>
            <a:endParaRPr lang="en-US" sz="3200" b="1" dirty="0"/>
          </a:p>
          <a:p>
            <a:r>
              <a:rPr lang="en-US" sz="3200" b="1" dirty="0">
                <a:solidFill>
                  <a:srgbClr val="C00000"/>
                </a:solidFill>
              </a:rPr>
              <a:t>Register to Memory</a:t>
            </a:r>
            <a:r>
              <a:rPr lang="en-US" sz="3200" dirty="0"/>
              <a:t>………………….	</a:t>
            </a:r>
            <a:r>
              <a:rPr lang="en-US" sz="3200" b="1" dirty="0"/>
              <a:t>MOV j, EAX</a:t>
            </a:r>
            <a:r>
              <a:rPr lang="en-US" sz="3200" dirty="0"/>
              <a:t> </a:t>
            </a:r>
          </a:p>
          <a:p>
            <a:r>
              <a:rPr lang="en-US" sz="3200" b="1" dirty="0">
                <a:solidFill>
                  <a:srgbClr val="00B050"/>
                </a:solidFill>
              </a:rPr>
              <a:t>Immediate data to Memory</a:t>
            </a:r>
            <a:r>
              <a:rPr lang="en-US" sz="3200" dirty="0"/>
              <a:t>…….. </a:t>
            </a:r>
            <a:r>
              <a:rPr lang="en-US" sz="3200" b="1" dirty="0"/>
              <a:t>MOV [EAX], 34</a:t>
            </a:r>
          </a:p>
          <a:p>
            <a:r>
              <a:rPr lang="en-US" sz="3200" b="1" dirty="0" smtClean="0"/>
              <a:t>Remember </a:t>
            </a:r>
            <a:r>
              <a:rPr lang="en-US" sz="3200" b="1" dirty="0"/>
              <a:t>MOV is not actually “moving data”</a:t>
            </a:r>
          </a:p>
          <a:p>
            <a:r>
              <a:rPr lang="en-US" sz="3200" b="1" dirty="0"/>
              <a:t>and you cannot move </a:t>
            </a:r>
            <a:r>
              <a:rPr lang="en-US" sz="3200" b="1" i="1" dirty="0">
                <a:solidFill>
                  <a:srgbClr val="C00000"/>
                </a:solidFill>
              </a:rPr>
              <a:t>memory to memory</a:t>
            </a:r>
            <a:r>
              <a:rPr lang="en-US" sz="3200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99156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81000" y="730508"/>
            <a:ext cx="8627618" cy="4832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MOVING DATA: 	  </a:t>
            </a:r>
            <a:r>
              <a:rPr lang="en-US" sz="2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</a:t>
            </a:r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AX, EBX</a:t>
            </a:r>
          </a:p>
          <a:p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MNEMONIC</a:t>
            </a:r>
            <a:r>
              <a:rPr lang="en-US" sz="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(OPERAND DESTINATION), (OPERAND SOURCE)</a:t>
            </a:r>
          </a:p>
          <a:p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DESTINATION                 SOURCE</a:t>
            </a:r>
          </a:p>
          <a:p>
            <a:endParaRPr lang="en-US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Mnemonic MOV instruction 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copies (loads) </a:t>
            </a:r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operand </a:t>
            </a:r>
            <a:endParaRPr lang="en-US" sz="28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 32-bit </a:t>
            </a:r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EBX register 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an operand </a:t>
            </a:r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destination </a:t>
            </a:r>
            <a:endParaRPr lang="en-US" sz="28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32-bit EAX </a:t>
            </a:r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register.</a:t>
            </a:r>
          </a:p>
          <a:p>
            <a:endParaRPr lang="en-US" sz="28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same way when using 8-bits and 16-bits registers </a:t>
            </a:r>
          </a:p>
          <a:p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operands.</a:t>
            </a:r>
            <a:endParaRPr lang="en-US" sz="2800" dirty="0">
              <a:solidFill>
                <a:srgbClr val="C00000"/>
              </a:solidFill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 flipH="1">
            <a:off x="3124200" y="2286000"/>
            <a:ext cx="1219200" cy="0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 txBox="1">
            <a:spLocks/>
          </p:cNvSpPr>
          <p:nvPr/>
        </p:nvSpPr>
        <p:spPr>
          <a:xfrm>
            <a:off x="-27709" y="0"/>
            <a:ext cx="9199418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HOW TO WRITE  INSTRUCTIONS LAB_No_01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7333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7709" y="0"/>
            <a:ext cx="9199418" cy="374073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WRITE  INSTRUCTIONS LAB_No_01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2400" y="783134"/>
            <a:ext cx="9208675" cy="56938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MOVING DATA: 	  </a:t>
            </a:r>
            <a:r>
              <a:rPr lang="en-US" sz="2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</a:t>
            </a:r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EAX, J</a:t>
            </a:r>
          </a:p>
          <a:p>
            <a:r>
              <a:rPr lang="en-US" sz="2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  MOV</a:t>
            </a:r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EAX, </a:t>
            </a:r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‘A’</a:t>
            </a:r>
          </a:p>
          <a:p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MNEMONIC</a:t>
            </a:r>
            <a:r>
              <a:rPr lang="en-US" sz="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(OPERAND DESTINATION), (OPERAND SOURCE)</a:t>
            </a:r>
          </a:p>
          <a:p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DESTINATION                 SOURCE</a:t>
            </a:r>
          </a:p>
          <a:p>
            <a:endParaRPr lang="en-US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Mnemonic MOV instruction </a:t>
            </a:r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copies (loads) </a:t>
            </a:r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operand </a:t>
            </a:r>
            <a:endParaRPr lang="en-US" sz="28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 MEMORY variable J to </a:t>
            </a:r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operand destination </a:t>
            </a:r>
            <a:endParaRPr lang="en-US" sz="28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32-bit EAX </a:t>
            </a:r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register.</a:t>
            </a:r>
          </a:p>
          <a:p>
            <a:endParaRPr lang="en-US" sz="28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Mnemonic MOV instruction 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copies (loads) an 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operand </a:t>
            </a:r>
            <a:endParaRPr lang="en-US" sz="28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ource MEMORY character ‘A’ to 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operand destination </a:t>
            </a:r>
            <a:endParaRPr lang="en-US" sz="28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32-bit EAX 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register.</a:t>
            </a:r>
            <a:endParaRPr lang="en-US" sz="2800" dirty="0">
              <a:solidFill>
                <a:srgbClr val="C00000"/>
              </a:solidFill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 flipH="1">
            <a:off x="2895600" y="2819400"/>
            <a:ext cx="1219200" cy="0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1319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7709" y="0"/>
            <a:ext cx="9199418" cy="374073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WRITE  INSTRUCTIONS LAB_No_01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783134"/>
            <a:ext cx="8805167" cy="56938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MOVING DATA: 	  </a:t>
            </a:r>
            <a:r>
              <a:rPr lang="en-US" sz="2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</a:t>
            </a:r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EAX, </a:t>
            </a:r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[EBX]</a:t>
            </a:r>
            <a:endParaRPr lang="en-US" sz="28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  MOV</a:t>
            </a:r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EBX, 34</a:t>
            </a:r>
            <a:endParaRPr lang="en-US" sz="28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MNEMONIC</a:t>
            </a:r>
            <a:r>
              <a:rPr lang="en-US" sz="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(OPERAND DESTINATION), (OPERAND SOURCE)</a:t>
            </a:r>
          </a:p>
          <a:p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DESTINATION                 SOURCE</a:t>
            </a:r>
          </a:p>
          <a:p>
            <a:endParaRPr lang="en-US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Mnemonic MOV instruction </a:t>
            </a:r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copies (loads) </a:t>
            </a:r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operand </a:t>
            </a:r>
            <a:endParaRPr lang="en-US" sz="28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 MEMORY 32-bits EBX register to </a:t>
            </a:r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operand </a:t>
            </a:r>
            <a:endParaRPr lang="en-US" sz="28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estination 32-bit EAX </a:t>
            </a:r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register.</a:t>
            </a:r>
          </a:p>
          <a:p>
            <a:endParaRPr lang="en-US" sz="28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Mnemonic MOV instruction 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copies (loads) an 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operand </a:t>
            </a:r>
            <a:endParaRPr lang="en-US" sz="28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 MEMORY </a:t>
            </a:r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34 </a:t>
            </a:r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operand destination </a:t>
            </a:r>
            <a:endParaRPr lang="en-US" sz="28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32-bit EBX 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register.</a:t>
            </a:r>
            <a:endParaRPr lang="en-US" sz="2800" dirty="0">
              <a:solidFill>
                <a:srgbClr val="C00000"/>
              </a:solidFill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 flipH="1">
            <a:off x="3048000" y="2743200"/>
            <a:ext cx="1219200" cy="0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3590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8599" y="685800"/>
            <a:ext cx="8713519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/>
              <a:t> </a:t>
            </a:r>
            <a:r>
              <a:rPr lang="en-US" sz="2800" dirty="0"/>
              <a:t>1. The students must find the missing </a:t>
            </a:r>
            <a:r>
              <a:rPr lang="en-US" sz="2800" b="1" dirty="0">
                <a:solidFill>
                  <a:srgbClr val="C00000"/>
                </a:solidFill>
              </a:rPr>
              <a:t>AX = AH+AL</a:t>
            </a:r>
            <a:r>
              <a:rPr lang="en-US" sz="2800" dirty="0"/>
              <a:t> and </a:t>
            </a:r>
            <a:r>
              <a:rPr lang="en-US" sz="2800" b="1" dirty="0">
                <a:solidFill>
                  <a:srgbClr val="C00000"/>
                </a:solidFill>
              </a:rPr>
              <a:t>BX = BH+BL</a:t>
            </a:r>
            <a:r>
              <a:rPr lang="en-US" sz="2800" dirty="0"/>
              <a:t> in the output results of examples 3.1 and 3.2 to use them in </a:t>
            </a:r>
            <a:r>
              <a:rPr lang="en-US" sz="2800" b="1" dirty="0">
                <a:solidFill>
                  <a:srgbClr val="C00000"/>
                </a:solidFill>
              </a:rPr>
              <a:t>example 3.3</a:t>
            </a:r>
            <a:r>
              <a:rPr lang="en-US" sz="2800" dirty="0"/>
              <a:t>.</a:t>
            </a:r>
          </a:p>
          <a:p>
            <a:pPr algn="just"/>
            <a:r>
              <a:rPr lang="en-US" sz="2800" dirty="0"/>
              <a:t>2. The students must </a:t>
            </a:r>
            <a:r>
              <a:rPr lang="en-US" sz="2800" dirty="0" smtClean="0"/>
              <a:t>use  </a:t>
            </a:r>
            <a:r>
              <a:rPr lang="en-US" sz="2800" dirty="0"/>
              <a:t>letters </a:t>
            </a:r>
            <a:r>
              <a:rPr lang="en-US" sz="2800" b="1" dirty="0">
                <a:solidFill>
                  <a:srgbClr val="C00000"/>
                </a:solidFill>
              </a:rPr>
              <a:t>a </a:t>
            </a:r>
            <a:r>
              <a:rPr lang="en-US" sz="2800" dirty="0"/>
              <a:t>and </a:t>
            </a:r>
            <a:r>
              <a:rPr lang="en-US" sz="2800" b="1" dirty="0">
                <a:solidFill>
                  <a:srgbClr val="C00000"/>
                </a:solidFill>
              </a:rPr>
              <a:t>b</a:t>
            </a:r>
            <a:r>
              <a:rPr lang="en-US" sz="2800" dirty="0"/>
              <a:t> instead of </a:t>
            </a:r>
            <a:r>
              <a:rPr lang="en-US" sz="2800" b="1" dirty="0">
                <a:solidFill>
                  <a:srgbClr val="C00000"/>
                </a:solidFill>
              </a:rPr>
              <a:t>i </a:t>
            </a:r>
            <a:r>
              <a:rPr lang="en-US" sz="2800" dirty="0"/>
              <a:t>and </a:t>
            </a:r>
            <a:r>
              <a:rPr lang="en-US" sz="2800" b="1" dirty="0">
                <a:solidFill>
                  <a:srgbClr val="C00000"/>
                </a:solidFill>
              </a:rPr>
              <a:t>j</a:t>
            </a:r>
            <a:r>
              <a:rPr lang="en-US" sz="2800" dirty="0"/>
              <a:t> in </a:t>
            </a:r>
            <a:r>
              <a:rPr lang="en-US" sz="2800" b="1" dirty="0">
                <a:solidFill>
                  <a:srgbClr val="C00000"/>
                </a:solidFill>
              </a:rPr>
              <a:t>example 3.3</a:t>
            </a:r>
            <a:r>
              <a:rPr lang="en-US" sz="2800" dirty="0"/>
              <a:t>. The students must use the exchange format with the memory “</a:t>
            </a:r>
            <a:r>
              <a:rPr lang="en-US" sz="2800" b="1" dirty="0">
                <a:solidFill>
                  <a:srgbClr val="C00000"/>
                </a:solidFill>
              </a:rPr>
              <a:t>temp</a:t>
            </a:r>
            <a:r>
              <a:rPr lang="en-US" sz="2800" dirty="0"/>
              <a:t>” from the </a:t>
            </a:r>
            <a:r>
              <a:rPr lang="en-US" sz="2800" b="1" dirty="0"/>
              <a:t>example 3.1 </a:t>
            </a:r>
            <a:r>
              <a:rPr lang="en-US" sz="2800" dirty="0"/>
              <a:t>into </a:t>
            </a:r>
            <a:r>
              <a:rPr lang="en-US" sz="2800" b="1" dirty="0"/>
              <a:t>example 3.3, by placing the instructions at the beginning</a:t>
            </a:r>
            <a:r>
              <a:rPr lang="en-US" sz="2800" dirty="0"/>
              <a:t>.</a:t>
            </a:r>
          </a:p>
          <a:p>
            <a:pPr algn="just"/>
            <a:r>
              <a:rPr lang="en-US" sz="2800" dirty="0"/>
              <a:t>4. Work on your laboratory  report by showing your code without comments, code descriptions, flow chart, output console results, comments, and conclusion illustrating an real life application (for </a:t>
            </a:r>
            <a:r>
              <a:rPr lang="en-US" sz="2800" b="1" dirty="0">
                <a:solidFill>
                  <a:srgbClr val="C00000"/>
                </a:solidFill>
              </a:rPr>
              <a:t>2</a:t>
            </a:r>
            <a:r>
              <a:rPr lang="en-US" sz="2800" b="1" dirty="0" smtClean="0">
                <a:solidFill>
                  <a:srgbClr val="C00000"/>
                </a:solidFill>
              </a:rPr>
              <a:t>0 </a:t>
            </a:r>
            <a:r>
              <a:rPr lang="en-US" sz="2800" b="1" dirty="0">
                <a:solidFill>
                  <a:srgbClr val="C00000"/>
                </a:solidFill>
              </a:rPr>
              <a:t>points</a:t>
            </a:r>
            <a:r>
              <a:rPr lang="en-US" sz="2800" dirty="0"/>
              <a:t>) using a template report posted on Blackboard, do not unlock the original report, otherwise, you lose </a:t>
            </a:r>
            <a:r>
              <a:rPr lang="en-US" sz="2800" b="1" dirty="0">
                <a:solidFill>
                  <a:srgbClr val="C00000"/>
                </a:solidFill>
              </a:rPr>
              <a:t>40 points</a:t>
            </a:r>
            <a:r>
              <a:rPr lang="en-US" sz="2800" dirty="0"/>
              <a:t>.</a:t>
            </a:r>
          </a:p>
        </p:txBody>
      </p:sp>
      <p:sp>
        <p:nvSpPr>
          <p:cNvPr id="3" name="Title 1"/>
          <p:cNvSpPr>
            <a:spLocks noGrp="1"/>
          </p:cNvSpPr>
          <p:nvPr>
            <p:ph type="ctrTitle"/>
          </p:nvPr>
        </p:nvSpPr>
        <p:spPr>
          <a:xfrm>
            <a:off x="-27709" y="0"/>
            <a:ext cx="9199418" cy="838200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STUDENTS’ ASSIGNMENT</a:t>
            </a:r>
          </a:p>
        </p:txBody>
      </p:sp>
    </p:spTree>
    <p:extLst>
      <p:ext uri="{BB962C8B-B14F-4D97-AF65-F5344CB8AC3E}">
        <p14:creationId xmlns:p14="http://schemas.microsoft.com/office/powerpoint/2010/main" val="6349188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5" name="Picture 1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465"/>
          <a:stretch/>
        </p:blipFill>
        <p:spPr bwMode="auto">
          <a:xfrm>
            <a:off x="455703" y="1839036"/>
            <a:ext cx="8217667" cy="319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>
            <a:spLocks noGrp="1"/>
          </p:cNvSpPr>
          <p:nvPr>
            <p:ph type="ctrTitle"/>
          </p:nvPr>
        </p:nvSpPr>
        <p:spPr>
          <a:xfrm>
            <a:off x="-27709" y="0"/>
            <a:ext cx="9199418" cy="838200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PURPOSE REGISTERS</a:t>
            </a:r>
          </a:p>
        </p:txBody>
      </p:sp>
    </p:spTree>
    <p:extLst>
      <p:ext uri="{BB962C8B-B14F-4D97-AF65-F5344CB8AC3E}">
        <p14:creationId xmlns:p14="http://schemas.microsoft.com/office/powerpoint/2010/main" val="15102900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ctrTitle"/>
          </p:nvPr>
        </p:nvSpPr>
        <p:spPr>
          <a:xfrm>
            <a:off x="-27709" y="0"/>
            <a:ext cx="9199418" cy="838200"/>
          </a:xfrm>
        </p:spPr>
        <p:txBody>
          <a:bodyPr>
            <a:no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ADDRESSING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5505604"/>
              </p:ext>
            </p:extLst>
          </p:nvPr>
        </p:nvGraphicFramePr>
        <p:xfrm>
          <a:off x="568071" y="1270000"/>
          <a:ext cx="7160451" cy="185420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597089"/>
                <a:gridCol w="1589151"/>
                <a:gridCol w="1398651"/>
                <a:gridCol w="1624330"/>
                <a:gridCol w="951230"/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GPRs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Reg.</a:t>
                      </a:r>
                      <a:r>
                        <a:rPr lang="en-US" sz="15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to Reg.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Imm</a:t>
                      </a:r>
                      <a:r>
                        <a:rPr lang="en-US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to Reg.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Dir. Mem.</a:t>
                      </a:r>
                      <a:r>
                        <a:rPr lang="en-US" sz="15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to Reg.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500" b="1" dirty="0" smtClean="0"/>
                        <a:t>EAX,EBX,ECX,EDX</a:t>
                      </a:r>
                      <a:endParaRPr lang="en-US" sz="15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MOV EAX, EBX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MOV EAX, 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MOV EAX, j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a, b, …,j</a:t>
                      </a:r>
                    </a:p>
                    <a:p>
                      <a:r>
                        <a:rPr lang="en-US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A, B,….J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500" b="1" dirty="0" smtClean="0"/>
                        <a:t>AX,BX,CX,DX</a:t>
                      </a:r>
                      <a:endParaRPr lang="en-US" sz="15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MOV AX, BX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MOV AX, 44h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MOV AX, A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5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500" b="1" dirty="0" smtClean="0"/>
                        <a:t>AL,BL,CL,DL</a:t>
                      </a:r>
                      <a:endParaRPr lang="en-US" sz="15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MOV AL, BL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MOV AL, ‘a’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MOV AL, temp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a, b, …,j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500" b="1" dirty="0" smtClean="0"/>
                        <a:t>AH,BH,CH,DH</a:t>
                      </a:r>
                      <a:endParaRPr lang="en-US" sz="15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MOV AH, BH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MOV AH, ‘A’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MOV BH, temp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A, B,….J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3106948"/>
              </p:ext>
            </p:extLst>
          </p:nvPr>
        </p:nvGraphicFramePr>
        <p:xfrm>
          <a:off x="533400" y="3632200"/>
          <a:ext cx="7445186" cy="185420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597089"/>
                <a:gridCol w="1461135"/>
                <a:gridCol w="1746314"/>
                <a:gridCol w="1689418"/>
                <a:gridCol w="951230"/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GPRs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Reg. to Mem.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Imm</a:t>
                      </a:r>
                      <a:r>
                        <a:rPr lang="en-US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to </a:t>
                      </a:r>
                      <a:r>
                        <a:rPr lang="en-US" sz="15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</a:t>
                      </a:r>
                      <a:endParaRPr lang="en-US" sz="15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 smtClean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</a:t>
                      </a:r>
                      <a:r>
                        <a:rPr lang="en-US" sz="1500" baseline="0" dirty="0" smtClean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to Mem[No]</a:t>
                      </a:r>
                      <a:endParaRPr lang="en-US" sz="15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500" b="1" dirty="0" smtClean="0"/>
                        <a:t>EAX,EBX,ECX,EDX</a:t>
                      </a:r>
                      <a:endParaRPr lang="en-US" sz="15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MOV A, ECX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MOV </a:t>
                      </a:r>
                      <a:r>
                        <a:rPr lang="en-US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[ECX], </a:t>
                      </a:r>
                      <a:r>
                        <a:rPr lang="en-US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 smtClean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MOV a, 21</a:t>
                      </a:r>
                      <a:endParaRPr lang="en-US" sz="15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a, b, …,j</a:t>
                      </a:r>
                    </a:p>
                    <a:p>
                      <a:r>
                        <a:rPr lang="en-US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A, B,….J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500" b="1" dirty="0" smtClean="0"/>
                        <a:t>AX,BX,CX,DX</a:t>
                      </a:r>
                      <a:endParaRPr lang="en-US" sz="15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MOV [a], 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MOV </a:t>
                      </a:r>
                      <a:r>
                        <a:rPr lang="en-US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[EBX], 41h</a:t>
                      </a:r>
                      <a:endParaRPr lang="en-US" sz="15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 smtClean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MOV [AX], [BX]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5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500" b="1" dirty="0" smtClean="0"/>
                        <a:t>AL,BL,CL,DL</a:t>
                      </a:r>
                      <a:endParaRPr lang="en-US" sz="15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MOV temp, AL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 smtClean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MOV temp, [AH]</a:t>
                      </a:r>
                      <a:endParaRPr lang="en-US" sz="15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a, b, …,j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500" b="1" dirty="0" smtClean="0"/>
                        <a:t>AH,BH,CH,DH</a:t>
                      </a:r>
                      <a:endParaRPr lang="en-US" sz="15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MOV temp, AH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 smtClean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MOV temp, </a:t>
                      </a:r>
                      <a:r>
                        <a:rPr lang="en-US" sz="1500" dirty="0" smtClean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0xAC</a:t>
                      </a:r>
                      <a:endParaRPr lang="en-US" sz="15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A, B,….J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05798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ctrTitle"/>
          </p:nvPr>
        </p:nvSpPr>
        <p:spPr>
          <a:xfrm>
            <a:off x="-27709" y="0"/>
            <a:ext cx="9199418" cy="838200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ARCHITECTURE </a:t>
            </a:r>
          </a:p>
        </p:txBody>
      </p:sp>
      <p:pic>
        <p:nvPicPr>
          <p:cNvPr id="5" name="Picture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913130"/>
            <a:ext cx="8324850" cy="5716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8213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ctrTitle"/>
          </p:nvPr>
        </p:nvSpPr>
        <p:spPr>
          <a:xfrm>
            <a:off x="-27709" y="0"/>
            <a:ext cx="9199418" cy="838200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ARCHITECTURE </a:t>
            </a:r>
          </a:p>
        </p:txBody>
      </p:sp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723900"/>
            <a:ext cx="6610350" cy="590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7940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77039" y="228600"/>
            <a:ext cx="8200130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</a:rPr>
              <a:t>FLOWCHART  FOR THE  EXAMPLE 3.3 FOR 8-BITS ONLY</a:t>
            </a:r>
          </a:p>
          <a:p>
            <a:endParaRPr lang="en-US" sz="2800" b="1" dirty="0"/>
          </a:p>
          <a:p>
            <a:endParaRPr lang="en-US" sz="2800" b="1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1" y="762000"/>
            <a:ext cx="5257799" cy="60213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12502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46269" y="1363682"/>
            <a:ext cx="8461675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</a:rPr>
              <a:t>STUDENTS’S  ASSIGNMENT RESULT</a:t>
            </a:r>
          </a:p>
          <a:p>
            <a:pPr algn="ctr"/>
            <a:r>
              <a:rPr lang="en-US" sz="2800" b="1" dirty="0">
                <a:solidFill>
                  <a:srgbClr val="C00000"/>
                </a:solidFill>
              </a:rPr>
              <a:t>EXAMPLE 3.3 FOR 8-BITS ONLY.</a:t>
            </a:r>
          </a:p>
          <a:p>
            <a:endParaRPr lang="en-US" sz="2800" b="1" dirty="0"/>
          </a:p>
          <a:p>
            <a:r>
              <a:rPr lang="en-US" sz="2800" b="1" dirty="0"/>
              <a:t>The students should get one output result operation </a:t>
            </a:r>
          </a:p>
          <a:p>
            <a:r>
              <a:rPr lang="en-US" sz="2800" b="1" dirty="0"/>
              <a:t>Console result contains: 	One for temp 		</a:t>
            </a:r>
            <a:endParaRPr lang="en-US" sz="2800" b="1" dirty="0">
              <a:solidFill>
                <a:srgbClr val="C00000"/>
              </a:solidFill>
            </a:endParaRPr>
          </a:p>
          <a:p>
            <a:r>
              <a:rPr lang="en-US" sz="2800" b="1" dirty="0"/>
              <a:t>				One for XCHG 	</a:t>
            </a:r>
            <a:endParaRPr lang="en-US" sz="2800" b="1" dirty="0">
              <a:solidFill>
                <a:srgbClr val="C00000"/>
              </a:solidFill>
            </a:endParaRPr>
          </a:p>
          <a:p>
            <a:r>
              <a:rPr lang="en-US" sz="2800" b="1" dirty="0"/>
              <a:t>			 	One for XCHG with </a:t>
            </a:r>
            <a:r>
              <a:rPr lang="en-US" sz="2800" b="1" dirty="0" smtClean="0"/>
              <a:t>Corrections</a:t>
            </a:r>
            <a:endParaRPr lang="en-US" sz="2800" b="1" dirty="0"/>
          </a:p>
          <a:p>
            <a:endParaRPr lang="en-US" sz="2800" b="1" dirty="0"/>
          </a:p>
          <a:p>
            <a:pPr algn="ctr"/>
            <a:r>
              <a:rPr lang="en-US" sz="2800" b="1" dirty="0"/>
              <a:t>Total of 1 outputs</a:t>
            </a:r>
          </a:p>
        </p:txBody>
      </p:sp>
    </p:spTree>
    <p:extLst>
      <p:ext uri="{BB962C8B-B14F-4D97-AF65-F5344CB8AC3E}">
        <p14:creationId xmlns:p14="http://schemas.microsoft.com/office/powerpoint/2010/main" val="20942818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57845966-6EFC-468A-9CC7-BAB4B95854E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1"/>
            <a:ext cx="9144000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75554383-98AF-4A47-BB65-705FAAA4BE6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r="12500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2" name="Freeform: Shape 11">
            <a:extLst>
              <a:ext uri="{FF2B5EF4-FFF2-40B4-BE49-F238E27FC236}">
                <a16:creationId xmlns="" xmlns:a16="http://schemas.microsoft.com/office/drawing/2014/main" id="{ADAD1991-FFD1-4E94-ABAB-7560D33008E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655410" y="-3970"/>
            <a:ext cx="7748362" cy="6874811"/>
          </a:xfrm>
          <a:custGeom>
            <a:avLst/>
            <a:gdLst>
              <a:gd name="connsiteX0" fmla="*/ 2232159 w 7837716"/>
              <a:gd name="connsiteY0" fmla="*/ 0 h 6858000"/>
              <a:gd name="connsiteX1" fmla="*/ 5605557 w 7837716"/>
              <a:gd name="connsiteY1" fmla="*/ 0 h 6858000"/>
              <a:gd name="connsiteX2" fmla="*/ 5617845 w 7837716"/>
              <a:gd name="connsiteY2" fmla="*/ 5384 h 6858000"/>
              <a:gd name="connsiteX3" fmla="*/ 7837716 w 7837716"/>
              <a:gd name="connsiteY3" fmla="*/ 3429000 h 6858000"/>
              <a:gd name="connsiteX4" fmla="*/ 5617845 w 7837716"/>
              <a:gd name="connsiteY4" fmla="*/ 6852616 h 6858000"/>
              <a:gd name="connsiteX5" fmla="*/ 5605557 w 7837716"/>
              <a:gd name="connsiteY5" fmla="*/ 6858000 h 6858000"/>
              <a:gd name="connsiteX6" fmla="*/ 2232159 w 7837716"/>
              <a:gd name="connsiteY6" fmla="*/ 6858000 h 6858000"/>
              <a:gd name="connsiteX7" fmla="*/ 2219871 w 7837716"/>
              <a:gd name="connsiteY7" fmla="*/ 6852616 h 6858000"/>
              <a:gd name="connsiteX8" fmla="*/ 0 w 7837716"/>
              <a:gd name="connsiteY8" fmla="*/ 3429000 h 6858000"/>
              <a:gd name="connsiteX9" fmla="*/ 2219871 w 7837716"/>
              <a:gd name="connsiteY9" fmla="*/ 538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837716" h="6858000">
                <a:moveTo>
                  <a:pt x="2232159" y="0"/>
                </a:moveTo>
                <a:lnTo>
                  <a:pt x="5605557" y="0"/>
                </a:lnTo>
                <a:lnTo>
                  <a:pt x="5617845" y="5384"/>
                </a:lnTo>
                <a:cubicBezTo>
                  <a:pt x="6931322" y="618789"/>
                  <a:pt x="7837716" y="1921305"/>
                  <a:pt x="7837716" y="3429000"/>
                </a:cubicBezTo>
                <a:cubicBezTo>
                  <a:pt x="7837716" y="4936696"/>
                  <a:pt x="6931322" y="6239212"/>
                  <a:pt x="5617845" y="6852616"/>
                </a:cubicBezTo>
                <a:lnTo>
                  <a:pt x="5605557" y="6858000"/>
                </a:lnTo>
                <a:lnTo>
                  <a:pt x="2232159" y="6858000"/>
                </a:lnTo>
                <a:lnTo>
                  <a:pt x="2219871" y="6852616"/>
                </a:lnTo>
                <a:cubicBezTo>
                  <a:pt x="906394" y="6239212"/>
                  <a:pt x="0" y="4936696"/>
                  <a:pt x="0" y="3429000"/>
                </a:cubicBezTo>
                <a:cubicBezTo>
                  <a:pt x="0" y="1921305"/>
                  <a:pt x="906394" y="618789"/>
                  <a:pt x="2219871" y="5384"/>
                </a:cubicBezTo>
                <a:close/>
              </a:path>
            </a:pathLst>
          </a:custGeom>
          <a:solidFill>
            <a:schemeClr val="bg1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82000"/>
                  </a:schemeClr>
                </a:gs>
                <a:gs pos="100000">
                  <a:schemeClr val="bg2">
                    <a:lumMod val="87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pic>
        <p:nvPicPr>
          <p:cNvPr id="3" name="Picture 4" descr="MCj04344110000[1]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521856" y="1172029"/>
            <a:ext cx="4015469" cy="4513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657818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4" name="Rectangle 73">
            <a:extLst>
              <a:ext uri="{FF2B5EF4-FFF2-40B4-BE49-F238E27FC236}">
                <a16:creationId xmlns="" xmlns:a16="http://schemas.microsoft.com/office/drawing/2014/main" id="{934F1179-B481-4F9E-BCA3-AFB972070F8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ight Triangle 75">
            <a:extLst>
              <a:ext uri="{FF2B5EF4-FFF2-40B4-BE49-F238E27FC236}">
                <a16:creationId xmlns="" xmlns:a16="http://schemas.microsoft.com/office/drawing/2014/main" id="{827DC2C4-B485-428A-BF4A-472D2967F47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Rectangle 77">
            <a:extLst>
              <a:ext uri="{FF2B5EF4-FFF2-40B4-BE49-F238E27FC236}">
                <a16:creationId xmlns="" xmlns:a16="http://schemas.microsoft.com/office/drawing/2014/main" id="{EE04B5EB-F158-4507-90DD-BD23620C7CC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021" name="WordArt 5"/>
          <p:cNvSpPr>
            <a:spLocks noChangeArrowheads="1" noChangeShapeType="1" noTextEdit="1"/>
          </p:cNvSpPr>
          <p:nvPr/>
        </p:nvSpPr>
        <p:spPr bwMode="auto">
          <a:xfrm>
            <a:off x="963930" y="1008993"/>
            <a:ext cx="6923558" cy="3542045"/>
          </a:xfrm>
          <a:prstGeom prst="rect">
            <a:avLst/>
          </a:prstGeom>
        </p:spPr>
        <p:txBody>
          <a:bodyPr vert="horz" lIns="91440" tIns="45720" rIns="91440" bIns="45720" rtlCol="0" fromWordArt="1" anchor="b">
            <a:prstTxWarp prst="textPlain">
              <a:avLst>
                <a:gd name="adj" fmla="val 50000"/>
              </a:avLst>
            </a:prstTxWarp>
            <a:normAutofit/>
          </a:bodyPr>
          <a:lstStyle/>
          <a:p>
            <a:pPr fontAlgn="auto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0000" i="1" kern="1200">
                <a:ln w="9525">
                  <a:solidFill>
                    <a:srgbClr val="800000"/>
                  </a:solidFill>
                  <a:round/>
                  <a:headEnd/>
                  <a:tailEnd/>
                </a:ln>
                <a:solidFill>
                  <a:schemeClr val="tx1"/>
                </a:solidFill>
                <a:effectLst>
                  <a:outerShdw dist="35921" dir="2700000" algn="ctr" rotWithShape="0">
                    <a:srgbClr val="B2B2B2">
                      <a:alpha val="80000"/>
                    </a:srgbClr>
                  </a:outerShdw>
                </a:effectLst>
                <a:latin typeface="+mj-lt"/>
                <a:ea typeface="+mj-ea"/>
                <a:cs typeface="+mj-cs"/>
              </a:rPr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25459183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913</TotalTime>
  <Words>543</Words>
  <Application>Microsoft Office PowerPoint</Application>
  <PresentationFormat>On-screen Show (4:3)</PresentationFormat>
  <Paragraphs>140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LABORATORY No 3</vt:lpstr>
      <vt:lpstr>PowerPoint Presentation</vt:lpstr>
      <vt:lpstr>PowerPoint Presentation</vt:lpstr>
      <vt:lpstr>DATA TRANSFER - REGISTER ADDRESSING</vt:lpstr>
      <vt:lpstr>PowerPoint Presentation</vt:lpstr>
      <vt:lpstr>HOW TO WRITE  INSTRUCTIONS LAB_No_01</vt:lpstr>
      <vt:lpstr>HOW TO WRITE  INSTRUCTIONS LAB_No_01</vt:lpstr>
      <vt:lpstr>STUDENTS’ ASSIGNMENT</vt:lpstr>
      <vt:lpstr>GENERAL PURPOSE REGISTERS</vt:lpstr>
      <vt:lpstr>REGISTER ADDRESSING DATA</vt:lpstr>
      <vt:lpstr>CPU ARCHITECTURE </vt:lpstr>
      <vt:lpstr>CPU ARCHITECTURE 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Ruben Velasquez</dc:creator>
  <cp:lastModifiedBy>Windows User</cp:lastModifiedBy>
  <cp:revision>127</cp:revision>
  <dcterms:created xsi:type="dcterms:W3CDTF">2019-01-03T03:42:08Z</dcterms:created>
  <dcterms:modified xsi:type="dcterms:W3CDTF">2021-02-24T18:02:59Z</dcterms:modified>
</cp:coreProperties>
</file>