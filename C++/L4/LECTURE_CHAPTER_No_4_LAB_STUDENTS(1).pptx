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2" r:id="rId3"/>
    <p:sldId id="285" r:id="rId4"/>
    <p:sldId id="280" r:id="rId5"/>
    <p:sldId id="286" r:id="rId6"/>
    <p:sldId id="287" r:id="rId7"/>
    <p:sldId id="288" r:id="rId8"/>
    <p:sldId id="284" r:id="rId9"/>
    <p:sldId id="281" r:id="rId10"/>
    <p:sldId id="279" r:id="rId11"/>
    <p:sldId id="276" r:id="rId12"/>
    <p:sldId id="27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78" autoAdjust="0"/>
  </p:normalViewPr>
  <p:slideViewPr>
    <p:cSldViewPr>
      <p:cViewPr>
        <p:scale>
          <a:sx n="70" d="100"/>
          <a:sy n="70" d="100"/>
        </p:scale>
        <p:origin x="-514" y="-35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DC2B46-F8F6-4D33-9216-DAAF3C6F1FFD}" type="datetimeFigureOut">
              <a:rPr lang="en-US" smtClean="0"/>
              <a:t>3/4/2021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075C2-8262-4775-A756-8F4CD2BBC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29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6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3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54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9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00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2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78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24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1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2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973B2-0B86-436F-A23D-2271D3305795}" type="datetimeFigureOut">
              <a:rPr lang="en-US" smtClean="0"/>
              <a:t>3/4/2021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0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23962611-DFD5-4092-AAFD-559E3DFCE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56616" y="0"/>
            <a:ext cx="818271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270F1FA-0425-408F-9861-80BF5AFB2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4026" y="2043663"/>
            <a:ext cx="4578895" cy="203105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LABORATORY No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4026" y="4074718"/>
            <a:ext cx="4578895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Memory Address </a:t>
            </a:r>
          </a:p>
        </p:txBody>
      </p:sp>
    </p:spTree>
    <p:extLst>
      <p:ext uri="{BB962C8B-B14F-4D97-AF65-F5344CB8AC3E}">
        <p14:creationId xmlns:p14="http://schemas.microsoft.com/office/powerpoint/2010/main" val="3757445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8382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85800"/>
            <a:ext cx="858167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Objective:</a:t>
            </a:r>
          </a:p>
          <a:p>
            <a:r>
              <a:rPr lang="en-US" sz="3200" dirty="0"/>
              <a:t>To Move instructions involving </a:t>
            </a:r>
            <a:r>
              <a:rPr lang="en-US" sz="3200" b="1" i="1" dirty="0"/>
              <a:t>data transfer</a:t>
            </a:r>
            <a:r>
              <a:rPr lang="en-US" sz="3200" dirty="0"/>
              <a:t>:</a:t>
            </a:r>
          </a:p>
          <a:p>
            <a:r>
              <a:rPr lang="en-US" sz="3200" dirty="0"/>
              <a:t> 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Register to Register</a:t>
            </a:r>
            <a:r>
              <a:rPr lang="en-US" sz="3200" dirty="0"/>
              <a:t> …………………..</a:t>
            </a:r>
            <a:r>
              <a:rPr lang="en-US" sz="3200" b="1" dirty="0"/>
              <a:t>MOV EAX, EBX</a:t>
            </a:r>
            <a:r>
              <a:rPr lang="en-US" sz="3200" dirty="0"/>
              <a:t> </a:t>
            </a:r>
          </a:p>
          <a:p>
            <a:r>
              <a:rPr lang="en-US" sz="3200" b="1" dirty="0">
                <a:solidFill>
                  <a:srgbClr val="00B050"/>
                </a:solidFill>
              </a:rPr>
              <a:t>Immediate data to Register</a:t>
            </a:r>
            <a:r>
              <a:rPr lang="en-US" sz="3200" dirty="0"/>
              <a:t>……….</a:t>
            </a:r>
            <a:r>
              <a:rPr lang="en-US" sz="3200" b="1" dirty="0"/>
              <a:t>MOV EAX, 'd'</a:t>
            </a:r>
            <a:r>
              <a:rPr lang="en-US" sz="3200" dirty="0"/>
              <a:t> 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Direct memory to Register</a:t>
            </a:r>
            <a:r>
              <a:rPr lang="en-US" sz="3200" dirty="0"/>
              <a:t>………..	</a:t>
            </a:r>
            <a:r>
              <a:rPr lang="en-US" sz="3200" b="1" dirty="0"/>
              <a:t>MOV EAX, j</a:t>
            </a:r>
          </a:p>
          <a:p>
            <a:r>
              <a:rPr lang="en-US" sz="3200" b="1" dirty="0">
                <a:solidFill>
                  <a:srgbClr val="00B050"/>
                </a:solidFill>
              </a:rPr>
              <a:t>Indirect memory to Register</a:t>
            </a:r>
            <a:r>
              <a:rPr lang="en-US" sz="3200" b="1" dirty="0"/>
              <a:t>……..MOV EAX, [EBX]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Register to Memory</a:t>
            </a:r>
            <a:r>
              <a:rPr lang="en-US" sz="3200" dirty="0"/>
              <a:t>………………….	</a:t>
            </a:r>
            <a:r>
              <a:rPr lang="en-US" sz="3200" b="1" dirty="0"/>
              <a:t>MOV j, EAX</a:t>
            </a:r>
            <a:r>
              <a:rPr lang="en-US" sz="3200" dirty="0"/>
              <a:t> </a:t>
            </a:r>
          </a:p>
          <a:p>
            <a:r>
              <a:rPr lang="en-US" sz="3200" b="1" dirty="0">
                <a:solidFill>
                  <a:srgbClr val="00B050"/>
                </a:solidFill>
              </a:rPr>
              <a:t>Immediate data to Memory</a:t>
            </a:r>
            <a:r>
              <a:rPr lang="en-US" sz="3200" dirty="0"/>
              <a:t>…….. </a:t>
            </a:r>
            <a:r>
              <a:rPr lang="en-US" sz="3200" b="1" dirty="0"/>
              <a:t>MOV [EAX], 34</a:t>
            </a:r>
          </a:p>
          <a:p>
            <a:endParaRPr lang="en-US" sz="3200" b="1" dirty="0"/>
          </a:p>
          <a:p>
            <a:r>
              <a:rPr lang="en-US" sz="3200" b="1" dirty="0"/>
              <a:t>Remember MOV is not actually “moving data”</a:t>
            </a:r>
          </a:p>
          <a:p>
            <a:r>
              <a:rPr lang="en-US" sz="3200" b="1" dirty="0"/>
              <a:t>and you cannot move </a:t>
            </a:r>
            <a:r>
              <a:rPr lang="en-US" sz="3200" b="1" i="1" dirty="0">
                <a:solidFill>
                  <a:srgbClr val="C00000"/>
                </a:solidFill>
              </a:rPr>
              <a:t>memory to memory</a:t>
            </a:r>
            <a:r>
              <a:rPr lang="en-US" sz="32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1681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643269"/>
          </a:xfrm>
        </p:spPr>
        <p:txBody>
          <a:bodyPr>
            <a:no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EXAMPLE No 4.3 FOR STUDENTS TO DO FOR YOUR LABORTORY  REPORT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503" y="643269"/>
            <a:ext cx="872578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No 4.3:</a:t>
            </a:r>
          </a:p>
          <a:p>
            <a:endParaRPr lang="en-US" dirty="0"/>
          </a:p>
          <a:p>
            <a:r>
              <a:rPr lang="en-US" b="1" dirty="0"/>
              <a:t>Size =4</a:t>
            </a:r>
          </a:p>
          <a:p>
            <a:r>
              <a:rPr lang="en-US" b="1" dirty="0"/>
              <a:t>i32_arr[size]</a:t>
            </a:r>
            <a:r>
              <a:rPr lang="en-US" dirty="0"/>
              <a:t> = {</a:t>
            </a:r>
            <a:r>
              <a:rPr lang="en-US" dirty="0" smtClean="0"/>
              <a:t>0x8000000</a:t>
            </a:r>
            <a:r>
              <a:rPr lang="en-US" smtClean="0"/>
              <a:t>, 0x0000FFFF </a:t>
            </a:r>
            <a:r>
              <a:rPr lang="en-US" dirty="0"/>
              <a:t>-660000, 6600000} array with 4 element each of them 32-bits</a:t>
            </a:r>
          </a:p>
          <a:p>
            <a:r>
              <a:rPr lang="en-US" b="1" dirty="0"/>
              <a:t>*ivPtr0</a:t>
            </a:r>
            <a:r>
              <a:rPr lang="en-US" dirty="0"/>
              <a:t>, </a:t>
            </a:r>
            <a:r>
              <a:rPr lang="en-US" b="1" dirty="0"/>
              <a:t>*ivPtr1</a:t>
            </a:r>
            <a:r>
              <a:rPr lang="en-US" dirty="0"/>
              <a:t>, </a:t>
            </a:r>
            <a:r>
              <a:rPr lang="en-US" b="1" dirty="0"/>
              <a:t>*ivPtr2</a:t>
            </a:r>
            <a:r>
              <a:rPr lang="en-US" dirty="0"/>
              <a:t>, </a:t>
            </a:r>
            <a:r>
              <a:rPr lang="en-US" b="1" dirty="0"/>
              <a:t>*ivPtr3</a:t>
            </a:r>
            <a:r>
              <a:rPr lang="en-US" dirty="0"/>
              <a:t> pointers to store addresses in memory</a:t>
            </a:r>
          </a:p>
          <a:p>
            <a:r>
              <a:rPr lang="en-US" b="1" dirty="0"/>
              <a:t>md[4]</a:t>
            </a:r>
            <a:r>
              <a:rPr lang="en-US" dirty="0"/>
              <a:t> is a </a:t>
            </a:r>
            <a:r>
              <a:rPr lang="en-US" b="1" dirty="0"/>
              <a:t>32-bit</a:t>
            </a:r>
            <a:r>
              <a:rPr lang="en-US" dirty="0"/>
              <a:t> array to store each pointer</a:t>
            </a:r>
          </a:p>
          <a:p>
            <a:r>
              <a:rPr lang="en-US" b="1" dirty="0" err="1"/>
              <a:t>madd</a:t>
            </a:r>
            <a:r>
              <a:rPr lang="en-US" b="1" dirty="0"/>
              <a:t>[4]</a:t>
            </a:r>
            <a:r>
              <a:rPr lang="en-US" dirty="0"/>
              <a:t> is a </a:t>
            </a:r>
            <a:r>
              <a:rPr lang="en-US" b="1" dirty="0"/>
              <a:t>32-bit</a:t>
            </a:r>
            <a:r>
              <a:rPr lang="en-US" dirty="0"/>
              <a:t> array to store the address size of  each element</a:t>
            </a:r>
          </a:p>
          <a:p>
            <a:r>
              <a:rPr lang="en-US" b="1" dirty="0" err="1"/>
              <a:t>var</a:t>
            </a:r>
            <a:r>
              <a:rPr lang="en-US" b="1" dirty="0"/>
              <a:t>[size]</a:t>
            </a:r>
            <a:r>
              <a:rPr lang="en-US" dirty="0"/>
              <a:t> is an 32</a:t>
            </a:r>
            <a:r>
              <a:rPr lang="en-US" b="1" dirty="0"/>
              <a:t>-bit</a:t>
            </a:r>
            <a:r>
              <a:rPr lang="en-US" dirty="0"/>
              <a:t> array to store the </a:t>
            </a:r>
            <a:r>
              <a:rPr lang="en-US" b="1" dirty="0"/>
              <a:t>retrieved</a:t>
            </a:r>
            <a:r>
              <a:rPr lang="en-US" dirty="0"/>
              <a:t> value by </a:t>
            </a:r>
            <a:r>
              <a:rPr lang="en-US" b="1" i="1" dirty="0">
                <a:solidFill>
                  <a:srgbClr val="C00000"/>
                </a:solidFill>
              </a:rPr>
              <a:t>indirect Memory Addressing </a:t>
            </a:r>
          </a:p>
          <a:p>
            <a:r>
              <a:rPr lang="en-US" b="1" i="1" dirty="0">
                <a:solidFill>
                  <a:srgbClr val="C00000"/>
                </a:solidFill>
              </a:rPr>
              <a:t>Mode (MOV AL, [SI])</a:t>
            </a:r>
            <a:r>
              <a:rPr lang="en-US" dirty="0"/>
              <a:t> due to </a:t>
            </a:r>
            <a:r>
              <a:rPr lang="en-US" b="1" dirty="0"/>
              <a:t>direct addressing mode</a:t>
            </a:r>
            <a:r>
              <a:rPr lang="en-US" dirty="0"/>
              <a:t> (</a:t>
            </a:r>
            <a:r>
              <a:rPr lang="en-US" b="1" dirty="0"/>
              <a:t>MOV EAX, j) </a:t>
            </a:r>
            <a:r>
              <a:rPr lang="en-US" dirty="0"/>
              <a:t>is impractical for array processing because it is not practical to use constant </a:t>
            </a:r>
            <a:r>
              <a:rPr lang="en-US" b="1" dirty="0"/>
              <a:t>offsets to address</a:t>
            </a:r>
            <a:r>
              <a:rPr lang="en-US" dirty="0"/>
              <a:t> more than a few array elements.</a:t>
            </a:r>
          </a:p>
          <a:p>
            <a:r>
              <a:rPr lang="en-US" dirty="0"/>
              <a:t>	ivPtr0 = &amp;</a:t>
            </a:r>
            <a:r>
              <a:rPr lang="en-US" dirty="0" smtClean="0"/>
              <a:t>iv32_arr[0</a:t>
            </a:r>
            <a:r>
              <a:rPr lang="en-US" dirty="0"/>
              <a:t>]; </a:t>
            </a:r>
          </a:p>
          <a:p>
            <a:r>
              <a:rPr lang="en-US" dirty="0"/>
              <a:t>	ivPtr1 = &amp;</a:t>
            </a:r>
            <a:r>
              <a:rPr lang="en-US" dirty="0" smtClean="0"/>
              <a:t>iv32_arr[1</a:t>
            </a:r>
            <a:r>
              <a:rPr lang="en-US" dirty="0"/>
              <a:t>];</a:t>
            </a:r>
          </a:p>
          <a:p>
            <a:r>
              <a:rPr lang="en-US" dirty="0"/>
              <a:t>	ivPtr2 = &amp;</a:t>
            </a:r>
            <a:r>
              <a:rPr lang="en-US" dirty="0" smtClean="0"/>
              <a:t>iv32_arr[2</a:t>
            </a:r>
            <a:r>
              <a:rPr lang="en-US" dirty="0"/>
              <a:t>];</a:t>
            </a:r>
          </a:p>
          <a:p>
            <a:r>
              <a:rPr lang="en-US" dirty="0"/>
              <a:t>	ivPtr3 = &amp;</a:t>
            </a:r>
            <a:r>
              <a:rPr lang="en-US" dirty="0" smtClean="0"/>
              <a:t>iv32_arr[3</a:t>
            </a:r>
            <a:r>
              <a:rPr lang="en-US" dirty="0"/>
              <a:t>];</a:t>
            </a:r>
          </a:p>
          <a:p>
            <a:endParaRPr lang="en-US" dirty="0"/>
          </a:p>
          <a:p>
            <a:r>
              <a:rPr lang="en-US" dirty="0"/>
              <a:t>The objective is:</a:t>
            </a:r>
          </a:p>
          <a:p>
            <a:pPr marL="342900" indent="-342900">
              <a:buAutoNum type="alphaUcPeriod"/>
            </a:pPr>
            <a:r>
              <a:rPr lang="en-US" dirty="0"/>
              <a:t>Find out  the </a:t>
            </a:r>
            <a:r>
              <a:rPr lang="en-US" dirty="0" smtClean="0"/>
              <a:t>decimal content </a:t>
            </a:r>
            <a:r>
              <a:rPr lang="en-US" dirty="0"/>
              <a:t>for each element of an </a:t>
            </a:r>
            <a:r>
              <a:rPr lang="en-US" b="1" dirty="0"/>
              <a:t>32-bit</a:t>
            </a:r>
            <a:r>
              <a:rPr lang="en-US" dirty="0"/>
              <a:t> array</a:t>
            </a:r>
          </a:p>
          <a:p>
            <a:pPr marL="342900" indent="-342900">
              <a:buAutoNum type="alphaUcPeriod"/>
            </a:pPr>
            <a:r>
              <a:rPr lang="en-US" dirty="0"/>
              <a:t>Find  out the addresses for each element of an </a:t>
            </a:r>
            <a:r>
              <a:rPr lang="en-US" b="1" dirty="0"/>
              <a:t>32-bit</a:t>
            </a:r>
            <a:r>
              <a:rPr lang="en-US" dirty="0"/>
              <a:t> array</a:t>
            </a:r>
          </a:p>
          <a:p>
            <a:pPr marL="342900" indent="-342900">
              <a:buAutoNum type="alphaUcPeriod"/>
            </a:pPr>
            <a:r>
              <a:rPr lang="en-US" dirty="0"/>
              <a:t>Find out the  number of bytes of the address of each element in an </a:t>
            </a:r>
            <a:r>
              <a:rPr lang="en-US" b="1" dirty="0"/>
              <a:t>32-bit</a:t>
            </a:r>
            <a:r>
              <a:rPr lang="en-US" dirty="0"/>
              <a:t> array</a:t>
            </a:r>
          </a:p>
        </p:txBody>
      </p:sp>
    </p:spTree>
    <p:extLst>
      <p:ext uri="{BB962C8B-B14F-4D97-AF65-F5344CB8AC3E}">
        <p14:creationId xmlns:p14="http://schemas.microsoft.com/office/powerpoint/2010/main" val="3415958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5668" y="76200"/>
            <a:ext cx="838287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FLOWCHART  FOR THE  EXAMPLE 4.3 FOR 32-BITS ONLY</a:t>
            </a:r>
          </a:p>
          <a:p>
            <a:endParaRPr lang="en-US" sz="2800" b="1" dirty="0"/>
          </a:p>
          <a:p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3246918-6136-4B79-8738-775524C0E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537769"/>
            <a:ext cx="6967538" cy="632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703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1016000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DATA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MEMORY AS A LITTLE ENDIAN OR AS A BIG ENDIAN?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90" y="914400"/>
            <a:ext cx="8593809" cy="5297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7765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1016000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DATA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MEMORY AS A LITTLE ENDIAN OR AS A BIG ENDIAN?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38600" y="1981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711201"/>
            <a:ext cx="7641603" cy="6070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1236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1016000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DATA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MEMORY AS A LITTLE ENDIAN OR AS A BIG ENDIAN?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38600" y="1981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 dirty="0"/>
          </a:p>
        </p:txBody>
      </p:sp>
      <p:sp>
        <p:nvSpPr>
          <p:cNvPr id="4" name="Rectangle 3"/>
          <p:cNvSpPr/>
          <p:nvPr/>
        </p:nvSpPr>
        <p:spPr>
          <a:xfrm>
            <a:off x="685800" y="685800"/>
            <a:ext cx="7772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/>
              <a:t>0xFFFF7FF3  ?? ?? ?? ?? ?? ?? ??  .......</a:t>
            </a:r>
          </a:p>
          <a:p>
            <a:r>
              <a:rPr lang="es-CO" b="1" dirty="0"/>
              <a:t>0xFFFF7FFA  ?? ?? ?? ?? ?? ?? ??  .......</a:t>
            </a:r>
          </a:p>
          <a:p>
            <a:r>
              <a:rPr lang="es-CO" b="1" dirty="0"/>
              <a:t>0xFFFF8001  ?? ?? ?? ?? ?? ?? ??  .......</a:t>
            </a:r>
          </a:p>
          <a:p>
            <a:r>
              <a:rPr lang="es-CO" b="1" dirty="0"/>
              <a:t>0xFFFF8008  ?? ?? ?? ?? ?? ?? ??  .......</a:t>
            </a:r>
          </a:p>
          <a:p>
            <a:r>
              <a:rPr lang="es-CO" b="1" dirty="0"/>
              <a:t>0xFFFF800F  ?? ?? ?? ?? ?? ?? ??  .......</a:t>
            </a:r>
          </a:p>
          <a:p>
            <a:r>
              <a:rPr lang="es-CO" b="1" dirty="0"/>
              <a:t>0xFFFF8016  ?? ?? ?? ?? ?? ?? ??  .......</a:t>
            </a:r>
            <a:endParaRPr lang="es-CO" b="1" dirty="0"/>
          </a:p>
        </p:txBody>
      </p:sp>
      <p:sp>
        <p:nvSpPr>
          <p:cNvPr id="6" name="Rectangle 5"/>
          <p:cNvSpPr/>
          <p:nvPr/>
        </p:nvSpPr>
        <p:spPr>
          <a:xfrm>
            <a:off x="685800" y="2464475"/>
            <a:ext cx="7772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 smtClean="0"/>
              <a:t>ASSUMING DATA IN POSITION GIVEN:</a:t>
            </a:r>
          </a:p>
          <a:p>
            <a:r>
              <a:rPr lang="es-CO" b="1" dirty="0" smtClean="0"/>
              <a:t>0xFFFF7FF3  </a:t>
            </a:r>
            <a:r>
              <a:rPr lang="es-CO" b="1" dirty="0"/>
              <a:t>?? ?? </a:t>
            </a:r>
            <a:r>
              <a:rPr lang="es-CO" b="1" dirty="0" smtClean="0">
                <a:solidFill>
                  <a:srgbClr val="C00000"/>
                </a:solidFill>
              </a:rPr>
              <a:t>AC</a:t>
            </a:r>
            <a:r>
              <a:rPr lang="es-CO" b="1" dirty="0" smtClean="0"/>
              <a:t> ?? </a:t>
            </a:r>
            <a:r>
              <a:rPr lang="es-CO" b="1" dirty="0"/>
              <a:t>?? ?? ??  .......</a:t>
            </a:r>
          </a:p>
          <a:p>
            <a:r>
              <a:rPr lang="es-CO" b="1" dirty="0"/>
              <a:t>0xFFFF7FFA  ?? ?? ?? ?? ?? ?? ??  .......</a:t>
            </a:r>
          </a:p>
          <a:p>
            <a:r>
              <a:rPr lang="es-CO" b="1" dirty="0"/>
              <a:t>0xFFFF8001  ?? ?? ?? ?? ?? ?? ??  .......</a:t>
            </a:r>
          </a:p>
          <a:p>
            <a:r>
              <a:rPr lang="es-CO" b="1" dirty="0"/>
              <a:t>0xFFFF8008  ?? ?? ?? ?? ?? ?? ??  .......</a:t>
            </a:r>
          </a:p>
          <a:p>
            <a:r>
              <a:rPr lang="es-CO" b="1" dirty="0"/>
              <a:t>0xFFFF800F  ?? ?? ?? ?? ?? ?? ??  .......</a:t>
            </a:r>
          </a:p>
          <a:p>
            <a:r>
              <a:rPr lang="es-CO" b="1" dirty="0"/>
              <a:t>0xFFFF8016  ?? ?? ?? ?? ?? ?? ??  .......</a:t>
            </a:r>
            <a:endParaRPr lang="es-CO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16429" y="4598075"/>
            <a:ext cx="641900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FIND THE ADDRESS LOCATION FOR DATA AC</a:t>
            </a:r>
          </a:p>
          <a:p>
            <a:endParaRPr lang="en-US" b="1" dirty="0"/>
          </a:p>
          <a:p>
            <a:r>
              <a:rPr lang="en-US" b="1" dirty="0" smtClean="0"/>
              <a:t>LOWER ADDRESS IS </a:t>
            </a:r>
            <a:r>
              <a:rPr lang="es-CO" b="1" dirty="0" smtClean="0"/>
              <a:t>0xFFFF7FF3</a:t>
            </a:r>
          </a:p>
          <a:p>
            <a:r>
              <a:rPr lang="es-CO" b="1" dirty="0" smtClean="0"/>
              <a:t>3 + 4 = 7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7 + 4 = 11 WHICH IS B IN HEXADECIMAL</a:t>
            </a:r>
          </a:p>
          <a:p>
            <a:r>
              <a:rPr lang="en-US" b="1" dirty="0" smtClean="0"/>
              <a:t>11 + 4 = 15 WHICH IS F</a:t>
            </a:r>
          </a:p>
          <a:p>
            <a:r>
              <a:rPr lang="en-US" b="1" dirty="0" smtClean="0"/>
              <a:t>THEREFORE THE ADDRESS LOCATION FOR DATA AC IS </a:t>
            </a:r>
            <a:r>
              <a:rPr lang="es-CO" b="1" dirty="0" smtClean="0"/>
              <a:t>0xFFFF7FFF</a:t>
            </a:r>
            <a:r>
              <a:rPr lang="en-US" b="1" dirty="0" smtClean="0"/>
              <a:t> 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3993413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1016000"/>
          </a:xfrm>
        </p:spPr>
        <p:txBody>
          <a:bodyPr>
            <a:no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data store as a little Endian or as a big Endian? 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IN THE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No 4.3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8534400" cy="5335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7982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APPENDIX LECTURE CHAPTER No 02</a:t>
            </a: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83324"/>
            <a:ext cx="8508124" cy="59698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9082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3237" y="1363682"/>
            <a:ext cx="865596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STUDENTS’S  ASSIGNMENT RESULT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</a:rPr>
              <a:t>EXAMPLE 4.3 FOR 32-BITS ONLY.</a:t>
            </a:r>
          </a:p>
          <a:p>
            <a:endParaRPr lang="en-US" sz="2800" b="1" dirty="0"/>
          </a:p>
          <a:p>
            <a:r>
              <a:rPr lang="en-US" sz="2800" b="1" dirty="0"/>
              <a:t>The students should get one output result operation </a:t>
            </a:r>
          </a:p>
          <a:p>
            <a:r>
              <a:rPr lang="en-US" sz="2800" b="1" dirty="0"/>
              <a:t>Console result contains: 	32-bit Dimensional array</a:t>
            </a:r>
          </a:p>
          <a:p>
            <a:r>
              <a:rPr lang="en-US" sz="2800" b="1" dirty="0"/>
              <a:t>                                              One array to store pointer</a:t>
            </a:r>
          </a:p>
          <a:p>
            <a:r>
              <a:rPr lang="en-US" sz="2800" b="1" dirty="0"/>
              <a:t>				 One array to store addresses 		</a:t>
            </a:r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b="1" dirty="0"/>
              <a:t>				</a:t>
            </a:r>
          </a:p>
          <a:p>
            <a:endParaRPr lang="en-US" sz="2800" b="1" dirty="0"/>
          </a:p>
          <a:p>
            <a:pPr algn="ctr"/>
            <a:r>
              <a:rPr lang="en-US" sz="2800" b="1" dirty="0"/>
              <a:t>Total of 1 </a:t>
            </a:r>
            <a:r>
              <a:rPr lang="en-US" sz="2800" b="1" dirty="0" smtClean="0"/>
              <a:t>output console result for 32-bit only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894834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7845966-6EFC-468A-9CC7-BAB4B95854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75554383-98AF-4A47-BB65-705FAAA4BE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DAD1991-FFD1-4E94-ABAB-7560D33008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3" name="Picture 4" descr="MCj0434411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21856" y="1172029"/>
            <a:ext cx="4015469" cy="451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3987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xmlns="" id="{934F1179-B481-4F9E-BCA3-AFB972070F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ight Triangle 75">
            <a:extLst>
              <a:ext uri="{FF2B5EF4-FFF2-40B4-BE49-F238E27FC236}">
                <a16:creationId xmlns:a16="http://schemas.microsoft.com/office/drawing/2014/main" xmlns="" id="{827DC2C4-B485-428A-BF4A-472D2967F4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xmlns="" id="{EE04B5EB-F158-4507-90DD-BD23620C7C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021" name="WordArt 5"/>
          <p:cNvSpPr>
            <a:spLocks noChangeArrowheads="1" noChangeShapeType="1" noTextEdit="1"/>
          </p:cNvSpPr>
          <p:nvPr/>
        </p:nvSpPr>
        <p:spPr bwMode="auto">
          <a:xfrm>
            <a:off x="963930" y="1008993"/>
            <a:ext cx="6923558" cy="3542045"/>
          </a:xfrm>
          <a:prstGeom prst="rect">
            <a:avLst/>
          </a:prstGeom>
        </p:spPr>
        <p:txBody>
          <a:bodyPr vert="horz" lIns="91440" tIns="45720" rIns="91440" bIns="45720" rtlCol="0" fromWordArt="1" anchor="b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0000" i="1" kern="1200">
                <a:ln w="9525">
                  <a:solidFill>
                    <a:srgbClr val="8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effectLst>
                  <a:outerShdw dist="35921" dir="2700000" algn="ctr" rotWithShape="0">
                    <a:srgbClr val="B2B2B2">
                      <a:alpha val="80000"/>
                    </a:srgbClr>
                  </a:outerShdw>
                </a:effectLst>
                <a:latin typeface="+mj-lt"/>
                <a:ea typeface="+mj-ea"/>
                <a:cs typeface="+mj-cs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524573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427</Words>
  <Application>Microsoft Office PowerPoint</Application>
  <PresentationFormat>On-screen Show (4:3)</PresentationFormat>
  <Paragraphs>71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LABORATORY No 4</vt:lpstr>
      <vt:lpstr>DATA TRANSFER</vt:lpstr>
      <vt:lpstr>LABORATORY EXAMPLE No 4.3 FOR STUDENTS TO DO FOR YOUR LABORTORY  REPORT </vt:lpstr>
      <vt:lpstr>PowerPoint Presentation</vt:lpstr>
      <vt:lpstr>IS DATA STORED IN MEMORY AS A LITTLE ENDIAN OR AS A BIG ENDIAN?  </vt:lpstr>
      <vt:lpstr>IS DATA STORED IN MEMORY AS A LITTLE ENDIAN OR AS A BIG ENDIAN?  </vt:lpstr>
      <vt:lpstr>IS DATA STORED IN MEMORY AS A LITTLE ENDIAN OR AS A BIG ENDIAN?  </vt:lpstr>
      <vt:lpstr>Is data store as a little Endian or as a big Endian?  FILL IN THE TABLE No 4.3</vt:lpstr>
      <vt:lpstr>APPENDIX LECTURE CHAPTER No 02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LABORATORY No 4</dc:title>
  <dc:creator>Ruben Velasquez-Rios</dc:creator>
  <cp:lastModifiedBy>Windows User</cp:lastModifiedBy>
  <cp:revision>17</cp:revision>
  <dcterms:created xsi:type="dcterms:W3CDTF">2020-09-21T19:10:24Z</dcterms:created>
  <dcterms:modified xsi:type="dcterms:W3CDTF">2021-03-04T16:33:09Z</dcterms:modified>
</cp:coreProperties>
</file>