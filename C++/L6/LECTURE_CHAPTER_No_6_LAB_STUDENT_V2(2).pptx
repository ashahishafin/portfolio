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323" r:id="rId4"/>
    <p:sldId id="290" r:id="rId5"/>
    <p:sldId id="332" r:id="rId6"/>
    <p:sldId id="331" r:id="rId7"/>
    <p:sldId id="322" r:id="rId8"/>
    <p:sldId id="330" r:id="rId9"/>
    <p:sldId id="274" r:id="rId10"/>
    <p:sldId id="27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1123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5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9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0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7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2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2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73B2-0B86-436F-A23D-2271D3305795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0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879EECFE-814E-4B68-96A7-86A795BD22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06F847C8-7801-44D8-8CCA-CDBA7AD91A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="" xmlns:a16="http://schemas.microsoft.com/office/drawing/2014/main" id="{AF180F00-B4B2-4196-BB1C-ECD21B03F0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3">
            <a:extLst>
              <a:ext uri="{FF2B5EF4-FFF2-40B4-BE49-F238E27FC236}">
                <a16:creationId xmlns="" xmlns:a16="http://schemas.microsoft.com/office/drawing/2014/main" id="{6E600F8C-C8F3-420C-9D3B-E1FBE7BAE48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518" y="1383527"/>
            <a:ext cx="4554249" cy="4175166"/>
          </a:xfrm>
        </p:spPr>
        <p:txBody>
          <a:bodyPr anchor="ctr">
            <a:normAutofit/>
          </a:bodyPr>
          <a:lstStyle/>
          <a:p>
            <a:pPr algn="r"/>
            <a:r>
              <a:rPr lang="en-US" sz="5900"/>
              <a:t>LABORATORY No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32038" y="2581835"/>
            <a:ext cx="2492976" cy="1778552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000"/>
              <a:t>Extending Signed and Unsigned Numbers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7AA55BF2-380C-4942-8AB1-55A6A52A35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565099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77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UNSIGNED AND SIGNED INSTRUCTIONS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" y="1644959"/>
            <a:ext cx="9125283" cy="3765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418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UNSIGNED AND SIGNED INSTRUCTIONS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3D61271-BA3E-4BD0-8509-2C73CAC70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422" y="2314575"/>
            <a:ext cx="9111222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14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 UNSIGNED AND SIGNED NUMBERS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570905"/>
            <a:ext cx="830580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 </a:t>
            </a:r>
            <a:endParaRPr lang="en-US" b="1" dirty="0"/>
          </a:p>
          <a:p>
            <a:endParaRPr lang="en-US" b="1" dirty="0"/>
          </a:p>
          <a:p>
            <a:r>
              <a:rPr lang="en-US" sz="2800" b="1" dirty="0" smtClean="0"/>
              <a:t>MOV AX, 0xA12F </a:t>
            </a:r>
          </a:p>
          <a:p>
            <a:r>
              <a:rPr lang="en-US" sz="2800" b="1" dirty="0" smtClean="0"/>
              <a:t>MOVZX EAX, AX , WHERE </a:t>
            </a:r>
            <a:r>
              <a:rPr lang="en-US" sz="2800" b="1" dirty="0" smtClean="0">
                <a:solidFill>
                  <a:srgbClr val="C00000"/>
                </a:solidFill>
              </a:rPr>
              <a:t>AX </a:t>
            </a:r>
            <a:r>
              <a:rPr lang="en-US" sz="2800" b="1" dirty="0" smtClean="0"/>
              <a:t>= 0xA12F </a:t>
            </a:r>
          </a:p>
          <a:p>
            <a:r>
              <a:rPr lang="en-US" sz="2800" b="1" dirty="0" smtClean="0"/>
              <a:t>MOV us32, EAX</a:t>
            </a:r>
            <a:r>
              <a:rPr lang="en-US" sz="2800" b="1" dirty="0" smtClean="0"/>
              <a:t> , WHERE </a:t>
            </a:r>
            <a:r>
              <a:rPr lang="en-US" sz="2800" b="1" dirty="0" smtClean="0">
                <a:solidFill>
                  <a:srgbClr val="C00000"/>
                </a:solidFill>
              </a:rPr>
              <a:t>EAX</a:t>
            </a:r>
            <a:r>
              <a:rPr lang="en-US" sz="2800" b="1" dirty="0" smtClean="0"/>
              <a:t> IS:</a:t>
            </a:r>
          </a:p>
          <a:p>
            <a:endParaRPr lang="en-US" sz="2800" b="1" dirty="0" smtClean="0"/>
          </a:p>
          <a:p>
            <a:r>
              <a:rPr lang="en-US" sz="2800" b="1" dirty="0" smtClean="0">
                <a:solidFill>
                  <a:srgbClr val="C00000"/>
                </a:solidFill>
              </a:rPr>
              <a:t>0000_0000_0000_0000</a:t>
            </a:r>
            <a:r>
              <a:rPr lang="en-US" sz="2800" b="1" dirty="0" smtClean="0"/>
              <a:t>_1010_0001_0010_111</a:t>
            </a:r>
            <a:endParaRPr lang="en-US" sz="2800" b="1" dirty="0" smtClean="0"/>
          </a:p>
          <a:p>
            <a:endParaRPr lang="en-US" sz="2800" b="1" dirty="0" smtClean="0"/>
          </a:p>
          <a:p>
            <a:endParaRPr lang="en-US" sz="2800" b="1" dirty="0" smtClean="0"/>
          </a:p>
          <a:p>
            <a:r>
              <a:rPr lang="en-US" sz="2800" b="1" dirty="0" smtClean="0"/>
              <a:t>MOV BX, </a:t>
            </a:r>
            <a:r>
              <a:rPr lang="en-US" sz="2800" b="1" dirty="0" smtClean="0"/>
              <a:t>0xA12F </a:t>
            </a:r>
            <a:endParaRPr lang="en-US" sz="2800" b="1" dirty="0" smtClean="0"/>
          </a:p>
          <a:p>
            <a:r>
              <a:rPr lang="en-US" sz="2800" b="1" dirty="0" smtClean="0"/>
              <a:t>MOVSX EBX, </a:t>
            </a:r>
            <a:r>
              <a:rPr lang="en-US" sz="2800" b="1" dirty="0" smtClean="0"/>
              <a:t>BX , WHERE </a:t>
            </a:r>
            <a:r>
              <a:rPr lang="en-US" sz="2800" b="1" dirty="0" smtClean="0">
                <a:solidFill>
                  <a:srgbClr val="C00000"/>
                </a:solidFill>
              </a:rPr>
              <a:t>BX</a:t>
            </a:r>
            <a:r>
              <a:rPr lang="en-US" sz="2800" b="1" dirty="0" smtClean="0"/>
              <a:t> = 0xA12F   </a:t>
            </a:r>
            <a:endParaRPr lang="en-US" sz="2800" b="1" dirty="0" smtClean="0"/>
          </a:p>
          <a:p>
            <a:r>
              <a:rPr lang="en-US" sz="2800" b="1" dirty="0" smtClean="0"/>
              <a:t>MOV s32, </a:t>
            </a:r>
            <a:r>
              <a:rPr lang="en-US" sz="2800" b="1" dirty="0" smtClean="0"/>
              <a:t>EBX , WHERE </a:t>
            </a:r>
            <a:r>
              <a:rPr lang="en-US" sz="2800" b="1" dirty="0" smtClean="0">
                <a:solidFill>
                  <a:srgbClr val="C00000"/>
                </a:solidFill>
              </a:rPr>
              <a:t>EBX</a:t>
            </a:r>
            <a:r>
              <a:rPr lang="en-US" sz="2800" b="1" dirty="0" smtClean="0"/>
              <a:t> IS:</a:t>
            </a:r>
          </a:p>
          <a:p>
            <a:endParaRPr lang="en-US" sz="2800" b="1" dirty="0" smtClean="0"/>
          </a:p>
          <a:p>
            <a:r>
              <a:rPr lang="en-US" sz="2800" b="1" dirty="0" smtClean="0">
                <a:solidFill>
                  <a:srgbClr val="C00000"/>
                </a:solidFill>
              </a:rPr>
              <a:t>1111_1111_1111_1111</a:t>
            </a:r>
            <a:r>
              <a:rPr lang="en-US" sz="2800" b="1" dirty="0" smtClean="0"/>
              <a:t>_1010_0001_0010_111</a:t>
            </a:r>
            <a:endParaRPr lang="en-US" sz="2800" b="1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0406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AND NEGATIVE SIGNED NUMBERS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570905"/>
            <a:ext cx="8305800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 </a:t>
            </a:r>
            <a:endParaRPr lang="en-US" b="1" dirty="0"/>
          </a:p>
          <a:p>
            <a:r>
              <a:rPr lang="en-US" sz="2800" b="1" dirty="0" smtClean="0"/>
              <a:t> </a:t>
            </a:r>
            <a:r>
              <a:rPr lang="en-US" sz="2700" b="1" dirty="0" smtClean="0"/>
              <a:t>0x0000A12F THIS SIGNED NUBER IS </a:t>
            </a:r>
            <a:r>
              <a:rPr lang="en-US" sz="2700" b="1" dirty="0"/>
              <a:t>POSITIVE </a:t>
            </a:r>
            <a:r>
              <a:rPr lang="en-US" sz="2700" b="1" dirty="0" smtClean="0"/>
              <a:t>(0 </a:t>
            </a:r>
            <a:r>
              <a:rPr lang="en-US" sz="2700" b="1" dirty="0" err="1" smtClean="0"/>
              <a:t>MSb</a:t>
            </a:r>
            <a:r>
              <a:rPr lang="en-US" sz="2700" b="1" dirty="0"/>
              <a:t>)</a:t>
            </a:r>
            <a:endParaRPr lang="en-US" sz="2700" b="1" dirty="0" smtClean="0"/>
          </a:p>
          <a:p>
            <a:endParaRPr lang="en-US" sz="2700" b="1" dirty="0" smtClean="0"/>
          </a:p>
          <a:p>
            <a:r>
              <a:rPr lang="en-US" sz="2700" b="1" dirty="0" smtClean="0">
                <a:solidFill>
                  <a:srgbClr val="C00000"/>
                </a:solidFill>
              </a:rPr>
              <a:t>0000_0000_0000_0000</a:t>
            </a:r>
            <a:r>
              <a:rPr lang="en-US" sz="2700" b="1" dirty="0" smtClean="0"/>
              <a:t>_1010_0001_0010_111</a:t>
            </a:r>
            <a:endParaRPr lang="en-US" sz="2700" b="1" dirty="0" smtClean="0"/>
          </a:p>
          <a:p>
            <a:endParaRPr lang="en-US" sz="2700" b="1" dirty="0" smtClean="0"/>
          </a:p>
          <a:p>
            <a:endParaRPr lang="en-US" sz="2700" b="1" dirty="0" smtClean="0"/>
          </a:p>
          <a:p>
            <a:r>
              <a:rPr lang="en-US" sz="2700" b="1" dirty="0" smtClean="0"/>
              <a:t> </a:t>
            </a:r>
            <a:r>
              <a:rPr lang="en-US" sz="2700" b="1" dirty="0" smtClean="0"/>
              <a:t>0xA12F </a:t>
            </a:r>
            <a:r>
              <a:rPr lang="en-US" sz="2700" b="1" dirty="0"/>
              <a:t>THIS SIGNED </a:t>
            </a:r>
            <a:r>
              <a:rPr lang="en-US" sz="2700" b="1" dirty="0" smtClean="0"/>
              <a:t>NUMBER </a:t>
            </a:r>
            <a:r>
              <a:rPr lang="en-US" sz="2700" b="1" dirty="0"/>
              <a:t>IS </a:t>
            </a:r>
            <a:r>
              <a:rPr lang="en-US" sz="2700" b="1" dirty="0" smtClean="0"/>
              <a:t>NEGATIVE (1 </a:t>
            </a:r>
            <a:r>
              <a:rPr lang="en-US" sz="2700" b="1" dirty="0" err="1" smtClean="0"/>
              <a:t>MSb</a:t>
            </a:r>
            <a:r>
              <a:rPr lang="en-US" sz="2700" b="1" dirty="0" smtClean="0"/>
              <a:t>)</a:t>
            </a:r>
            <a:endParaRPr lang="en-US" sz="2700" b="1" dirty="0" smtClean="0"/>
          </a:p>
          <a:p>
            <a:endParaRPr lang="en-US" sz="2700" b="1" dirty="0" smtClean="0"/>
          </a:p>
          <a:p>
            <a:r>
              <a:rPr lang="en-US" sz="2700" b="1" dirty="0" smtClean="0">
                <a:solidFill>
                  <a:srgbClr val="C00000"/>
                </a:solidFill>
              </a:rPr>
              <a:t>1111_1111_1111_1111</a:t>
            </a:r>
            <a:r>
              <a:rPr lang="en-US" sz="2700" b="1" dirty="0" smtClean="0"/>
              <a:t>_1010_0001_0010_111</a:t>
            </a:r>
            <a:endParaRPr lang="en-US" sz="2700" b="1" dirty="0" smtClean="0"/>
          </a:p>
          <a:p>
            <a:endParaRPr lang="en-US" sz="2700" b="1" dirty="0" smtClean="0"/>
          </a:p>
          <a:p>
            <a:endParaRPr lang="en-US" sz="2700" b="1" dirty="0" smtClean="0"/>
          </a:p>
          <a:p>
            <a:endParaRPr lang="en-US" sz="2700" b="1" dirty="0"/>
          </a:p>
          <a:p>
            <a:endParaRPr lang="en-US" sz="2700" b="1" dirty="0"/>
          </a:p>
          <a:p>
            <a:r>
              <a:rPr lang="en-US" sz="2700" b="1" dirty="0" smtClean="0"/>
              <a:t> </a:t>
            </a:r>
            <a:r>
              <a:rPr lang="en-US" sz="2700" b="1" dirty="0" err="1" smtClean="0"/>
              <a:t>MSb</a:t>
            </a:r>
            <a:r>
              <a:rPr lang="en-US" sz="2700" b="1" dirty="0" smtClean="0"/>
              <a:t> STAND FOR MOST SIGNIFICANT BIT</a:t>
            </a:r>
            <a:endParaRPr lang="en-US" sz="2700" b="1" dirty="0"/>
          </a:p>
        </p:txBody>
      </p:sp>
    </p:spTree>
    <p:extLst>
      <p:ext uri="{BB962C8B-B14F-4D97-AF65-F5344CB8AC3E}">
        <p14:creationId xmlns:p14="http://schemas.microsoft.com/office/powerpoint/2010/main" val="300444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UNSIGNED AND SIGNED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803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16-bits </a:t>
            </a:r>
            <a:r>
              <a:rPr lang="en-US" b="1" dirty="0"/>
              <a:t>to 32-bits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869280"/>
            <a:ext cx="180702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_</a:t>
            </a:r>
            <a:r>
              <a:rPr lang="en-US" b="1" dirty="0" err="1"/>
              <a:t>asm</a:t>
            </a:r>
            <a:endParaRPr lang="en-US" b="1" dirty="0"/>
          </a:p>
          <a:p>
            <a:r>
              <a:rPr lang="en-US" b="1" dirty="0"/>
              <a:t>{</a:t>
            </a:r>
          </a:p>
          <a:p>
            <a:r>
              <a:rPr lang="en-US" b="1" dirty="0"/>
              <a:t>MOV AX, us16; </a:t>
            </a:r>
          </a:p>
          <a:p>
            <a:r>
              <a:rPr lang="en-US" b="1" dirty="0"/>
              <a:t>MOVZX EAX, AX; </a:t>
            </a:r>
          </a:p>
          <a:p>
            <a:r>
              <a:rPr lang="en-US" b="1" dirty="0"/>
              <a:t>MOV us32, EAX; </a:t>
            </a:r>
          </a:p>
          <a:p>
            <a:r>
              <a:rPr lang="en-US" b="1" dirty="0"/>
              <a:t>}</a:t>
            </a:r>
          </a:p>
          <a:p>
            <a:endParaRPr lang="en-US" b="1" dirty="0"/>
          </a:p>
          <a:p>
            <a:r>
              <a:rPr lang="en-US" b="1" dirty="0"/>
              <a:t>_</a:t>
            </a:r>
            <a:r>
              <a:rPr lang="en-US" b="1" dirty="0" err="1"/>
              <a:t>asm</a:t>
            </a:r>
            <a:endParaRPr lang="en-US" b="1" dirty="0"/>
          </a:p>
          <a:p>
            <a:r>
              <a:rPr lang="en-US" b="1" dirty="0"/>
              <a:t>{</a:t>
            </a:r>
          </a:p>
          <a:p>
            <a:r>
              <a:rPr lang="en-US" b="1" dirty="0"/>
              <a:t>MOV BX, s16; </a:t>
            </a:r>
          </a:p>
          <a:p>
            <a:r>
              <a:rPr lang="en-US" b="1" dirty="0"/>
              <a:t>MOVSX EBX, BX;   </a:t>
            </a:r>
          </a:p>
          <a:p>
            <a:r>
              <a:rPr lang="en-US" b="1" dirty="0"/>
              <a:t>MOV s32, EBX;  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39755"/>
            <a:ext cx="32332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unsigned short </a:t>
            </a:r>
            <a:r>
              <a:rPr lang="en-US" b="1" dirty="0" err="1"/>
              <a:t>int</a:t>
            </a:r>
            <a:r>
              <a:rPr lang="en-US" b="1" dirty="0"/>
              <a:t> us16 = 0xfffd;</a:t>
            </a:r>
          </a:p>
          <a:p>
            <a:r>
              <a:rPr lang="en-US" b="1" dirty="0"/>
              <a:t>signed short </a:t>
            </a:r>
            <a:r>
              <a:rPr lang="en-US" b="1" dirty="0" err="1"/>
              <a:t>int</a:t>
            </a:r>
            <a:r>
              <a:rPr lang="en-US" b="1" dirty="0"/>
              <a:t> s16 = 0xfffd;</a:t>
            </a:r>
          </a:p>
          <a:p>
            <a:r>
              <a:rPr lang="en-US" b="1" dirty="0"/>
              <a:t>unsigned </a:t>
            </a:r>
            <a:r>
              <a:rPr lang="en-US" b="1" dirty="0" err="1"/>
              <a:t>int</a:t>
            </a:r>
            <a:r>
              <a:rPr lang="en-US" b="1" dirty="0"/>
              <a:t> us32;</a:t>
            </a:r>
          </a:p>
          <a:p>
            <a:r>
              <a:rPr lang="en-US" b="1" dirty="0"/>
              <a:t>signed </a:t>
            </a:r>
            <a:r>
              <a:rPr lang="en-US" b="1" dirty="0" err="1"/>
              <a:t>int</a:t>
            </a:r>
            <a:r>
              <a:rPr lang="en-US" b="1" dirty="0"/>
              <a:t> s32;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23266" y="3009900"/>
            <a:ext cx="1884218" cy="24003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16-bits to 32-bits</a:t>
            </a:r>
          </a:p>
          <a:p>
            <a:pPr algn="ctr"/>
            <a:r>
              <a:rPr lang="en-US" dirty="0"/>
              <a:t>Unsigned</a:t>
            </a:r>
          </a:p>
          <a:p>
            <a:pPr algn="ctr"/>
            <a:r>
              <a:rPr lang="en-US" dirty="0"/>
              <a:t>and</a:t>
            </a:r>
          </a:p>
          <a:p>
            <a:pPr algn="ctr"/>
            <a:r>
              <a:rPr lang="en-US" dirty="0"/>
              <a:t>Signed</a:t>
            </a:r>
          </a:p>
          <a:p>
            <a:pPr algn="ctr"/>
            <a:r>
              <a:rPr lang="en-US" dirty="0"/>
              <a:t>Numbers</a:t>
            </a:r>
          </a:p>
        </p:txBody>
      </p:sp>
    </p:spTree>
    <p:extLst>
      <p:ext uri="{BB962C8B-B14F-4D97-AF65-F5344CB8AC3E}">
        <p14:creationId xmlns:p14="http://schemas.microsoft.com/office/powerpoint/2010/main" val="281103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19600" y="2477631"/>
            <a:ext cx="45096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FLOWCHART  FOR THE  EXAMPLE </a:t>
            </a:r>
            <a:r>
              <a:rPr lang="en-US" sz="2800" b="1" dirty="0" smtClean="0">
                <a:solidFill>
                  <a:srgbClr val="C00000"/>
                </a:solidFill>
              </a:rPr>
              <a:t>6.1</a:t>
            </a:r>
          </a:p>
          <a:p>
            <a:r>
              <a:rPr lang="en-US" sz="2800" b="1" dirty="0" smtClean="0">
                <a:solidFill>
                  <a:srgbClr val="C00000"/>
                </a:solidFill>
              </a:rPr>
              <a:t>16-BITS </a:t>
            </a:r>
            <a:r>
              <a:rPr lang="en-US" sz="2800" b="1" dirty="0">
                <a:solidFill>
                  <a:srgbClr val="C00000"/>
                </a:solidFill>
              </a:rPr>
              <a:t>TO </a:t>
            </a:r>
            <a:r>
              <a:rPr lang="en-US" sz="2800" b="1" dirty="0" smtClean="0">
                <a:solidFill>
                  <a:srgbClr val="C00000"/>
                </a:solidFill>
              </a:rPr>
              <a:t>32-BITS 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AND 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r>
              <a:rPr lang="en-US" sz="2800" b="1" dirty="0" smtClean="0">
                <a:solidFill>
                  <a:srgbClr val="C00000"/>
                </a:solidFill>
              </a:rPr>
              <a:t>16-BITS </a:t>
            </a:r>
            <a:r>
              <a:rPr lang="en-US" sz="2800" b="1" dirty="0">
                <a:solidFill>
                  <a:srgbClr val="C00000"/>
                </a:solidFill>
              </a:rPr>
              <a:t>TO 32-BITS UNSIGNED/ SIGNED</a:t>
            </a:r>
            <a:endParaRPr lang="en-US" sz="2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"/>
            <a:ext cx="3446751" cy="6456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2236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4929" y="228600"/>
            <a:ext cx="8464369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STUDENTS’S  ASSIGNMENT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EXAMPLE </a:t>
            </a:r>
            <a:r>
              <a:rPr lang="en-US" sz="2800" b="1" dirty="0" smtClean="0">
                <a:solidFill>
                  <a:srgbClr val="C00000"/>
                </a:solidFill>
              </a:rPr>
              <a:t>6.1 </a:t>
            </a:r>
            <a:r>
              <a:rPr lang="en-US" sz="2800" b="1" dirty="0">
                <a:solidFill>
                  <a:srgbClr val="C00000"/>
                </a:solidFill>
              </a:rPr>
              <a:t>FOR </a:t>
            </a:r>
            <a:r>
              <a:rPr lang="en-US" sz="2800" b="1" dirty="0" smtClean="0">
                <a:solidFill>
                  <a:srgbClr val="C00000"/>
                </a:solidFill>
              </a:rPr>
              <a:t>16-BITS TO 32-BITS ONLY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UNSIGNED AND SIGNED </a:t>
            </a:r>
            <a:r>
              <a:rPr lang="en-US" sz="2800" b="1" dirty="0" smtClean="0">
                <a:solidFill>
                  <a:srgbClr val="C00000"/>
                </a:solidFill>
              </a:rPr>
              <a:t>NUMBERS</a:t>
            </a:r>
          </a:p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U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MOVZX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MOVSX</a:t>
            </a:r>
            <a:endParaRPr lang="en-US" sz="2800" b="1" dirty="0">
              <a:solidFill>
                <a:srgbClr val="C00000"/>
              </a:solidFill>
            </a:endParaRPr>
          </a:p>
          <a:p>
            <a:endParaRPr lang="en-US" sz="2800" b="1" dirty="0"/>
          </a:p>
          <a:p>
            <a:r>
              <a:rPr lang="en-US" sz="2800" b="1" dirty="0"/>
              <a:t>The students should get one output </a:t>
            </a:r>
            <a:r>
              <a:rPr lang="en-US" sz="2800" b="1" dirty="0" smtClean="0"/>
              <a:t>console result  </a:t>
            </a:r>
          </a:p>
          <a:p>
            <a:r>
              <a:rPr lang="en-US" sz="2800" b="1" dirty="0"/>
              <a:t>f</a:t>
            </a:r>
            <a:r>
              <a:rPr lang="en-US" sz="2800" b="1" dirty="0" smtClean="0"/>
              <a:t>or unsigned and signed integer numbers.</a:t>
            </a:r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			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/>
              <a:t>Unsigned- Signed </a:t>
            </a:r>
            <a:r>
              <a:rPr lang="en-US" sz="2800" b="1" dirty="0" smtClean="0"/>
              <a:t>integer from 16-bits to 32-bits:</a:t>
            </a:r>
            <a:endParaRPr lang="en-US" sz="2800" b="1" dirty="0"/>
          </a:p>
          <a:p>
            <a:r>
              <a:rPr lang="en-US" sz="2800" b="1" dirty="0">
                <a:solidFill>
                  <a:srgbClr val="C00000"/>
                </a:solidFill>
              </a:rPr>
              <a:t>	</a:t>
            </a:r>
            <a:r>
              <a:rPr lang="en-US" sz="2800" b="1" dirty="0" smtClean="0">
                <a:solidFill>
                  <a:srgbClr val="C00000"/>
                </a:solidFill>
              </a:rPr>
              <a:t>Unsigned 16-bits to 32-bits using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MOVZX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	</a:t>
            </a:r>
            <a:r>
              <a:rPr lang="en-US" sz="2800" b="1" dirty="0" smtClean="0">
                <a:solidFill>
                  <a:srgbClr val="C00000"/>
                </a:solidFill>
              </a:rPr>
              <a:t>Signed </a:t>
            </a:r>
            <a:r>
              <a:rPr lang="en-US" sz="2800" b="1" dirty="0">
                <a:solidFill>
                  <a:srgbClr val="C00000"/>
                </a:solidFill>
              </a:rPr>
              <a:t>16-bits to </a:t>
            </a:r>
            <a:r>
              <a:rPr lang="en-US" sz="2800" b="1" dirty="0" smtClean="0">
                <a:solidFill>
                  <a:srgbClr val="C00000"/>
                </a:solidFill>
              </a:rPr>
              <a:t>32-bits using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MOVSX</a:t>
            </a:r>
            <a:endParaRPr lang="en-US" sz="2800" b="1" dirty="0">
              <a:solidFill>
                <a:srgbClr val="C00000"/>
              </a:solidFill>
            </a:endParaRPr>
          </a:p>
          <a:p>
            <a:endParaRPr lang="en-US" sz="2800" b="1" dirty="0"/>
          </a:p>
          <a:p>
            <a:endParaRPr lang="en-US" sz="2800" b="1" dirty="0"/>
          </a:p>
          <a:p>
            <a:pPr algn="ctr"/>
            <a:r>
              <a:rPr lang="en-US" sz="2800" b="1" dirty="0"/>
              <a:t>Total of </a:t>
            </a:r>
            <a:r>
              <a:rPr lang="en-US" sz="2800" b="1" dirty="0" smtClean="0"/>
              <a:t>1 output console result use  </a:t>
            </a:r>
            <a:r>
              <a:rPr lang="en-US" sz="2800" b="1" dirty="0" smtClean="0">
                <a:solidFill>
                  <a:srgbClr val="C00000"/>
                </a:solidFill>
              </a:rPr>
              <a:t>0xfffd </a:t>
            </a:r>
            <a:r>
              <a:rPr lang="en-US" sz="2800" b="1" dirty="0" smtClean="0"/>
              <a:t>as your data.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72695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7845966-6EFC-468A-9CC7-BAB4B95854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75554383-98AF-4A47-BB65-705FAAA4BE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DAD1991-FFD1-4E94-ABAB-7560D33008E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Picture 4" descr="MCj0434411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21856" y="1172029"/>
            <a:ext cx="4015469" cy="451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0570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="" xmlns:a16="http://schemas.microsoft.com/office/drawing/2014/main" id="{934F1179-B481-4F9E-BCA3-AFB972070F8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ight Triangle 84">
            <a:extLst>
              <a:ext uri="{FF2B5EF4-FFF2-40B4-BE49-F238E27FC236}">
                <a16:creationId xmlns="" xmlns:a16="http://schemas.microsoft.com/office/drawing/2014/main" id="{827DC2C4-B485-428A-BF4A-472D2967F4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="" xmlns:a16="http://schemas.microsoft.com/office/drawing/2014/main" id="{EE04B5EB-F158-4507-90DD-BD23620C7C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021" name="WordArt 5"/>
          <p:cNvSpPr>
            <a:spLocks noChangeArrowheads="1" noChangeShapeType="1" noTextEdit="1"/>
          </p:cNvSpPr>
          <p:nvPr/>
        </p:nvSpPr>
        <p:spPr bwMode="auto">
          <a:xfrm>
            <a:off x="963930" y="1008993"/>
            <a:ext cx="6923558" cy="3542045"/>
          </a:xfrm>
          <a:prstGeom prst="rect">
            <a:avLst/>
          </a:prstGeom>
        </p:spPr>
        <p:txBody>
          <a:bodyPr vert="horz" lIns="91440" tIns="45720" rIns="91440" bIns="45720" rtlCol="0" fromWordArt="1" anchor="b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0000" i="1" kern="1200">
                <a:ln w="9525">
                  <a:solidFill>
                    <a:srgbClr val="8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effectLst>
                  <a:outerShdw dist="35921" dir="2700000" algn="ctr" rotWithShape="0">
                    <a:srgbClr val="B2B2B2">
                      <a:alpha val="80000"/>
                    </a:srgbClr>
                  </a:outerShdw>
                </a:effectLst>
                <a:latin typeface="+mj-lt"/>
                <a:ea typeface="+mj-ea"/>
                <a:cs typeface="+mj-cs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309926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231</Words>
  <Application>Microsoft Office PowerPoint</Application>
  <PresentationFormat>On-screen Show (4:3)</PresentationFormat>
  <Paragraphs>78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LABORATORY No 6</vt:lpstr>
      <vt:lpstr>MOVE EXTENDING UNSIGNED AND SIGNED INSTRUCTIONS</vt:lpstr>
      <vt:lpstr>MOVE EXTENDING UNSIGNED AND SIGNED INSTRUCTIONS</vt:lpstr>
      <vt:lpstr>EXTENDING  UNSIGNED AND SIGNED NUMBERS </vt:lpstr>
      <vt:lpstr>POSITIVE AND NEGATIVE SIGNED NUMBERS </vt:lpstr>
      <vt:lpstr>UNSIGNED AND SIGNED INSTRUCTIONS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No 6</dc:title>
  <dc:creator>Ruben Velasquez-Rios</dc:creator>
  <cp:lastModifiedBy>Windows User</cp:lastModifiedBy>
  <cp:revision>13</cp:revision>
  <dcterms:created xsi:type="dcterms:W3CDTF">2020-09-21T19:06:30Z</dcterms:created>
  <dcterms:modified xsi:type="dcterms:W3CDTF">2021-03-17T19:39:06Z</dcterms:modified>
</cp:coreProperties>
</file>