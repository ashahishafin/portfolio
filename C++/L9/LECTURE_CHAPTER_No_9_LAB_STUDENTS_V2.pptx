
<file path=[Content_Types].xml><?xml version="1.0" encoding="utf-8"?>
<Types xmlns="http://schemas.openxmlformats.org/package/2006/content-types"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20" r:id="rId2"/>
    <p:sldId id="259" r:id="rId3"/>
    <p:sldId id="296" r:id="rId4"/>
    <p:sldId id="311" r:id="rId5"/>
    <p:sldId id="288" r:id="rId6"/>
    <p:sldId id="289" r:id="rId7"/>
    <p:sldId id="290" r:id="rId8"/>
    <p:sldId id="291" r:id="rId9"/>
    <p:sldId id="292" r:id="rId10"/>
    <p:sldId id="293" r:id="rId11"/>
    <p:sldId id="301" r:id="rId12"/>
    <p:sldId id="304" r:id="rId13"/>
    <p:sldId id="307" r:id="rId14"/>
    <p:sldId id="308" r:id="rId15"/>
    <p:sldId id="318" r:id="rId16"/>
    <p:sldId id="310" r:id="rId17"/>
    <p:sldId id="313" r:id="rId18"/>
    <p:sldId id="319" r:id="rId19"/>
    <p:sldId id="327" r:id="rId20"/>
    <p:sldId id="330" r:id="rId21"/>
    <p:sldId id="329" r:id="rId22"/>
    <p:sldId id="328" r:id="rId23"/>
    <p:sldId id="322" r:id="rId2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50" d="100"/>
          <a:sy n="50" d="100"/>
        </p:scale>
        <p:origin x="-1090" y="-78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973B2-0B86-436F-A23D-2271D3305795}" type="datetimeFigureOut">
              <a:rPr lang="en-US" smtClean="0"/>
              <a:t>4/20/2021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32AC5-03BD-4C07-B78B-7BF6F191B0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8868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973B2-0B86-436F-A23D-2271D3305795}" type="datetimeFigureOut">
              <a:rPr lang="en-US" smtClean="0"/>
              <a:t>4/20/2021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32AC5-03BD-4C07-B78B-7BF6F191B0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66373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973B2-0B86-436F-A23D-2271D3305795}" type="datetimeFigureOut">
              <a:rPr lang="en-US" smtClean="0"/>
              <a:t>4/20/2021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32AC5-03BD-4C07-B78B-7BF6F191B0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8654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973B2-0B86-436F-A23D-2271D3305795}" type="datetimeFigureOut">
              <a:rPr lang="en-US" smtClean="0"/>
              <a:t>4/20/2021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32AC5-03BD-4C07-B78B-7BF6F191B0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1942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973B2-0B86-436F-A23D-2271D3305795}" type="datetimeFigureOut">
              <a:rPr lang="en-US" smtClean="0"/>
              <a:t>4/20/2021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32AC5-03BD-4C07-B78B-7BF6F191B0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7004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973B2-0B86-436F-A23D-2271D3305795}" type="datetimeFigureOut">
              <a:rPr lang="en-US" smtClean="0"/>
              <a:t>4/20/2021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32AC5-03BD-4C07-B78B-7BF6F191B0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99686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973B2-0B86-436F-A23D-2271D3305795}" type="datetimeFigureOut">
              <a:rPr lang="en-US" smtClean="0"/>
              <a:t>4/20/2021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32AC5-03BD-4C07-B78B-7BF6F191B0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71205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973B2-0B86-436F-A23D-2271D3305795}" type="datetimeFigureOut">
              <a:rPr lang="en-US" smtClean="0"/>
              <a:t>4/20/2021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32AC5-03BD-4C07-B78B-7BF6F191B0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0782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973B2-0B86-436F-A23D-2271D3305795}" type="datetimeFigureOut">
              <a:rPr lang="en-US" smtClean="0"/>
              <a:t>4/20/2021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32AC5-03BD-4C07-B78B-7BF6F191B0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76246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973B2-0B86-436F-A23D-2271D3305795}" type="datetimeFigureOut">
              <a:rPr lang="en-US" smtClean="0"/>
              <a:t>4/20/2021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32AC5-03BD-4C07-B78B-7BF6F191B0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45125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973B2-0B86-436F-A23D-2271D3305795}" type="datetimeFigureOut">
              <a:rPr lang="en-US" smtClean="0"/>
              <a:t>4/20/2021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32AC5-03BD-4C07-B78B-7BF6F191B0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34248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6973B2-0B86-436F-A23D-2271D3305795}" type="datetimeFigureOut">
              <a:rPr lang="en-US" smtClean="0"/>
              <a:t>4/20/2021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432AC5-03BD-4C07-B78B-7BF6F191B0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48013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wmf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23962611-DFD5-4092-AAFD-559E3DFCE2C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356616" y="0"/>
            <a:ext cx="8182719" cy="6858000"/>
          </a:xfrm>
          <a:prstGeom prst="rect">
            <a:avLst/>
          </a:prstGeom>
          <a:gradFill>
            <a:gsLst>
              <a:gs pos="0">
                <a:schemeClr val="accent1">
                  <a:lumMod val="90000"/>
                </a:schemeClr>
              </a:gs>
              <a:gs pos="25000">
                <a:schemeClr val="accent1">
                  <a:lumMod val="90000"/>
                </a:schemeClr>
              </a:gs>
              <a:gs pos="94000">
                <a:schemeClr val="bg2">
                  <a:lumMod val="25000"/>
                </a:schemeClr>
              </a:gs>
              <a:gs pos="100000">
                <a:schemeClr val="bg2">
                  <a:lumMod val="2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xmlns="" id="{2270F1FA-0425-408F-9861-80BF5AFB276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4026" y="2043663"/>
            <a:ext cx="4578895" cy="2031055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LABORATORY No </a:t>
            </a:r>
            <a:r>
              <a:rPr lang="en-US" dirty="0" smtClean="0">
                <a:solidFill>
                  <a:srgbClr val="FFFFFF"/>
                </a:solidFill>
              </a:rPr>
              <a:t>9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4026" y="4074718"/>
            <a:ext cx="4578895" cy="682079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90000"/>
              </a:lnSpc>
            </a:pPr>
            <a:r>
              <a:rPr lang="en-US" sz="2000" dirty="0">
                <a:solidFill>
                  <a:schemeClr val="bg1"/>
                </a:solidFill>
              </a:rPr>
              <a:t>Bit Manipulation and Mask Design using bitwise AND, OR, XOR, NOT, SHL, SHR, ROL, and ROR to pack and unpack bit strings </a:t>
            </a:r>
            <a:r>
              <a:rPr lang="en-US" sz="2000" dirty="0" smtClean="0">
                <a:solidFill>
                  <a:schemeClr val="bg1"/>
                </a:solidFill>
              </a:rPr>
              <a:t> </a:t>
            </a:r>
            <a:endParaRPr lang="en-US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649927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27709" y="0"/>
            <a:ext cx="9199418" cy="374073"/>
          </a:xfrm>
        </p:spPr>
        <p:txBody>
          <a:bodyPr>
            <a:noAutofit/>
          </a:bodyPr>
          <a:lstStyle/>
          <a:p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194434" y="1554480"/>
            <a:ext cx="7416165" cy="42165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Bitwise instructions to manipulate bits </a:t>
            </a:r>
          </a:p>
          <a:p>
            <a:endParaRPr lang="en-US" sz="2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Bitwise AND 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operation CLEAR 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bits.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Bitwise OR 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operation SET bits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Bitwise XOR operation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INVERT bits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Bitwise NOT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operation 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TOGGLE or EXTRACT bits.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Bitwise 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SHL operation shift bits left.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Bitwise 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SHR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operation shift bits 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right.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Bitwise 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ROL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operation 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rotate 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bits left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Bitwise 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ROR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operation rotate  bits 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right.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17269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27709" y="0"/>
            <a:ext cx="9199418" cy="374073"/>
          </a:xfrm>
        </p:spPr>
        <p:txBody>
          <a:bodyPr>
            <a:noAutofit/>
          </a:bodyPr>
          <a:lstStyle/>
          <a:p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179195" y="2209800"/>
            <a:ext cx="7086600" cy="23698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x86 family overlays bits registers: </a:t>
            </a:r>
          </a:p>
          <a:p>
            <a:endParaRPr lang="en-US" sz="2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64-bit register overlays with the 32-bit registers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32-bit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register overlays with the 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16-bit registers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16-bit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register overlays with the 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8-bit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registers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3824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706880" y="667494"/>
            <a:ext cx="6400800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US" sz="3000" b="1" dirty="0"/>
              <a:t>Comparison </a:t>
            </a:r>
            <a:r>
              <a:rPr lang="en-US" altLang="en-US" sz="3000" b="1" dirty="0" smtClean="0"/>
              <a:t>operators in C++</a:t>
            </a:r>
            <a:endParaRPr lang="en-US" altLang="en-US" sz="3000" b="1" dirty="0"/>
          </a:p>
          <a:p>
            <a:pPr lvl="1">
              <a:buFontTx/>
              <a:buNone/>
            </a:pPr>
            <a:r>
              <a:rPr lang="en-US" altLang="en-US" sz="3000" b="1" dirty="0">
                <a:solidFill>
                  <a:srgbClr val="FF0000"/>
                </a:solidFill>
              </a:rPr>
              <a:t>==</a:t>
            </a:r>
            <a:r>
              <a:rPr lang="en-US" altLang="en-US" sz="3000" b="1" dirty="0"/>
              <a:t>              equal</a:t>
            </a:r>
          </a:p>
          <a:p>
            <a:pPr lvl="1">
              <a:buFontTx/>
              <a:buNone/>
            </a:pPr>
            <a:r>
              <a:rPr lang="en-US" altLang="en-US" sz="3000" b="1" dirty="0">
                <a:solidFill>
                  <a:srgbClr val="FF0000"/>
                </a:solidFill>
              </a:rPr>
              <a:t>!=  </a:t>
            </a:r>
            <a:r>
              <a:rPr lang="en-US" altLang="en-US" sz="3000" b="1" dirty="0"/>
              <a:t>              not  equal</a:t>
            </a:r>
          </a:p>
          <a:p>
            <a:pPr lvl="1">
              <a:buFontTx/>
              <a:buNone/>
            </a:pPr>
            <a:r>
              <a:rPr lang="en-US" altLang="en-US" sz="3000" b="1" dirty="0">
                <a:solidFill>
                  <a:srgbClr val="FF0000"/>
                </a:solidFill>
              </a:rPr>
              <a:t>&lt;</a:t>
            </a:r>
            <a:r>
              <a:rPr lang="en-US" altLang="en-US" sz="3000" b="1" dirty="0"/>
              <a:t>                 less than</a:t>
            </a:r>
          </a:p>
          <a:p>
            <a:pPr lvl="1">
              <a:buFont typeface="Wingdings" charset="2"/>
              <a:buNone/>
            </a:pPr>
            <a:r>
              <a:rPr lang="en-US" altLang="en-US" sz="3000" b="1" dirty="0">
                <a:solidFill>
                  <a:srgbClr val="FF0000"/>
                </a:solidFill>
              </a:rPr>
              <a:t>&gt;</a:t>
            </a:r>
            <a:r>
              <a:rPr lang="en-US" altLang="en-US" sz="3000" b="1" dirty="0"/>
              <a:t>                 greater than</a:t>
            </a:r>
          </a:p>
          <a:p>
            <a:pPr lvl="1">
              <a:buFont typeface="Wingdings" charset="2"/>
              <a:buNone/>
            </a:pPr>
            <a:r>
              <a:rPr lang="en-US" altLang="en-US" sz="3000" b="1" dirty="0">
                <a:solidFill>
                  <a:srgbClr val="FF0000"/>
                </a:solidFill>
              </a:rPr>
              <a:t>&lt;=</a:t>
            </a:r>
            <a:r>
              <a:rPr lang="en-US" altLang="en-US" sz="3000" b="1" dirty="0"/>
              <a:t>               less than or equal</a:t>
            </a:r>
          </a:p>
          <a:p>
            <a:pPr lvl="1">
              <a:buFont typeface="Wingdings" charset="2"/>
              <a:buNone/>
            </a:pPr>
            <a:r>
              <a:rPr lang="en-US" altLang="en-US" sz="3000" b="1" dirty="0">
                <a:solidFill>
                  <a:srgbClr val="FF0000"/>
                </a:solidFill>
              </a:rPr>
              <a:t>&gt;=</a:t>
            </a:r>
            <a:r>
              <a:rPr lang="en-US" altLang="en-US" sz="3000" b="1" dirty="0"/>
              <a:t>               greater than or equal</a:t>
            </a:r>
          </a:p>
          <a:p>
            <a:endParaRPr lang="en-US" altLang="en-US" sz="3000" dirty="0"/>
          </a:p>
          <a:p>
            <a:r>
              <a:rPr lang="en-US" altLang="en-US" sz="3000" b="1" dirty="0"/>
              <a:t>Boolean </a:t>
            </a:r>
            <a:r>
              <a:rPr lang="en-US" altLang="en-US" sz="3000" b="1" dirty="0" smtClean="0"/>
              <a:t>operators in C++</a:t>
            </a:r>
            <a:endParaRPr lang="en-US" altLang="en-US" sz="3000" b="1" dirty="0"/>
          </a:p>
          <a:p>
            <a:pPr lvl="1">
              <a:buFontTx/>
              <a:buNone/>
            </a:pPr>
            <a:r>
              <a:rPr lang="en-US" altLang="en-US" sz="3000" b="1" dirty="0">
                <a:solidFill>
                  <a:srgbClr val="FF0000"/>
                </a:solidFill>
              </a:rPr>
              <a:t>&amp;&amp;</a:t>
            </a:r>
            <a:r>
              <a:rPr lang="en-US" altLang="en-US" sz="3000" b="1" dirty="0"/>
              <a:t>            and</a:t>
            </a:r>
          </a:p>
          <a:p>
            <a:pPr lvl="1">
              <a:buFontTx/>
              <a:buNone/>
            </a:pPr>
            <a:r>
              <a:rPr lang="en-US" altLang="en-US" sz="3000" b="1" dirty="0">
                <a:solidFill>
                  <a:srgbClr val="FF0000"/>
                </a:solidFill>
              </a:rPr>
              <a:t>||</a:t>
            </a:r>
            <a:r>
              <a:rPr lang="en-US" altLang="en-US" sz="3000" b="1" dirty="0"/>
              <a:t>                or</a:t>
            </a:r>
          </a:p>
          <a:p>
            <a:pPr lvl="1">
              <a:buFontTx/>
              <a:buNone/>
            </a:pPr>
            <a:r>
              <a:rPr lang="en-US" altLang="en-US" sz="3000" b="1" dirty="0">
                <a:solidFill>
                  <a:srgbClr val="FF0000"/>
                </a:solidFill>
              </a:rPr>
              <a:t>!</a:t>
            </a:r>
            <a:r>
              <a:rPr lang="en-US" altLang="en-US" sz="3000" b="1" dirty="0"/>
              <a:t>                not</a:t>
            </a:r>
            <a:endParaRPr lang="en-US" sz="3000" b="1" dirty="0"/>
          </a:p>
        </p:txBody>
      </p:sp>
    </p:spTree>
    <p:extLst>
      <p:ext uri="{BB962C8B-B14F-4D97-AF65-F5344CB8AC3E}">
        <p14:creationId xmlns:p14="http://schemas.microsoft.com/office/powerpoint/2010/main" val="41949049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27709" y="0"/>
            <a:ext cx="9199418" cy="374073"/>
          </a:xfrm>
        </p:spPr>
        <p:txBody>
          <a:bodyPr>
            <a:noAutofit/>
          </a:bodyPr>
          <a:lstStyle/>
          <a:p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39" y="563880"/>
            <a:ext cx="9144663" cy="56845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384544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27709" y="0"/>
            <a:ext cx="9199418" cy="374073"/>
          </a:xfrm>
        </p:spPr>
        <p:txBody>
          <a:bodyPr>
            <a:noAutofit/>
          </a:bodyPr>
          <a:lstStyle/>
          <a:p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5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26720"/>
            <a:ext cx="9118333" cy="59740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081018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27709" y="0"/>
            <a:ext cx="9199418" cy="374073"/>
          </a:xfrm>
        </p:spPr>
        <p:txBody>
          <a:bodyPr>
            <a:noAutofit/>
          </a:bodyPr>
          <a:lstStyle/>
          <a:p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57200"/>
            <a:ext cx="9067800" cy="60198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602280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27709" y="0"/>
            <a:ext cx="9199418" cy="374073"/>
          </a:xfrm>
        </p:spPr>
        <p:txBody>
          <a:bodyPr>
            <a:noAutofit/>
          </a:bodyPr>
          <a:lstStyle/>
          <a:p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" y="562610"/>
            <a:ext cx="9052560" cy="579247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376472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27709" y="0"/>
            <a:ext cx="9199418" cy="374073"/>
          </a:xfrm>
        </p:spPr>
        <p:txBody>
          <a:bodyPr>
            <a:noAutofit/>
          </a:bodyPr>
          <a:lstStyle/>
          <a:p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86994"/>
            <a:ext cx="8833803" cy="66643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231233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27709" y="0"/>
            <a:ext cx="9199418" cy="374073"/>
          </a:xfrm>
        </p:spPr>
        <p:txBody>
          <a:bodyPr>
            <a:noAutofit/>
          </a:bodyPr>
          <a:lstStyle/>
          <a:p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240" y="133984"/>
            <a:ext cx="9144000" cy="660209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535244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27709" y="0"/>
            <a:ext cx="9199418" cy="374073"/>
          </a:xfrm>
        </p:spPr>
        <p:txBody>
          <a:bodyPr>
            <a:noAutofit/>
          </a:bodyPr>
          <a:lstStyle/>
          <a:p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179195" y="914400"/>
            <a:ext cx="7086600" cy="51398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LAB No 09 EXAMPLE No </a:t>
            </a:r>
            <a:r>
              <a:rPr lang="en-US" sz="28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9.1</a:t>
            </a:r>
          </a:p>
          <a:p>
            <a:pPr algn="ctr"/>
            <a:endParaRPr lang="en-US" sz="28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your final report presentation: </a:t>
            </a:r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endParaRPr lang="en-US" sz="28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itchFamily="2" charset="2"/>
              <a:buChar char="v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example 9.1 is to be developed by the students</a:t>
            </a:r>
            <a:r>
              <a:rPr 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order to display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month, day, and year.</a:t>
            </a:r>
          </a:p>
          <a:p>
            <a:pPr marL="342900" indent="-342900">
              <a:buFont typeface="Wingdings" pitchFamily="2" charset="2"/>
              <a:buChar char="v"/>
            </a:pP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Example 9.1 is for 16-bit  register to determine month, day, and year.</a:t>
            </a:r>
          </a:p>
          <a:p>
            <a:endParaRPr lang="en-US" sz="2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b="1" dirty="0" smtClean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33933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27709" y="0"/>
            <a:ext cx="9199418" cy="374073"/>
          </a:xfrm>
        </p:spPr>
        <p:txBody>
          <a:bodyPr>
            <a:noAutofit/>
          </a:bodyPr>
          <a:lstStyle/>
          <a:p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914400" y="1219200"/>
            <a:ext cx="7520305" cy="42165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 your final report presentation: </a:t>
            </a:r>
          </a:p>
          <a:p>
            <a:endParaRPr lang="en-US" sz="2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Example 9.1 is for 16-bit registers for moth, day, year</a:t>
            </a:r>
          </a:p>
          <a:p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3976" y="3327738"/>
            <a:ext cx="6572250" cy="863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476756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27709" y="0"/>
            <a:ext cx="9199418" cy="374073"/>
          </a:xfrm>
        </p:spPr>
        <p:txBody>
          <a:bodyPr>
            <a:noAutofit/>
          </a:bodyPr>
          <a:lstStyle/>
          <a:p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52400" y="1443841"/>
            <a:ext cx="88392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/>
              <a:t>bitset</a:t>
            </a:r>
            <a:r>
              <a:rPr lang="en-US" dirty="0"/>
              <a:t>&lt;8&gt; </a:t>
            </a:r>
            <a:r>
              <a:rPr lang="en-US" dirty="0" err="1"/>
              <a:t>monthBits</a:t>
            </a:r>
            <a:r>
              <a:rPr lang="en-US" dirty="0"/>
              <a:t>(month);   </a:t>
            </a:r>
            <a:r>
              <a:rPr lang="en-US" dirty="0" smtClean="0"/>
              <a:t>	                //</a:t>
            </a:r>
            <a:r>
              <a:rPr lang="en-US" dirty="0"/>
              <a:t>Convert month to an 8-bits binary to store</a:t>
            </a:r>
          </a:p>
          <a:p>
            <a:r>
              <a:rPr lang="en-US" dirty="0" err="1"/>
              <a:t>cout</a:t>
            </a:r>
            <a:r>
              <a:rPr lang="en-US" dirty="0"/>
              <a:t> &lt;&lt; "month bits: \t" &lt;&lt; </a:t>
            </a:r>
            <a:r>
              <a:rPr lang="en-US" dirty="0" err="1"/>
              <a:t>monthBits</a:t>
            </a:r>
            <a:r>
              <a:rPr lang="en-US" dirty="0"/>
              <a:t> &lt;&lt; </a:t>
            </a:r>
            <a:r>
              <a:rPr lang="en-US" dirty="0" err="1"/>
              <a:t>endl</a:t>
            </a:r>
            <a:r>
              <a:rPr lang="en-US" dirty="0"/>
              <a:t>; </a:t>
            </a:r>
            <a:r>
              <a:rPr lang="en-US" dirty="0" smtClean="0"/>
              <a:t>	//</a:t>
            </a:r>
            <a:r>
              <a:rPr lang="en-US" dirty="0"/>
              <a:t>Displays the value in binary</a:t>
            </a:r>
          </a:p>
          <a:p>
            <a:endParaRPr lang="en-US" dirty="0"/>
          </a:p>
          <a:p>
            <a:r>
              <a:rPr lang="en-US" dirty="0" err="1"/>
              <a:t>bitset</a:t>
            </a:r>
            <a:r>
              <a:rPr lang="en-US" dirty="0"/>
              <a:t>&lt;8&gt; </a:t>
            </a:r>
            <a:r>
              <a:rPr lang="en-US" dirty="0" err="1"/>
              <a:t>dayBits</a:t>
            </a:r>
            <a:r>
              <a:rPr lang="en-US" dirty="0"/>
              <a:t>(day);    </a:t>
            </a:r>
            <a:r>
              <a:rPr lang="en-US" dirty="0" smtClean="0"/>
              <a:t>			//</a:t>
            </a:r>
            <a:r>
              <a:rPr lang="en-US" dirty="0"/>
              <a:t>Convert day to an 8-bits binary to store</a:t>
            </a:r>
          </a:p>
          <a:p>
            <a:r>
              <a:rPr lang="en-US" dirty="0" err="1"/>
              <a:t>cout</a:t>
            </a:r>
            <a:r>
              <a:rPr lang="en-US" dirty="0"/>
              <a:t> &lt;&lt; "day bits: \t" &lt;&lt; </a:t>
            </a:r>
            <a:r>
              <a:rPr lang="en-US" dirty="0" err="1"/>
              <a:t>dayBits</a:t>
            </a:r>
            <a:r>
              <a:rPr lang="en-US" dirty="0"/>
              <a:t> &lt;&lt; </a:t>
            </a:r>
            <a:r>
              <a:rPr lang="en-US" dirty="0" err="1"/>
              <a:t>endl</a:t>
            </a:r>
            <a:r>
              <a:rPr lang="en-US" dirty="0"/>
              <a:t>;    </a:t>
            </a:r>
            <a:r>
              <a:rPr lang="en-US" dirty="0" smtClean="0"/>
              <a:t>	//</a:t>
            </a:r>
            <a:r>
              <a:rPr lang="en-US" dirty="0"/>
              <a:t>Displays the value in binary</a:t>
            </a:r>
          </a:p>
          <a:p>
            <a:endParaRPr lang="en-US" dirty="0"/>
          </a:p>
          <a:p>
            <a:r>
              <a:rPr lang="en-US" dirty="0" err="1"/>
              <a:t>bitset</a:t>
            </a:r>
            <a:r>
              <a:rPr lang="en-US" dirty="0"/>
              <a:t>&lt;8&gt; </a:t>
            </a:r>
            <a:r>
              <a:rPr lang="en-US" dirty="0" err="1"/>
              <a:t>yearBits</a:t>
            </a:r>
            <a:r>
              <a:rPr lang="en-US" dirty="0"/>
              <a:t>(year);   </a:t>
            </a:r>
            <a:r>
              <a:rPr lang="en-US" dirty="0" smtClean="0"/>
              <a:t>		 	//</a:t>
            </a:r>
            <a:r>
              <a:rPr lang="en-US" dirty="0"/>
              <a:t>Convert year to an 8-bits binary to store</a:t>
            </a:r>
          </a:p>
          <a:p>
            <a:r>
              <a:rPr lang="en-US" dirty="0" err="1"/>
              <a:t>cout</a:t>
            </a:r>
            <a:r>
              <a:rPr lang="en-US" dirty="0"/>
              <a:t> &lt;&lt; "year bits: \t" &lt;&lt; </a:t>
            </a:r>
            <a:r>
              <a:rPr lang="en-US" dirty="0" err="1"/>
              <a:t>yearBits</a:t>
            </a:r>
            <a:r>
              <a:rPr lang="en-US" dirty="0"/>
              <a:t> &lt;&lt; </a:t>
            </a:r>
            <a:r>
              <a:rPr lang="en-US" dirty="0" err="1"/>
              <a:t>endl</a:t>
            </a:r>
            <a:r>
              <a:rPr lang="en-US" dirty="0"/>
              <a:t>;    </a:t>
            </a:r>
            <a:r>
              <a:rPr lang="en-US" dirty="0" smtClean="0"/>
              <a:t>	//</a:t>
            </a:r>
            <a:r>
              <a:rPr lang="en-US" dirty="0"/>
              <a:t>Displays the value in binary</a:t>
            </a:r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9850" y="4724400"/>
            <a:ext cx="6464300" cy="82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/>
          <p:cNvSpPr/>
          <p:nvPr/>
        </p:nvSpPr>
        <p:spPr>
          <a:xfrm>
            <a:off x="838200" y="0"/>
            <a:ext cx="735637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LABORATORY No 9 EXAMPLE 9.1 FOR 16-BIT  MOTH, DAY, YEAR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04275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27709" y="0"/>
            <a:ext cx="9199418" cy="374073"/>
          </a:xfrm>
        </p:spPr>
        <p:txBody>
          <a:bodyPr>
            <a:noAutofit/>
          </a:bodyPr>
          <a:lstStyle/>
          <a:p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47700" y="947341"/>
            <a:ext cx="8255000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TO PACK THE </a:t>
            </a:r>
            <a:r>
              <a:rPr lang="en-US" b="1" dirty="0" smtClean="0">
                <a:solidFill>
                  <a:srgbClr val="C00000"/>
                </a:solidFill>
              </a:rPr>
              <a:t>INFORMATION FOR DATE 4/15/99 ONLY</a:t>
            </a:r>
            <a:endParaRPr lang="en-US" dirty="0" smtClean="0"/>
          </a:p>
          <a:p>
            <a:r>
              <a:rPr lang="en-US" dirty="0" smtClean="0"/>
              <a:t>_</a:t>
            </a:r>
            <a:r>
              <a:rPr lang="en-US" dirty="0" err="1"/>
              <a:t>asm</a:t>
            </a:r>
            <a:endParaRPr lang="en-US" dirty="0"/>
          </a:p>
          <a:p>
            <a:r>
              <a:rPr lang="en-US" dirty="0" smtClean="0"/>
              <a:t>{</a:t>
            </a:r>
          </a:p>
          <a:p>
            <a:r>
              <a:rPr lang="en-US" b="1" dirty="0" err="1">
                <a:solidFill>
                  <a:srgbClr val="C00000"/>
                </a:solidFill>
              </a:rPr>
              <a:t>m</a:t>
            </a:r>
            <a:r>
              <a:rPr lang="en-US" b="1" dirty="0" err="1" smtClean="0">
                <a:solidFill>
                  <a:srgbClr val="C00000"/>
                </a:solidFill>
              </a:rPr>
              <a:t>ov</a:t>
            </a:r>
            <a:r>
              <a:rPr lang="en-US" b="1" dirty="0" smtClean="0">
                <a:solidFill>
                  <a:srgbClr val="C00000"/>
                </a:solidFill>
              </a:rPr>
              <a:t> EBX = 0</a:t>
            </a:r>
            <a:r>
              <a:rPr lang="en-US" dirty="0" smtClean="0"/>
              <a:t>		//To initialize 32-bit </a:t>
            </a:r>
            <a:r>
              <a:rPr lang="en-US" dirty="0"/>
              <a:t>EBX register to </a:t>
            </a:r>
            <a:r>
              <a:rPr lang="en-US" dirty="0" smtClean="0"/>
              <a:t>zero</a:t>
            </a:r>
            <a:endParaRPr lang="en-US" dirty="0"/>
          </a:p>
          <a:p>
            <a:r>
              <a:rPr lang="en-US" dirty="0" err="1"/>
              <a:t>mov</a:t>
            </a:r>
            <a:r>
              <a:rPr lang="en-US" dirty="0"/>
              <a:t> BL, month</a:t>
            </a:r>
            <a:r>
              <a:rPr lang="en-US" dirty="0" smtClean="0"/>
              <a:t>;		//loads memory variable </a:t>
            </a:r>
            <a:r>
              <a:rPr lang="en-US" dirty="0"/>
              <a:t>month into 8</a:t>
            </a:r>
            <a:r>
              <a:rPr lang="en-US" dirty="0" smtClean="0"/>
              <a:t>-bit BL</a:t>
            </a:r>
            <a:endParaRPr lang="en-US" dirty="0"/>
          </a:p>
          <a:p>
            <a:r>
              <a:rPr lang="en-US" dirty="0" err="1"/>
              <a:t>shl</a:t>
            </a:r>
            <a:r>
              <a:rPr lang="en-US" dirty="0"/>
              <a:t> BX, 5</a:t>
            </a:r>
            <a:r>
              <a:rPr lang="en-US" dirty="0" smtClean="0"/>
              <a:t>;			//</a:t>
            </a:r>
            <a:r>
              <a:rPr lang="en-US" dirty="0"/>
              <a:t>shifts left 5 times in 32-bit BX register</a:t>
            </a:r>
          </a:p>
          <a:p>
            <a:r>
              <a:rPr lang="en-US" dirty="0"/>
              <a:t>or BL, day</a:t>
            </a:r>
            <a:r>
              <a:rPr lang="en-US" dirty="0" smtClean="0"/>
              <a:t>;		//perform </a:t>
            </a:r>
            <a:r>
              <a:rPr lang="en-US" dirty="0"/>
              <a:t>OR logic operation with variable day</a:t>
            </a:r>
          </a:p>
          <a:p>
            <a:r>
              <a:rPr lang="en-US" dirty="0" err="1"/>
              <a:t>shl</a:t>
            </a:r>
            <a:r>
              <a:rPr lang="en-US" dirty="0"/>
              <a:t> BX, 7</a:t>
            </a:r>
            <a:r>
              <a:rPr lang="en-US" dirty="0" smtClean="0"/>
              <a:t>;			//</a:t>
            </a:r>
            <a:r>
              <a:rPr lang="en-US" dirty="0"/>
              <a:t>shift left </a:t>
            </a:r>
            <a:r>
              <a:rPr lang="en-US" dirty="0" smtClean="0"/>
              <a:t>7 </a:t>
            </a:r>
            <a:r>
              <a:rPr lang="en-US" dirty="0"/>
              <a:t>times in 32-bit BX register </a:t>
            </a:r>
          </a:p>
          <a:p>
            <a:r>
              <a:rPr lang="en-US" dirty="0"/>
              <a:t>or BL, year</a:t>
            </a:r>
            <a:r>
              <a:rPr lang="en-US" dirty="0" smtClean="0"/>
              <a:t>;		//</a:t>
            </a:r>
            <a:r>
              <a:rPr lang="en-US" dirty="0"/>
              <a:t>perform OR logic operation with </a:t>
            </a:r>
            <a:r>
              <a:rPr lang="en-US" dirty="0" smtClean="0"/>
              <a:t>memory variable </a:t>
            </a:r>
            <a:r>
              <a:rPr lang="en-US" dirty="0"/>
              <a:t>year</a:t>
            </a:r>
          </a:p>
          <a:p>
            <a:r>
              <a:rPr lang="en-US" dirty="0" err="1"/>
              <a:t>mov</a:t>
            </a:r>
            <a:r>
              <a:rPr lang="en-US" dirty="0"/>
              <a:t> </a:t>
            </a:r>
            <a:r>
              <a:rPr lang="en-US" dirty="0" err="1"/>
              <a:t>packedDate</a:t>
            </a:r>
            <a:r>
              <a:rPr lang="en-US" dirty="0"/>
              <a:t>, BX</a:t>
            </a:r>
            <a:r>
              <a:rPr lang="en-US" dirty="0" smtClean="0"/>
              <a:t>;	//loads BX </a:t>
            </a:r>
            <a:r>
              <a:rPr lang="en-US" dirty="0"/>
              <a:t>register </a:t>
            </a:r>
            <a:r>
              <a:rPr lang="en-US" dirty="0" smtClean="0"/>
              <a:t>to </a:t>
            </a:r>
            <a:r>
              <a:rPr lang="en-US" dirty="0" err="1"/>
              <a:t>packedDate</a:t>
            </a:r>
            <a:r>
              <a:rPr lang="en-US" dirty="0"/>
              <a:t> variable.</a:t>
            </a:r>
          </a:p>
          <a:p>
            <a:r>
              <a:rPr lang="en-US" dirty="0"/>
              <a:t>}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2456"/>
          <a:stretch/>
        </p:blipFill>
        <p:spPr bwMode="auto">
          <a:xfrm>
            <a:off x="1339850" y="4722182"/>
            <a:ext cx="6464300" cy="9928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/>
          <p:cNvSpPr/>
          <p:nvPr/>
        </p:nvSpPr>
        <p:spPr>
          <a:xfrm>
            <a:off x="838200" y="0"/>
            <a:ext cx="735637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LABORATORY No 9 EXAMPLE 9.1 FOR 16-BIT  MOTH, DAY, YEAR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60982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27709" y="0"/>
            <a:ext cx="9199418" cy="374073"/>
          </a:xfrm>
        </p:spPr>
        <p:txBody>
          <a:bodyPr>
            <a:noAutofit/>
          </a:bodyPr>
          <a:lstStyle/>
          <a:p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23825" y="381000"/>
            <a:ext cx="8934449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dirty="0" smtClean="0">
                <a:solidFill>
                  <a:srgbClr val="C00000"/>
                </a:solidFill>
              </a:rPr>
              <a:t>PACKING </a:t>
            </a:r>
            <a:r>
              <a:rPr lang="en-US" b="1" dirty="0">
                <a:solidFill>
                  <a:srgbClr val="C00000"/>
                </a:solidFill>
              </a:rPr>
              <a:t>THE </a:t>
            </a:r>
            <a:r>
              <a:rPr lang="en-US" b="1" dirty="0" smtClean="0">
                <a:solidFill>
                  <a:srgbClr val="C00000"/>
                </a:solidFill>
              </a:rPr>
              <a:t>INFORMATION </a:t>
            </a:r>
            <a:r>
              <a:rPr lang="en-US" b="1" dirty="0">
                <a:solidFill>
                  <a:srgbClr val="C00000"/>
                </a:solidFill>
              </a:rPr>
              <a:t>FOR </a:t>
            </a:r>
            <a:r>
              <a:rPr lang="en-US" b="1" dirty="0" smtClean="0">
                <a:solidFill>
                  <a:srgbClr val="C00000"/>
                </a:solidFill>
              </a:rPr>
              <a:t>DATE AS </a:t>
            </a:r>
            <a:r>
              <a:rPr lang="en-US" b="1" dirty="0">
                <a:solidFill>
                  <a:srgbClr val="C00000"/>
                </a:solidFill>
              </a:rPr>
              <a:t>4/15/99 </a:t>
            </a:r>
            <a:r>
              <a:rPr lang="en-US" b="1" dirty="0" smtClean="0">
                <a:solidFill>
                  <a:srgbClr val="C00000"/>
                </a:solidFill>
              </a:rPr>
              <a:t>IN A 16-BIT FORMAT</a:t>
            </a:r>
            <a:endParaRPr lang="en-US" b="1" dirty="0">
              <a:solidFill>
                <a:srgbClr val="C00000"/>
              </a:solidFill>
            </a:endParaRPr>
          </a:p>
          <a:p>
            <a:r>
              <a:rPr lang="en-US" dirty="0" smtClean="0"/>
              <a:t>_</a:t>
            </a:r>
            <a:r>
              <a:rPr lang="en-US" dirty="0" err="1"/>
              <a:t>asm</a:t>
            </a:r>
            <a:endParaRPr lang="en-US" dirty="0"/>
          </a:p>
          <a:p>
            <a:r>
              <a:rPr lang="en-US" dirty="0" smtClean="0"/>
              <a:t>{</a:t>
            </a:r>
          </a:p>
          <a:p>
            <a:r>
              <a:rPr lang="en-US" dirty="0" err="1"/>
              <a:t>mov</a:t>
            </a:r>
            <a:r>
              <a:rPr lang="en-US" dirty="0"/>
              <a:t> month, X;                </a:t>
            </a:r>
            <a:r>
              <a:rPr lang="en-US" b="1" dirty="0">
                <a:solidFill>
                  <a:srgbClr val="FF0000"/>
                </a:solidFill>
              </a:rPr>
              <a:t>    X = …………….0000_0000_0000_0100</a:t>
            </a:r>
            <a:r>
              <a:rPr lang="en-US" dirty="0"/>
              <a:t> = </a:t>
            </a:r>
            <a:r>
              <a:rPr lang="en-US" dirty="0" smtClean="0"/>
              <a:t>0004</a:t>
            </a:r>
          </a:p>
          <a:p>
            <a:r>
              <a:rPr lang="en-US" dirty="0" err="1"/>
              <a:t>mov</a:t>
            </a:r>
            <a:r>
              <a:rPr lang="en-US" dirty="0"/>
              <a:t> </a:t>
            </a:r>
            <a:r>
              <a:rPr lang="en-US" dirty="0" smtClean="0"/>
              <a:t>day, Y;                </a:t>
            </a:r>
            <a:r>
              <a:rPr lang="en-US" b="1" dirty="0" smtClean="0">
                <a:solidFill>
                  <a:srgbClr val="FF0000"/>
                </a:solidFill>
              </a:rPr>
              <a:t>          Y </a:t>
            </a:r>
            <a:r>
              <a:rPr lang="en-US" b="1" dirty="0">
                <a:solidFill>
                  <a:srgbClr val="FF0000"/>
                </a:solidFill>
              </a:rPr>
              <a:t>= …………….</a:t>
            </a:r>
            <a:r>
              <a:rPr lang="en-US" b="1" dirty="0" smtClean="0">
                <a:solidFill>
                  <a:srgbClr val="FF0000"/>
                </a:solidFill>
              </a:rPr>
              <a:t>0000_0000_0000_1111</a:t>
            </a:r>
            <a:r>
              <a:rPr lang="en-US" dirty="0" smtClean="0"/>
              <a:t> </a:t>
            </a:r>
            <a:r>
              <a:rPr lang="en-US" dirty="0"/>
              <a:t>= </a:t>
            </a:r>
            <a:r>
              <a:rPr lang="en-US" dirty="0" smtClean="0"/>
              <a:t>000F</a:t>
            </a:r>
          </a:p>
          <a:p>
            <a:r>
              <a:rPr lang="en-US" dirty="0" err="1"/>
              <a:t>mov</a:t>
            </a:r>
            <a:r>
              <a:rPr lang="en-US" dirty="0"/>
              <a:t> </a:t>
            </a:r>
            <a:r>
              <a:rPr lang="en-US" dirty="0" smtClean="0"/>
              <a:t>year, Z;                </a:t>
            </a:r>
            <a:r>
              <a:rPr lang="en-US" b="1" dirty="0" smtClean="0">
                <a:solidFill>
                  <a:srgbClr val="FF0000"/>
                </a:solidFill>
              </a:rPr>
              <a:t>         Z </a:t>
            </a:r>
            <a:r>
              <a:rPr lang="en-US" b="1" dirty="0">
                <a:solidFill>
                  <a:srgbClr val="FF0000"/>
                </a:solidFill>
              </a:rPr>
              <a:t>= …………….</a:t>
            </a:r>
            <a:r>
              <a:rPr lang="en-US" b="1" dirty="0" smtClean="0">
                <a:solidFill>
                  <a:srgbClr val="FF0000"/>
                </a:solidFill>
              </a:rPr>
              <a:t>0000_0000_0110_0011</a:t>
            </a:r>
            <a:r>
              <a:rPr lang="en-US" dirty="0" smtClean="0"/>
              <a:t> </a:t>
            </a:r>
            <a:r>
              <a:rPr lang="en-US" dirty="0"/>
              <a:t>= </a:t>
            </a:r>
            <a:r>
              <a:rPr lang="en-US" dirty="0" smtClean="0"/>
              <a:t>0063</a:t>
            </a:r>
          </a:p>
          <a:p>
            <a:endParaRPr lang="en-US" dirty="0" smtClean="0"/>
          </a:p>
          <a:p>
            <a:r>
              <a:rPr lang="en-US" b="1" dirty="0" err="1" smtClean="0">
                <a:solidFill>
                  <a:srgbClr val="C00000"/>
                </a:solidFill>
              </a:rPr>
              <a:t>mov</a:t>
            </a:r>
            <a:r>
              <a:rPr lang="en-US" b="1" dirty="0" smtClean="0">
                <a:solidFill>
                  <a:srgbClr val="C00000"/>
                </a:solidFill>
              </a:rPr>
              <a:t> EBX, 0</a:t>
            </a:r>
            <a:r>
              <a:rPr lang="en-US" dirty="0" smtClean="0"/>
              <a:t>	</a:t>
            </a:r>
            <a:r>
              <a:rPr lang="en-US" dirty="0"/>
              <a:t> </a:t>
            </a:r>
            <a:r>
              <a:rPr lang="en-US" dirty="0" smtClean="0"/>
              <a:t>      </a:t>
            </a:r>
            <a:r>
              <a:rPr lang="en-US" b="1" dirty="0" smtClean="0">
                <a:solidFill>
                  <a:srgbClr val="C00000"/>
                </a:solidFill>
              </a:rPr>
              <a:t>EBX </a:t>
            </a:r>
            <a:r>
              <a:rPr lang="en-US" b="1" dirty="0">
                <a:solidFill>
                  <a:srgbClr val="C00000"/>
                </a:solidFill>
              </a:rPr>
              <a:t>= </a:t>
            </a:r>
            <a:r>
              <a:rPr lang="en-US" b="1" dirty="0" smtClean="0">
                <a:solidFill>
                  <a:srgbClr val="C00000"/>
                </a:solidFill>
              </a:rPr>
              <a:t>…………….0000_0000_0000_0000</a:t>
            </a:r>
            <a:r>
              <a:rPr lang="en-US" dirty="0" smtClean="0"/>
              <a:t> = 0000 </a:t>
            </a:r>
          </a:p>
          <a:p>
            <a:r>
              <a:rPr lang="en-US" dirty="0" err="1" smtClean="0"/>
              <a:t>mov</a:t>
            </a:r>
            <a:r>
              <a:rPr lang="en-US" dirty="0" smtClean="0"/>
              <a:t> </a:t>
            </a:r>
            <a:r>
              <a:rPr lang="en-US" dirty="0"/>
              <a:t>BL, month</a:t>
            </a:r>
            <a:r>
              <a:rPr lang="en-US" dirty="0" smtClean="0"/>
              <a:t>;              </a:t>
            </a:r>
            <a:r>
              <a:rPr lang="en-US" b="1" dirty="0" smtClean="0">
                <a:solidFill>
                  <a:srgbClr val="FF0000"/>
                </a:solidFill>
              </a:rPr>
              <a:t>EBX = …………….0000_0000_0000_0100</a:t>
            </a:r>
            <a:r>
              <a:rPr lang="en-US" dirty="0" smtClean="0"/>
              <a:t> = 0004		</a:t>
            </a:r>
            <a:endParaRPr lang="en-US" dirty="0"/>
          </a:p>
          <a:p>
            <a:r>
              <a:rPr lang="en-US" dirty="0" err="1"/>
              <a:t>shl</a:t>
            </a:r>
            <a:r>
              <a:rPr lang="en-US" dirty="0"/>
              <a:t> BX, 5</a:t>
            </a:r>
            <a:r>
              <a:rPr lang="en-US" dirty="0" smtClean="0"/>
              <a:t>;	</a:t>
            </a:r>
            <a:r>
              <a:rPr lang="en-US" dirty="0"/>
              <a:t> </a:t>
            </a:r>
            <a:r>
              <a:rPr lang="en-US" dirty="0" smtClean="0"/>
              <a:t>                        EBX </a:t>
            </a:r>
            <a:r>
              <a:rPr lang="en-US" dirty="0"/>
              <a:t>= …………….</a:t>
            </a:r>
            <a:r>
              <a:rPr lang="en-US" dirty="0" smtClean="0"/>
              <a:t>0000_0000_1000_0000 = 0080</a:t>
            </a:r>
          </a:p>
          <a:p>
            <a:r>
              <a:rPr lang="en-US" b="1" dirty="0" err="1">
                <a:solidFill>
                  <a:srgbClr val="0070C0"/>
                </a:solidFill>
              </a:rPr>
              <a:t>mov</a:t>
            </a:r>
            <a:r>
              <a:rPr lang="en-US" b="1" dirty="0">
                <a:solidFill>
                  <a:srgbClr val="0070C0"/>
                </a:solidFill>
              </a:rPr>
              <a:t> day, Y; </a:t>
            </a:r>
            <a:r>
              <a:rPr lang="en-US" dirty="0"/>
              <a:t>               </a:t>
            </a:r>
            <a:r>
              <a:rPr lang="en-US" b="1" dirty="0">
                <a:solidFill>
                  <a:srgbClr val="FF0000"/>
                </a:solidFill>
              </a:rPr>
              <a:t>          </a:t>
            </a:r>
            <a:r>
              <a:rPr lang="en-US" b="1" dirty="0" smtClean="0">
                <a:solidFill>
                  <a:srgbClr val="FF0000"/>
                </a:solidFill>
              </a:rPr>
              <a:t>Y </a:t>
            </a:r>
            <a:r>
              <a:rPr lang="en-US" b="1" dirty="0">
                <a:solidFill>
                  <a:srgbClr val="FF0000"/>
                </a:solidFill>
              </a:rPr>
              <a:t>= …………….0000_0000_0000_1111</a:t>
            </a:r>
            <a:r>
              <a:rPr lang="en-US" dirty="0"/>
              <a:t> = 000F </a:t>
            </a:r>
            <a:r>
              <a:rPr lang="en-US" dirty="0" smtClean="0"/>
              <a:t>		</a:t>
            </a:r>
            <a:endParaRPr lang="en-US" dirty="0"/>
          </a:p>
          <a:p>
            <a:r>
              <a:rPr lang="en-US" dirty="0"/>
              <a:t>or BL, day; </a:t>
            </a:r>
            <a:r>
              <a:rPr lang="en-US" dirty="0" smtClean="0"/>
              <a:t>                       </a:t>
            </a:r>
            <a:r>
              <a:rPr lang="en-US" b="1" dirty="0" smtClean="0">
                <a:solidFill>
                  <a:srgbClr val="FF0000"/>
                </a:solidFill>
              </a:rPr>
              <a:t>EBX </a:t>
            </a:r>
            <a:r>
              <a:rPr lang="en-US" b="1" dirty="0">
                <a:solidFill>
                  <a:srgbClr val="FF0000"/>
                </a:solidFill>
              </a:rPr>
              <a:t>= …………….</a:t>
            </a:r>
            <a:r>
              <a:rPr lang="en-US" b="1" dirty="0" smtClean="0">
                <a:solidFill>
                  <a:srgbClr val="FF0000"/>
                </a:solidFill>
              </a:rPr>
              <a:t>0000_0000_1000_1111</a:t>
            </a:r>
            <a:r>
              <a:rPr lang="en-US" dirty="0" smtClean="0"/>
              <a:t>= 008F 	</a:t>
            </a:r>
            <a:endParaRPr lang="en-US" dirty="0"/>
          </a:p>
          <a:p>
            <a:r>
              <a:rPr lang="en-US" dirty="0" err="1"/>
              <a:t>shl</a:t>
            </a:r>
            <a:r>
              <a:rPr lang="en-US" dirty="0"/>
              <a:t> BX, 7</a:t>
            </a:r>
            <a:r>
              <a:rPr lang="en-US" dirty="0" smtClean="0"/>
              <a:t>;	</a:t>
            </a:r>
            <a:r>
              <a:rPr lang="en-US" dirty="0"/>
              <a:t> </a:t>
            </a:r>
            <a:r>
              <a:rPr lang="en-US" dirty="0" smtClean="0"/>
              <a:t>                        EBX </a:t>
            </a:r>
            <a:r>
              <a:rPr lang="en-US" dirty="0"/>
              <a:t>= </a:t>
            </a:r>
            <a:r>
              <a:rPr lang="en-US" dirty="0" smtClean="0"/>
              <a:t>……………..0100_0111_1000_0000 = 4780</a:t>
            </a:r>
          </a:p>
          <a:p>
            <a:r>
              <a:rPr lang="en-US" b="1" dirty="0" err="1">
                <a:solidFill>
                  <a:srgbClr val="0070C0"/>
                </a:solidFill>
              </a:rPr>
              <a:t>mov</a:t>
            </a:r>
            <a:r>
              <a:rPr lang="en-US" b="1" dirty="0">
                <a:solidFill>
                  <a:srgbClr val="0070C0"/>
                </a:solidFill>
              </a:rPr>
              <a:t> year, Z; </a:t>
            </a:r>
            <a:r>
              <a:rPr lang="en-US" dirty="0"/>
              <a:t>               </a:t>
            </a:r>
            <a:r>
              <a:rPr lang="en-US" b="1" dirty="0">
                <a:solidFill>
                  <a:srgbClr val="FF0000"/>
                </a:solidFill>
              </a:rPr>
              <a:t>       </a:t>
            </a:r>
            <a:r>
              <a:rPr lang="en-US" b="1" dirty="0" smtClean="0">
                <a:solidFill>
                  <a:srgbClr val="FF0000"/>
                </a:solidFill>
              </a:rPr>
              <a:t>   </a:t>
            </a:r>
            <a:r>
              <a:rPr lang="en-US" b="1" dirty="0">
                <a:solidFill>
                  <a:srgbClr val="FF0000"/>
                </a:solidFill>
              </a:rPr>
              <a:t>Z = </a:t>
            </a:r>
            <a:r>
              <a:rPr lang="en-US" b="1" dirty="0" smtClean="0">
                <a:solidFill>
                  <a:srgbClr val="FF0000"/>
                </a:solidFill>
              </a:rPr>
              <a:t>…………...</a:t>
            </a:r>
            <a:r>
              <a:rPr lang="en-US" b="1" dirty="0">
                <a:solidFill>
                  <a:srgbClr val="FF0000"/>
                </a:solidFill>
              </a:rPr>
              <a:t>0000_0000_0110_0011</a:t>
            </a:r>
            <a:r>
              <a:rPr lang="en-US" dirty="0"/>
              <a:t> = 0063 </a:t>
            </a:r>
            <a:r>
              <a:rPr lang="en-US" dirty="0" smtClean="0"/>
              <a:t>		</a:t>
            </a:r>
          </a:p>
          <a:p>
            <a:r>
              <a:rPr lang="en-US" dirty="0" smtClean="0"/>
              <a:t>or BL, </a:t>
            </a:r>
            <a:r>
              <a:rPr lang="en-US" dirty="0"/>
              <a:t>year; </a:t>
            </a:r>
            <a:r>
              <a:rPr lang="en-US" dirty="0" smtClean="0"/>
              <a:t>                     </a:t>
            </a:r>
            <a:r>
              <a:rPr lang="en-US" b="1" dirty="0" smtClean="0">
                <a:solidFill>
                  <a:srgbClr val="FF0000"/>
                </a:solidFill>
              </a:rPr>
              <a:t>EBX </a:t>
            </a:r>
            <a:r>
              <a:rPr lang="en-US" b="1" dirty="0">
                <a:solidFill>
                  <a:srgbClr val="FF0000"/>
                </a:solidFill>
              </a:rPr>
              <a:t>= …………….</a:t>
            </a:r>
            <a:r>
              <a:rPr lang="en-US" b="1" dirty="0" smtClean="0">
                <a:solidFill>
                  <a:srgbClr val="FF0000"/>
                </a:solidFill>
              </a:rPr>
              <a:t>0100_0111_1110_0011</a:t>
            </a:r>
            <a:r>
              <a:rPr lang="en-US" b="1" dirty="0" smtClean="0">
                <a:solidFill>
                  <a:srgbClr val="C00000"/>
                </a:solidFill>
              </a:rPr>
              <a:t> </a:t>
            </a:r>
            <a:r>
              <a:rPr lang="en-US" dirty="0" smtClean="0"/>
              <a:t>= 47E3		</a:t>
            </a:r>
          </a:p>
          <a:p>
            <a:r>
              <a:rPr lang="en-US" dirty="0" err="1" smtClean="0"/>
              <a:t>mov</a:t>
            </a:r>
            <a:r>
              <a:rPr lang="en-US" dirty="0" smtClean="0"/>
              <a:t> </a:t>
            </a:r>
            <a:r>
              <a:rPr lang="en-US" dirty="0" err="1" smtClean="0"/>
              <a:t>packedDate</a:t>
            </a:r>
            <a:r>
              <a:rPr lang="en-US" dirty="0" smtClean="0"/>
              <a:t>, </a:t>
            </a:r>
            <a:r>
              <a:rPr lang="en-US" dirty="0"/>
              <a:t>BX; </a:t>
            </a:r>
            <a:r>
              <a:rPr lang="en-US" dirty="0" smtClean="0"/>
              <a:t>    </a:t>
            </a:r>
            <a:r>
              <a:rPr lang="en-US" b="1" dirty="0" smtClean="0">
                <a:solidFill>
                  <a:srgbClr val="00B050"/>
                </a:solidFill>
              </a:rPr>
              <a:t>EBX </a:t>
            </a:r>
            <a:r>
              <a:rPr lang="en-US" b="1" dirty="0">
                <a:solidFill>
                  <a:srgbClr val="00B050"/>
                </a:solidFill>
              </a:rPr>
              <a:t>= …………….</a:t>
            </a:r>
            <a:r>
              <a:rPr lang="en-US" b="1" dirty="0" smtClean="0">
                <a:solidFill>
                  <a:srgbClr val="00B050"/>
                </a:solidFill>
              </a:rPr>
              <a:t>0100_0111_1110_0011 </a:t>
            </a:r>
            <a:r>
              <a:rPr lang="en-US" b="1" dirty="0">
                <a:solidFill>
                  <a:srgbClr val="00B050"/>
                </a:solidFill>
              </a:rPr>
              <a:t>= 47E3</a:t>
            </a:r>
            <a:r>
              <a:rPr lang="en-US" dirty="0"/>
              <a:t> </a:t>
            </a:r>
            <a:r>
              <a:rPr lang="en-US" dirty="0" smtClean="0"/>
              <a:t>		.</a:t>
            </a:r>
          </a:p>
          <a:p>
            <a:r>
              <a:rPr lang="en-US" dirty="0" smtClean="0"/>
              <a:t>}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2363191" y="2895600"/>
            <a:ext cx="3809010" cy="552450"/>
          </a:xfrm>
          <a:prstGeom prst="rect">
            <a:avLst/>
          </a:prstGeom>
          <a:solidFill>
            <a:schemeClr val="accent1">
              <a:alpha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2363191" y="3695700"/>
            <a:ext cx="3809010" cy="571500"/>
          </a:xfrm>
          <a:prstGeom prst="rect">
            <a:avLst/>
          </a:prstGeom>
          <a:solidFill>
            <a:schemeClr val="accent1">
              <a:alpha val="19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0175" y="5029200"/>
            <a:ext cx="6343650" cy="173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7"/>
          <p:cNvSpPr/>
          <p:nvPr/>
        </p:nvSpPr>
        <p:spPr>
          <a:xfrm>
            <a:off x="838200" y="0"/>
            <a:ext cx="735637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LABORATORY No 9 EXAMPLE 9.1 FOR 16-BIT  MOTH, DAY, YEAR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68842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27709" y="0"/>
            <a:ext cx="9199418" cy="374073"/>
          </a:xfrm>
        </p:spPr>
        <p:txBody>
          <a:bodyPr>
            <a:noAutofit/>
          </a:bodyPr>
          <a:lstStyle/>
          <a:p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21920" y="373082"/>
            <a:ext cx="874776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dirty="0" smtClean="0">
                <a:solidFill>
                  <a:srgbClr val="C00000"/>
                </a:solidFill>
              </a:rPr>
              <a:t>UNPACKING </a:t>
            </a:r>
            <a:r>
              <a:rPr lang="en-US" b="1" dirty="0">
                <a:solidFill>
                  <a:srgbClr val="C00000"/>
                </a:solidFill>
              </a:rPr>
              <a:t>THE INFORMATION FOR </a:t>
            </a:r>
            <a:r>
              <a:rPr lang="en-US" b="1" dirty="0" smtClean="0">
                <a:solidFill>
                  <a:srgbClr val="C00000"/>
                </a:solidFill>
              </a:rPr>
              <a:t>A DATE AS </a:t>
            </a:r>
            <a:r>
              <a:rPr lang="en-US" b="1" dirty="0">
                <a:solidFill>
                  <a:srgbClr val="C00000"/>
                </a:solidFill>
              </a:rPr>
              <a:t>4/15/99 </a:t>
            </a:r>
            <a:endParaRPr lang="en-US" b="1" dirty="0" smtClean="0">
              <a:solidFill>
                <a:srgbClr val="C00000"/>
              </a:solidFill>
            </a:endParaRPr>
          </a:p>
          <a:p>
            <a:r>
              <a:rPr lang="en-US" dirty="0" smtClean="0"/>
              <a:t>_</a:t>
            </a:r>
            <a:r>
              <a:rPr lang="en-US" dirty="0" err="1"/>
              <a:t>asm</a:t>
            </a:r>
            <a:endParaRPr lang="en-US" dirty="0"/>
          </a:p>
          <a:p>
            <a:r>
              <a:rPr lang="en-US" dirty="0" smtClean="0"/>
              <a:t>{</a:t>
            </a:r>
          </a:p>
          <a:p>
            <a:r>
              <a:rPr lang="en-US" b="1" dirty="0" err="1">
                <a:solidFill>
                  <a:srgbClr val="C00000"/>
                </a:solidFill>
              </a:rPr>
              <a:t>mov</a:t>
            </a:r>
            <a:r>
              <a:rPr lang="en-US" b="1" dirty="0">
                <a:solidFill>
                  <a:srgbClr val="C00000"/>
                </a:solidFill>
              </a:rPr>
              <a:t> </a:t>
            </a:r>
            <a:r>
              <a:rPr lang="en-US" b="1" dirty="0" smtClean="0">
                <a:solidFill>
                  <a:srgbClr val="C00000"/>
                </a:solidFill>
              </a:rPr>
              <a:t>EAX</a:t>
            </a:r>
            <a:r>
              <a:rPr lang="en-US" b="1" dirty="0">
                <a:solidFill>
                  <a:srgbClr val="C00000"/>
                </a:solidFill>
              </a:rPr>
              <a:t>, 0 </a:t>
            </a:r>
            <a:r>
              <a:rPr lang="en-US" dirty="0"/>
              <a:t>		</a:t>
            </a:r>
            <a:r>
              <a:rPr lang="en-US" dirty="0" smtClean="0"/>
              <a:t>//</a:t>
            </a:r>
            <a:r>
              <a:rPr lang="en-US" dirty="0"/>
              <a:t>To initialize 32-bit EAX register to zero</a:t>
            </a:r>
          </a:p>
          <a:p>
            <a:r>
              <a:rPr lang="en-US" dirty="0" err="1"/>
              <a:t>mov</a:t>
            </a:r>
            <a:r>
              <a:rPr lang="en-US" dirty="0"/>
              <a:t> AX, </a:t>
            </a:r>
            <a:r>
              <a:rPr lang="en-US" dirty="0" err="1"/>
              <a:t>packedDate</a:t>
            </a:r>
            <a:r>
              <a:rPr lang="en-US" dirty="0" smtClean="0"/>
              <a:t>;	//loads </a:t>
            </a:r>
            <a:r>
              <a:rPr lang="en-US" dirty="0" err="1" smtClean="0"/>
              <a:t>packedDate</a:t>
            </a:r>
            <a:r>
              <a:rPr lang="en-US" dirty="0" smtClean="0"/>
              <a:t> </a:t>
            </a:r>
            <a:r>
              <a:rPr lang="en-US" dirty="0"/>
              <a:t>into 16-bit </a:t>
            </a:r>
            <a:r>
              <a:rPr lang="en-US" dirty="0" smtClean="0"/>
              <a:t>AX register</a:t>
            </a:r>
            <a:endParaRPr lang="en-US" dirty="0"/>
          </a:p>
          <a:p>
            <a:r>
              <a:rPr lang="en-US" dirty="0"/>
              <a:t>and AX, </a:t>
            </a:r>
            <a:r>
              <a:rPr lang="en-US" b="1" dirty="0"/>
              <a:t>0xf000</a:t>
            </a:r>
            <a:r>
              <a:rPr lang="en-US" dirty="0" smtClean="0"/>
              <a:t>;		//</a:t>
            </a:r>
            <a:r>
              <a:rPr lang="en-US" dirty="0"/>
              <a:t>perform AND logic operation with variable </a:t>
            </a:r>
            <a:r>
              <a:rPr lang="en-US" b="1" dirty="0"/>
              <a:t>0xf000</a:t>
            </a:r>
            <a:r>
              <a:rPr lang="en-US" dirty="0"/>
              <a:t> and AX</a:t>
            </a:r>
          </a:p>
          <a:p>
            <a:r>
              <a:rPr lang="en-US" dirty="0" err="1"/>
              <a:t>rol</a:t>
            </a:r>
            <a:r>
              <a:rPr lang="en-US" dirty="0"/>
              <a:t> AX, 4</a:t>
            </a:r>
            <a:r>
              <a:rPr lang="en-US" dirty="0" smtClean="0"/>
              <a:t>;			//</a:t>
            </a:r>
            <a:r>
              <a:rPr lang="en-US" dirty="0"/>
              <a:t>rotates the value in </a:t>
            </a:r>
            <a:r>
              <a:rPr lang="en-US" dirty="0" smtClean="0"/>
              <a:t>16-bit AX </a:t>
            </a:r>
            <a:r>
              <a:rPr lang="en-US" dirty="0"/>
              <a:t>r</a:t>
            </a:r>
            <a:r>
              <a:rPr lang="en-US" dirty="0" smtClean="0"/>
              <a:t>egister 4 </a:t>
            </a:r>
            <a:r>
              <a:rPr lang="en-US" dirty="0"/>
              <a:t>times to the left</a:t>
            </a:r>
          </a:p>
          <a:p>
            <a:r>
              <a:rPr lang="en-US" dirty="0" err="1"/>
              <a:t>mov</a:t>
            </a:r>
            <a:r>
              <a:rPr lang="en-US" dirty="0"/>
              <a:t> months, AL</a:t>
            </a:r>
            <a:r>
              <a:rPr lang="en-US" dirty="0" smtClean="0"/>
              <a:t>;		//loads 8-bit AL register </a:t>
            </a:r>
            <a:r>
              <a:rPr lang="en-US" dirty="0"/>
              <a:t>to memory variable months</a:t>
            </a:r>
          </a:p>
          <a:p>
            <a:r>
              <a:rPr lang="en-US" dirty="0" err="1"/>
              <a:t>mov</a:t>
            </a:r>
            <a:r>
              <a:rPr lang="en-US" dirty="0"/>
              <a:t> AX, </a:t>
            </a:r>
            <a:r>
              <a:rPr lang="en-US" dirty="0" err="1"/>
              <a:t>packedDate</a:t>
            </a:r>
            <a:r>
              <a:rPr lang="en-US" dirty="0" smtClean="0"/>
              <a:t>;	//loads </a:t>
            </a:r>
            <a:r>
              <a:rPr lang="en-US" dirty="0" err="1" smtClean="0"/>
              <a:t>packedDate</a:t>
            </a:r>
            <a:r>
              <a:rPr lang="en-US" dirty="0" smtClean="0"/>
              <a:t> </a:t>
            </a:r>
            <a:r>
              <a:rPr lang="en-US" dirty="0"/>
              <a:t>into </a:t>
            </a:r>
            <a:r>
              <a:rPr lang="en-US" dirty="0" smtClean="0"/>
              <a:t>16-bit AX register</a:t>
            </a:r>
            <a:endParaRPr lang="en-US" dirty="0"/>
          </a:p>
          <a:p>
            <a:r>
              <a:rPr lang="en-US" dirty="0"/>
              <a:t>and AX, </a:t>
            </a:r>
            <a:r>
              <a:rPr lang="en-US" b="1" dirty="0"/>
              <a:t>0x0f80</a:t>
            </a:r>
            <a:r>
              <a:rPr lang="en-US" dirty="0" smtClean="0"/>
              <a:t>;		//</a:t>
            </a:r>
            <a:r>
              <a:rPr lang="en-US" dirty="0"/>
              <a:t>perform AND logic operation with variable</a:t>
            </a:r>
            <a:r>
              <a:rPr lang="en-US" b="1" dirty="0"/>
              <a:t> 0x0f80</a:t>
            </a:r>
            <a:r>
              <a:rPr lang="en-US" dirty="0"/>
              <a:t> and AX</a:t>
            </a:r>
          </a:p>
          <a:p>
            <a:r>
              <a:rPr lang="en-US" dirty="0" err="1"/>
              <a:t>ror</a:t>
            </a:r>
            <a:r>
              <a:rPr lang="en-US" dirty="0"/>
              <a:t> AX, 7</a:t>
            </a:r>
            <a:r>
              <a:rPr lang="en-US" dirty="0" smtClean="0"/>
              <a:t>;			//</a:t>
            </a:r>
            <a:r>
              <a:rPr lang="en-US" dirty="0"/>
              <a:t>rotates the value in 16-bit </a:t>
            </a:r>
            <a:r>
              <a:rPr lang="en-US" dirty="0" smtClean="0"/>
              <a:t>AX register </a:t>
            </a:r>
            <a:r>
              <a:rPr lang="en-US" dirty="0"/>
              <a:t>7 times to the left</a:t>
            </a:r>
          </a:p>
          <a:p>
            <a:r>
              <a:rPr lang="en-US" dirty="0" err="1"/>
              <a:t>mov</a:t>
            </a:r>
            <a:r>
              <a:rPr lang="en-US" dirty="0"/>
              <a:t> days, AL</a:t>
            </a:r>
            <a:r>
              <a:rPr lang="en-US" dirty="0" smtClean="0"/>
              <a:t>;		//loads </a:t>
            </a:r>
            <a:r>
              <a:rPr lang="en-US" dirty="0"/>
              <a:t>8-bit </a:t>
            </a:r>
            <a:r>
              <a:rPr lang="en-US" dirty="0" smtClean="0"/>
              <a:t>AL register to </a:t>
            </a:r>
            <a:r>
              <a:rPr lang="en-US" dirty="0"/>
              <a:t>memory variable days </a:t>
            </a:r>
          </a:p>
          <a:p>
            <a:r>
              <a:rPr lang="en-US" dirty="0" err="1"/>
              <a:t>mov</a:t>
            </a:r>
            <a:r>
              <a:rPr lang="en-US" dirty="0"/>
              <a:t> AX, </a:t>
            </a:r>
            <a:r>
              <a:rPr lang="en-US" dirty="0" err="1"/>
              <a:t>packedDate</a:t>
            </a:r>
            <a:r>
              <a:rPr lang="en-US" dirty="0" smtClean="0"/>
              <a:t>;	//loads </a:t>
            </a:r>
            <a:r>
              <a:rPr lang="en-US" dirty="0" err="1" smtClean="0"/>
              <a:t>packedDate</a:t>
            </a:r>
            <a:r>
              <a:rPr lang="en-US" dirty="0" smtClean="0"/>
              <a:t> </a:t>
            </a:r>
            <a:r>
              <a:rPr lang="en-US" dirty="0"/>
              <a:t>into </a:t>
            </a:r>
            <a:r>
              <a:rPr lang="en-US" dirty="0" smtClean="0"/>
              <a:t>16-bit AX </a:t>
            </a:r>
            <a:r>
              <a:rPr lang="en-US" dirty="0"/>
              <a:t>register</a:t>
            </a:r>
          </a:p>
          <a:p>
            <a:r>
              <a:rPr lang="en-US" dirty="0"/>
              <a:t>and AX,</a:t>
            </a:r>
            <a:r>
              <a:rPr lang="en-US" b="1" dirty="0"/>
              <a:t> 0x007f</a:t>
            </a:r>
            <a:r>
              <a:rPr lang="en-US" dirty="0" smtClean="0"/>
              <a:t>;		//</a:t>
            </a:r>
            <a:r>
              <a:rPr lang="en-US" dirty="0"/>
              <a:t>perform AND logic operation with variable </a:t>
            </a:r>
            <a:r>
              <a:rPr lang="en-US" b="1" dirty="0"/>
              <a:t>0x007f</a:t>
            </a:r>
            <a:r>
              <a:rPr lang="en-US" dirty="0"/>
              <a:t> and AX</a:t>
            </a:r>
          </a:p>
          <a:p>
            <a:r>
              <a:rPr lang="en-US" dirty="0" err="1"/>
              <a:t>mov</a:t>
            </a:r>
            <a:r>
              <a:rPr lang="en-US" dirty="0"/>
              <a:t> years, AL</a:t>
            </a:r>
            <a:r>
              <a:rPr lang="en-US" dirty="0" smtClean="0"/>
              <a:t>;		//loads </a:t>
            </a:r>
            <a:r>
              <a:rPr lang="en-US" dirty="0"/>
              <a:t>8-bit </a:t>
            </a:r>
            <a:r>
              <a:rPr lang="en-US" dirty="0" smtClean="0"/>
              <a:t>AL register to memory </a:t>
            </a:r>
            <a:r>
              <a:rPr lang="en-US" dirty="0"/>
              <a:t>variable </a:t>
            </a:r>
            <a:r>
              <a:rPr lang="en-US" dirty="0" smtClean="0"/>
              <a:t>years</a:t>
            </a:r>
            <a:endParaRPr lang="en-US" dirty="0"/>
          </a:p>
          <a:p>
            <a:r>
              <a:rPr lang="en-US" dirty="0"/>
              <a:t>}</a:t>
            </a: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9850" y="5041900"/>
            <a:ext cx="6464300" cy="82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/>
          <p:cNvSpPr/>
          <p:nvPr/>
        </p:nvSpPr>
        <p:spPr>
          <a:xfrm>
            <a:off x="838200" y="0"/>
            <a:ext cx="735637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LABORATORY No 9 EXAMPLE 9.1 FOR 16-BIT  MOTH, DAY, YEAR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37538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27709" y="0"/>
            <a:ext cx="9199418" cy="374073"/>
          </a:xfrm>
        </p:spPr>
        <p:txBody>
          <a:bodyPr>
            <a:noAutofit/>
          </a:bodyPr>
          <a:lstStyle/>
          <a:p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21920" y="373082"/>
            <a:ext cx="874776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dirty="0" smtClean="0">
                <a:solidFill>
                  <a:srgbClr val="C00000"/>
                </a:solidFill>
              </a:rPr>
              <a:t>UNPACKING </a:t>
            </a:r>
            <a:r>
              <a:rPr lang="en-US" b="1" dirty="0">
                <a:solidFill>
                  <a:srgbClr val="C00000"/>
                </a:solidFill>
              </a:rPr>
              <a:t>THE INFORMATION FOR DATE </a:t>
            </a:r>
            <a:r>
              <a:rPr lang="en-US" b="1" dirty="0" smtClean="0">
                <a:solidFill>
                  <a:srgbClr val="C00000"/>
                </a:solidFill>
              </a:rPr>
              <a:t>AS 4/15/99 </a:t>
            </a:r>
          </a:p>
          <a:p>
            <a:r>
              <a:rPr lang="en-US" dirty="0" smtClean="0"/>
              <a:t>_</a:t>
            </a:r>
            <a:r>
              <a:rPr lang="en-US" dirty="0" err="1"/>
              <a:t>asm</a:t>
            </a:r>
            <a:endParaRPr lang="en-US" dirty="0"/>
          </a:p>
          <a:p>
            <a:r>
              <a:rPr lang="en-US" dirty="0" smtClean="0"/>
              <a:t>{</a:t>
            </a:r>
          </a:p>
          <a:p>
            <a:r>
              <a:rPr lang="en-US" b="1" dirty="0" err="1">
                <a:solidFill>
                  <a:srgbClr val="C00000"/>
                </a:solidFill>
              </a:rPr>
              <a:t>mov</a:t>
            </a:r>
            <a:r>
              <a:rPr lang="en-US" b="1" dirty="0">
                <a:solidFill>
                  <a:srgbClr val="C00000"/>
                </a:solidFill>
              </a:rPr>
              <a:t> </a:t>
            </a:r>
            <a:r>
              <a:rPr lang="en-US" b="1" dirty="0" smtClean="0">
                <a:solidFill>
                  <a:srgbClr val="C00000"/>
                </a:solidFill>
              </a:rPr>
              <a:t>EAX</a:t>
            </a:r>
            <a:r>
              <a:rPr lang="en-US" b="1" dirty="0">
                <a:solidFill>
                  <a:srgbClr val="C00000"/>
                </a:solidFill>
              </a:rPr>
              <a:t>, 0 </a:t>
            </a:r>
            <a:r>
              <a:rPr lang="en-US" dirty="0" smtClean="0"/>
              <a:t>		</a:t>
            </a:r>
            <a:r>
              <a:rPr lang="en-US" b="1" dirty="0" smtClean="0">
                <a:solidFill>
                  <a:srgbClr val="C00000"/>
                </a:solidFill>
              </a:rPr>
              <a:t> EAX </a:t>
            </a:r>
            <a:r>
              <a:rPr lang="en-US" b="1" dirty="0">
                <a:solidFill>
                  <a:srgbClr val="C00000"/>
                </a:solidFill>
              </a:rPr>
              <a:t>= </a:t>
            </a:r>
            <a:r>
              <a:rPr lang="en-US" b="1" dirty="0" smtClean="0">
                <a:solidFill>
                  <a:srgbClr val="C00000"/>
                </a:solidFill>
              </a:rPr>
              <a:t>…………….0000_0000_0000_0000 </a:t>
            </a:r>
            <a:r>
              <a:rPr lang="en-US" dirty="0"/>
              <a:t>	</a:t>
            </a:r>
          </a:p>
          <a:p>
            <a:r>
              <a:rPr lang="en-US" dirty="0" err="1"/>
              <a:t>mov</a:t>
            </a:r>
            <a:r>
              <a:rPr lang="en-US" dirty="0"/>
              <a:t> AX, </a:t>
            </a:r>
            <a:r>
              <a:rPr lang="en-US" dirty="0" err="1"/>
              <a:t>packedDate</a:t>
            </a:r>
            <a:r>
              <a:rPr lang="en-US" dirty="0" smtClean="0"/>
              <a:t>;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smtClean="0">
                <a:solidFill>
                  <a:srgbClr val="FF0000"/>
                </a:solidFill>
              </a:rPr>
              <a:t>               EAX </a:t>
            </a:r>
            <a:r>
              <a:rPr lang="en-US" b="1" dirty="0">
                <a:solidFill>
                  <a:srgbClr val="FF0000"/>
                </a:solidFill>
              </a:rPr>
              <a:t>= …………….0100_0111_1110_0111</a:t>
            </a:r>
            <a:r>
              <a:rPr lang="en-US" b="1" dirty="0">
                <a:solidFill>
                  <a:srgbClr val="C00000"/>
                </a:solidFill>
              </a:rPr>
              <a:t> </a:t>
            </a:r>
            <a:r>
              <a:rPr lang="en-US" b="1" dirty="0"/>
              <a:t>= 47E3</a:t>
            </a:r>
            <a:r>
              <a:rPr lang="en-US" dirty="0"/>
              <a:t> </a:t>
            </a:r>
            <a:r>
              <a:rPr lang="en-US" dirty="0" smtClean="0"/>
              <a:t>	</a:t>
            </a:r>
            <a:endParaRPr lang="en-US" dirty="0"/>
          </a:p>
          <a:p>
            <a:r>
              <a:rPr lang="en-US" dirty="0"/>
              <a:t>and AX,</a:t>
            </a:r>
            <a:r>
              <a:rPr lang="en-US" b="1" dirty="0"/>
              <a:t> 0xf000</a:t>
            </a:r>
            <a:r>
              <a:rPr lang="en-US" dirty="0" smtClean="0"/>
              <a:t>;	</a:t>
            </a:r>
            <a:r>
              <a:rPr lang="en-US" dirty="0"/>
              <a:t> </a:t>
            </a:r>
            <a:r>
              <a:rPr lang="en-US" dirty="0" smtClean="0"/>
              <a:t>                  </a:t>
            </a:r>
            <a:r>
              <a:rPr lang="en-US" b="1" dirty="0" smtClean="0"/>
              <a:t>EAX </a:t>
            </a:r>
            <a:r>
              <a:rPr lang="en-US" b="1" dirty="0"/>
              <a:t>= …………….</a:t>
            </a:r>
            <a:r>
              <a:rPr lang="en-US" b="1" dirty="0" smtClean="0"/>
              <a:t>0100_0000_0000_0000 </a:t>
            </a:r>
            <a:r>
              <a:rPr lang="en-US" b="1" dirty="0"/>
              <a:t>= </a:t>
            </a:r>
            <a:r>
              <a:rPr lang="en-US" b="1" dirty="0" smtClean="0"/>
              <a:t>4000</a:t>
            </a:r>
            <a:r>
              <a:rPr lang="en-US" dirty="0" smtClean="0"/>
              <a:t> </a:t>
            </a:r>
            <a:r>
              <a:rPr lang="en-US" b="1" dirty="0" smtClean="0"/>
              <a:t>AND CLEAR</a:t>
            </a:r>
            <a:endParaRPr lang="en-US" b="1" dirty="0"/>
          </a:p>
          <a:p>
            <a:r>
              <a:rPr lang="en-US" dirty="0" err="1"/>
              <a:t>rol</a:t>
            </a:r>
            <a:r>
              <a:rPr lang="en-US" dirty="0"/>
              <a:t> AX, 4</a:t>
            </a:r>
            <a:r>
              <a:rPr lang="en-US" dirty="0" smtClean="0"/>
              <a:t>;			</a:t>
            </a:r>
            <a:r>
              <a:rPr lang="en-US" b="1" dirty="0">
                <a:solidFill>
                  <a:srgbClr val="FF0000"/>
                </a:solidFill>
              </a:rPr>
              <a:t> EAX = …………….</a:t>
            </a:r>
            <a:r>
              <a:rPr lang="en-US" b="1" dirty="0" smtClean="0">
                <a:solidFill>
                  <a:srgbClr val="FF0000"/>
                </a:solidFill>
              </a:rPr>
              <a:t>0000_0000_0000_0100</a:t>
            </a:r>
            <a:r>
              <a:rPr lang="en-US" b="1" dirty="0" smtClean="0">
                <a:solidFill>
                  <a:srgbClr val="C00000"/>
                </a:solidFill>
              </a:rPr>
              <a:t> </a:t>
            </a:r>
            <a:r>
              <a:rPr lang="en-US" b="1" dirty="0"/>
              <a:t>= </a:t>
            </a:r>
            <a:r>
              <a:rPr lang="en-US" b="1" dirty="0" smtClean="0"/>
              <a:t>0004</a:t>
            </a:r>
            <a:endParaRPr lang="en-US" dirty="0"/>
          </a:p>
          <a:p>
            <a:r>
              <a:rPr lang="en-US" dirty="0" err="1"/>
              <a:t>mov</a:t>
            </a:r>
            <a:r>
              <a:rPr lang="en-US" dirty="0"/>
              <a:t> months, AL</a:t>
            </a:r>
            <a:r>
              <a:rPr lang="en-US" dirty="0" smtClean="0"/>
              <a:t>;		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/>
              <a:t>EAX = …………….</a:t>
            </a:r>
            <a:r>
              <a:rPr lang="en-US" b="1" dirty="0" smtClean="0"/>
              <a:t>0000_0000_0000_0100</a:t>
            </a:r>
            <a:r>
              <a:rPr lang="en-US" b="1" dirty="0" smtClean="0">
                <a:solidFill>
                  <a:srgbClr val="C00000"/>
                </a:solidFill>
              </a:rPr>
              <a:t> </a:t>
            </a:r>
            <a:r>
              <a:rPr lang="en-US" b="1" dirty="0"/>
              <a:t>= </a:t>
            </a:r>
            <a:r>
              <a:rPr lang="en-US" b="1" dirty="0" smtClean="0"/>
              <a:t>0004 = 4 MONTH</a:t>
            </a:r>
            <a:endParaRPr lang="en-US" dirty="0"/>
          </a:p>
          <a:p>
            <a:r>
              <a:rPr lang="en-US" dirty="0" err="1"/>
              <a:t>mov</a:t>
            </a:r>
            <a:r>
              <a:rPr lang="en-US" dirty="0"/>
              <a:t> AX, </a:t>
            </a:r>
            <a:r>
              <a:rPr lang="en-US" dirty="0" err="1"/>
              <a:t>packedDate</a:t>
            </a:r>
            <a:r>
              <a:rPr lang="en-US" dirty="0" smtClean="0"/>
              <a:t>;	</a:t>
            </a:r>
            <a:r>
              <a:rPr lang="en-US" dirty="0"/>
              <a:t> </a:t>
            </a:r>
            <a:r>
              <a:rPr lang="en-US" b="1" dirty="0">
                <a:solidFill>
                  <a:srgbClr val="FF0000"/>
                </a:solidFill>
              </a:rPr>
              <a:t>EAX = …………….0100_0111_1110_0111</a:t>
            </a:r>
            <a:r>
              <a:rPr lang="en-US" b="1" dirty="0">
                <a:solidFill>
                  <a:srgbClr val="C00000"/>
                </a:solidFill>
              </a:rPr>
              <a:t> </a:t>
            </a:r>
            <a:r>
              <a:rPr lang="en-US" b="1" dirty="0"/>
              <a:t>= 47E3</a:t>
            </a:r>
            <a:endParaRPr lang="en-US" dirty="0"/>
          </a:p>
          <a:p>
            <a:r>
              <a:rPr lang="en-US" dirty="0"/>
              <a:t>and AX, </a:t>
            </a:r>
            <a:r>
              <a:rPr lang="en-US" b="1" dirty="0"/>
              <a:t>0x0f80</a:t>
            </a:r>
            <a:r>
              <a:rPr lang="en-US" dirty="0" smtClean="0"/>
              <a:t>;		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/>
              <a:t>EAX = …………….</a:t>
            </a:r>
            <a:r>
              <a:rPr lang="en-US" b="1" dirty="0" smtClean="0"/>
              <a:t>0000_0111_1000_0000</a:t>
            </a:r>
            <a:r>
              <a:rPr lang="en-US" b="1" dirty="0" smtClean="0">
                <a:solidFill>
                  <a:srgbClr val="C00000"/>
                </a:solidFill>
              </a:rPr>
              <a:t> </a:t>
            </a:r>
            <a:r>
              <a:rPr lang="en-US" b="1" dirty="0"/>
              <a:t>= </a:t>
            </a:r>
            <a:r>
              <a:rPr lang="en-US" b="1" dirty="0" smtClean="0"/>
              <a:t>0780</a:t>
            </a:r>
            <a:r>
              <a:rPr lang="en-US" b="1" dirty="0"/>
              <a:t> </a:t>
            </a:r>
            <a:r>
              <a:rPr lang="en-US" b="1" dirty="0" smtClean="0"/>
              <a:t> AND </a:t>
            </a:r>
            <a:r>
              <a:rPr lang="en-US" b="1" dirty="0"/>
              <a:t>CLEAR</a:t>
            </a:r>
            <a:endParaRPr lang="en-US" dirty="0"/>
          </a:p>
          <a:p>
            <a:r>
              <a:rPr lang="en-US" dirty="0" err="1"/>
              <a:t>ror</a:t>
            </a:r>
            <a:r>
              <a:rPr lang="en-US" dirty="0"/>
              <a:t> AX, 7</a:t>
            </a:r>
            <a:r>
              <a:rPr lang="en-US" dirty="0" smtClean="0"/>
              <a:t>;			</a:t>
            </a:r>
            <a:r>
              <a:rPr lang="en-US" b="1" dirty="0"/>
              <a:t> </a:t>
            </a:r>
            <a:r>
              <a:rPr lang="en-US" b="1" dirty="0">
                <a:solidFill>
                  <a:srgbClr val="FF0000"/>
                </a:solidFill>
              </a:rPr>
              <a:t>EAX = …………….</a:t>
            </a:r>
            <a:r>
              <a:rPr lang="en-US" b="1" dirty="0" smtClean="0">
                <a:solidFill>
                  <a:srgbClr val="FF0000"/>
                </a:solidFill>
              </a:rPr>
              <a:t>0000_0000_0000_1111</a:t>
            </a:r>
            <a:r>
              <a:rPr lang="en-US" b="1" dirty="0" smtClean="0"/>
              <a:t> </a:t>
            </a:r>
            <a:r>
              <a:rPr lang="en-US" b="1" dirty="0"/>
              <a:t>= </a:t>
            </a:r>
            <a:r>
              <a:rPr lang="en-US" b="1" dirty="0" smtClean="0"/>
              <a:t>000F</a:t>
            </a:r>
            <a:endParaRPr lang="en-US" dirty="0"/>
          </a:p>
          <a:p>
            <a:r>
              <a:rPr lang="en-US" dirty="0" err="1"/>
              <a:t>mov</a:t>
            </a:r>
            <a:r>
              <a:rPr lang="en-US" dirty="0"/>
              <a:t> days, AL</a:t>
            </a:r>
            <a:r>
              <a:rPr lang="en-US" dirty="0" smtClean="0"/>
              <a:t>;		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/>
              <a:t>EAX = …………….</a:t>
            </a:r>
            <a:r>
              <a:rPr lang="en-US" b="1" dirty="0" smtClean="0"/>
              <a:t>0000_0000_0000_1111</a:t>
            </a:r>
            <a:r>
              <a:rPr lang="en-US" b="1" dirty="0" smtClean="0">
                <a:solidFill>
                  <a:srgbClr val="C00000"/>
                </a:solidFill>
              </a:rPr>
              <a:t> </a:t>
            </a:r>
            <a:r>
              <a:rPr lang="en-US" b="1" dirty="0"/>
              <a:t>= </a:t>
            </a:r>
            <a:r>
              <a:rPr lang="en-US" b="1" dirty="0" smtClean="0"/>
              <a:t>000F = 15 DAY</a:t>
            </a:r>
            <a:endParaRPr lang="en-US" dirty="0"/>
          </a:p>
          <a:p>
            <a:r>
              <a:rPr lang="en-US" dirty="0" err="1"/>
              <a:t>mov</a:t>
            </a:r>
            <a:r>
              <a:rPr lang="en-US" dirty="0"/>
              <a:t> AX, </a:t>
            </a:r>
            <a:r>
              <a:rPr lang="en-US" dirty="0" err="1"/>
              <a:t>packedDate</a:t>
            </a:r>
            <a:r>
              <a:rPr lang="en-US" dirty="0" smtClean="0"/>
              <a:t>;	</a:t>
            </a:r>
            <a:r>
              <a:rPr lang="en-US" b="1" dirty="0"/>
              <a:t> </a:t>
            </a:r>
            <a:r>
              <a:rPr lang="en-US" b="1" dirty="0">
                <a:solidFill>
                  <a:srgbClr val="FF0000"/>
                </a:solidFill>
              </a:rPr>
              <a:t>EAX = …………….0100_0111_1110_0111</a:t>
            </a:r>
            <a:r>
              <a:rPr lang="en-US" b="1" dirty="0">
                <a:solidFill>
                  <a:srgbClr val="C00000"/>
                </a:solidFill>
              </a:rPr>
              <a:t> </a:t>
            </a:r>
            <a:r>
              <a:rPr lang="en-US" b="1" dirty="0"/>
              <a:t>= 47E3</a:t>
            </a:r>
            <a:endParaRPr lang="en-US" dirty="0"/>
          </a:p>
          <a:p>
            <a:r>
              <a:rPr lang="en-US" dirty="0"/>
              <a:t>and AX, </a:t>
            </a:r>
            <a:r>
              <a:rPr lang="en-US" b="1" dirty="0"/>
              <a:t>0x007f</a:t>
            </a:r>
            <a:r>
              <a:rPr lang="en-US" dirty="0" smtClean="0"/>
              <a:t>;		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/>
              <a:t>EAX = …………….</a:t>
            </a:r>
            <a:r>
              <a:rPr lang="en-US" b="1" dirty="0" smtClean="0"/>
              <a:t>0000_0000_0110_0011</a:t>
            </a:r>
            <a:r>
              <a:rPr lang="en-US" b="1" dirty="0" smtClean="0">
                <a:solidFill>
                  <a:srgbClr val="C00000"/>
                </a:solidFill>
              </a:rPr>
              <a:t> </a:t>
            </a:r>
            <a:r>
              <a:rPr lang="en-US" b="1" dirty="0"/>
              <a:t>= </a:t>
            </a:r>
            <a:r>
              <a:rPr lang="en-US" b="1" dirty="0" smtClean="0"/>
              <a:t>0063</a:t>
            </a:r>
            <a:endParaRPr lang="en-US" dirty="0"/>
          </a:p>
          <a:p>
            <a:r>
              <a:rPr lang="en-US" dirty="0" err="1"/>
              <a:t>mov</a:t>
            </a:r>
            <a:r>
              <a:rPr lang="en-US" dirty="0"/>
              <a:t> years, AL</a:t>
            </a:r>
            <a:r>
              <a:rPr lang="en-US" dirty="0" smtClean="0"/>
              <a:t>;	</a:t>
            </a:r>
            <a:r>
              <a:rPr lang="en-US" b="1" dirty="0"/>
              <a:t> </a:t>
            </a:r>
            <a:r>
              <a:rPr lang="en-US" b="1" dirty="0" smtClean="0"/>
              <a:t>                  </a:t>
            </a:r>
            <a:r>
              <a:rPr lang="en-US" b="1" dirty="0" smtClean="0">
                <a:solidFill>
                  <a:srgbClr val="FF0000"/>
                </a:solidFill>
              </a:rPr>
              <a:t>EAX </a:t>
            </a:r>
            <a:r>
              <a:rPr lang="en-US" b="1" dirty="0">
                <a:solidFill>
                  <a:srgbClr val="FF0000"/>
                </a:solidFill>
              </a:rPr>
              <a:t>= …………….</a:t>
            </a:r>
            <a:r>
              <a:rPr lang="en-US" b="1" dirty="0" smtClean="0">
                <a:solidFill>
                  <a:srgbClr val="FF0000"/>
                </a:solidFill>
              </a:rPr>
              <a:t>0000_0000_0110_0011</a:t>
            </a:r>
            <a:r>
              <a:rPr lang="en-US" b="1" dirty="0" smtClean="0"/>
              <a:t> </a:t>
            </a:r>
            <a:r>
              <a:rPr lang="en-US" b="1" dirty="0"/>
              <a:t>= </a:t>
            </a:r>
            <a:r>
              <a:rPr lang="en-US" b="1" dirty="0" smtClean="0"/>
              <a:t>0063 = 99 YEAR </a:t>
            </a:r>
            <a:r>
              <a:rPr lang="en-US" dirty="0" smtClean="0"/>
              <a:t>	</a:t>
            </a:r>
            <a:endParaRPr lang="en-US" dirty="0"/>
          </a:p>
          <a:p>
            <a:r>
              <a:rPr lang="en-US" dirty="0"/>
              <a:t>}</a:t>
            </a:r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0175" y="4876800"/>
            <a:ext cx="6343650" cy="173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/>
          <p:cNvSpPr/>
          <p:nvPr/>
        </p:nvSpPr>
        <p:spPr>
          <a:xfrm>
            <a:off x="838200" y="0"/>
            <a:ext cx="735637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LABORATORY No 9 EXAMPLE 9.1 FOR 16-BIT  MOTH, DAY, YEAR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93632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27709" y="0"/>
            <a:ext cx="9199418" cy="374073"/>
          </a:xfrm>
        </p:spPr>
        <p:txBody>
          <a:bodyPr>
            <a:noAutofit/>
          </a:bodyPr>
          <a:lstStyle/>
          <a:p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21920" y="373082"/>
            <a:ext cx="8747760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dirty="0" smtClean="0">
                <a:solidFill>
                  <a:srgbClr val="C00000"/>
                </a:solidFill>
              </a:rPr>
              <a:t>UNPACKING </a:t>
            </a:r>
            <a:r>
              <a:rPr lang="en-US" b="1" dirty="0">
                <a:solidFill>
                  <a:srgbClr val="C00000"/>
                </a:solidFill>
              </a:rPr>
              <a:t>THE INFORMATION FOR DATE </a:t>
            </a:r>
            <a:r>
              <a:rPr lang="en-US" b="1" dirty="0" smtClean="0">
                <a:solidFill>
                  <a:srgbClr val="C00000"/>
                </a:solidFill>
              </a:rPr>
              <a:t>AS 4/15/99 </a:t>
            </a:r>
          </a:p>
          <a:p>
            <a:endParaRPr lang="en-US" dirty="0"/>
          </a:p>
          <a:p>
            <a:r>
              <a:rPr lang="en-US" dirty="0" err="1" smtClean="0"/>
              <a:t>mov</a:t>
            </a:r>
            <a:r>
              <a:rPr lang="en-US" dirty="0" smtClean="0"/>
              <a:t> </a:t>
            </a:r>
            <a:r>
              <a:rPr lang="en-US" dirty="0"/>
              <a:t>AX, </a:t>
            </a:r>
            <a:r>
              <a:rPr lang="en-US" dirty="0" err="1"/>
              <a:t>packedDate</a:t>
            </a:r>
            <a:r>
              <a:rPr lang="en-US" dirty="0" smtClean="0"/>
              <a:t>;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smtClean="0">
                <a:solidFill>
                  <a:srgbClr val="FF0000"/>
                </a:solidFill>
              </a:rPr>
              <a:t>               EAX </a:t>
            </a:r>
            <a:r>
              <a:rPr lang="en-US" b="1" dirty="0">
                <a:solidFill>
                  <a:srgbClr val="FF0000"/>
                </a:solidFill>
              </a:rPr>
              <a:t>= …………….</a:t>
            </a:r>
            <a:r>
              <a:rPr lang="en-US" b="1" dirty="0" smtClean="0">
                <a:solidFill>
                  <a:srgbClr val="FF0000"/>
                </a:solidFill>
              </a:rPr>
              <a:t>0100_0111_1110_0011</a:t>
            </a:r>
            <a:r>
              <a:rPr lang="en-US" b="1" dirty="0" smtClean="0">
                <a:solidFill>
                  <a:srgbClr val="C00000"/>
                </a:solidFill>
              </a:rPr>
              <a:t> </a:t>
            </a:r>
            <a:r>
              <a:rPr lang="en-US" b="1" dirty="0"/>
              <a:t>= 47E3</a:t>
            </a:r>
            <a:r>
              <a:rPr lang="en-US" dirty="0"/>
              <a:t> </a:t>
            </a:r>
            <a:r>
              <a:rPr lang="en-US" dirty="0" smtClean="0"/>
              <a:t>	</a:t>
            </a:r>
            <a:endParaRPr lang="en-US" dirty="0"/>
          </a:p>
          <a:p>
            <a:r>
              <a:rPr lang="en-US" dirty="0"/>
              <a:t>	</a:t>
            </a:r>
            <a:r>
              <a:rPr lang="en-US" b="1" dirty="0" smtClean="0"/>
              <a:t> </a:t>
            </a:r>
            <a:r>
              <a:rPr lang="en-US" b="1" dirty="0"/>
              <a:t>0xf000</a:t>
            </a:r>
            <a:r>
              <a:rPr lang="en-US" dirty="0" smtClean="0"/>
              <a:t>;	</a:t>
            </a:r>
            <a:r>
              <a:rPr lang="en-US" dirty="0"/>
              <a:t> </a:t>
            </a:r>
            <a:r>
              <a:rPr lang="en-US" dirty="0" smtClean="0"/>
              <a:t>                  </a:t>
            </a:r>
            <a:r>
              <a:rPr lang="en-US" b="1" dirty="0" smtClean="0"/>
              <a:t>EAX </a:t>
            </a:r>
            <a:r>
              <a:rPr lang="en-US" b="1" dirty="0"/>
              <a:t>= </a:t>
            </a:r>
            <a:r>
              <a:rPr lang="en-US" b="1" dirty="0" smtClean="0"/>
              <a:t>…………….1111_0000_0000_0000 </a:t>
            </a:r>
            <a:r>
              <a:rPr lang="en-US" b="1" dirty="0"/>
              <a:t>= F</a:t>
            </a:r>
            <a:r>
              <a:rPr lang="en-US" b="1" dirty="0" smtClean="0"/>
              <a:t>000</a:t>
            </a:r>
            <a:r>
              <a:rPr lang="en-US" dirty="0" smtClean="0"/>
              <a:t> </a:t>
            </a:r>
            <a:endParaRPr lang="en-US" b="1" dirty="0" smtClean="0"/>
          </a:p>
          <a:p>
            <a:r>
              <a:rPr lang="en-US" b="1" dirty="0">
                <a:solidFill>
                  <a:srgbClr val="00B050"/>
                </a:solidFill>
              </a:rPr>
              <a:t>and AX, 0xf000;	                   EAX = …………….0100_0000_0000_0000 = 4000 AND CLEAR</a:t>
            </a:r>
          </a:p>
          <a:p>
            <a:r>
              <a:rPr lang="en-US" dirty="0" err="1" smtClean="0"/>
              <a:t>rol</a:t>
            </a:r>
            <a:r>
              <a:rPr lang="en-US" dirty="0" smtClean="0"/>
              <a:t> </a:t>
            </a:r>
            <a:r>
              <a:rPr lang="en-US" dirty="0"/>
              <a:t>AX, 4</a:t>
            </a:r>
            <a:r>
              <a:rPr lang="en-US" dirty="0" smtClean="0"/>
              <a:t>;			</a:t>
            </a:r>
            <a:r>
              <a:rPr lang="en-US" b="1" dirty="0">
                <a:solidFill>
                  <a:srgbClr val="FF0000"/>
                </a:solidFill>
              </a:rPr>
              <a:t> EAX = …………….</a:t>
            </a:r>
            <a:r>
              <a:rPr lang="en-US" b="1" dirty="0" smtClean="0">
                <a:solidFill>
                  <a:srgbClr val="FF0000"/>
                </a:solidFill>
              </a:rPr>
              <a:t>0000_0000_0000_0100</a:t>
            </a:r>
            <a:r>
              <a:rPr lang="en-US" b="1" dirty="0" smtClean="0">
                <a:solidFill>
                  <a:srgbClr val="C00000"/>
                </a:solidFill>
              </a:rPr>
              <a:t> </a:t>
            </a:r>
            <a:r>
              <a:rPr lang="en-US" b="1" dirty="0"/>
              <a:t>= </a:t>
            </a:r>
            <a:r>
              <a:rPr lang="en-US" b="1" dirty="0" smtClean="0"/>
              <a:t>0004</a:t>
            </a:r>
          </a:p>
          <a:p>
            <a:endParaRPr lang="en-US" dirty="0"/>
          </a:p>
          <a:p>
            <a:r>
              <a:rPr lang="en-US" dirty="0" err="1"/>
              <a:t>mov</a:t>
            </a:r>
            <a:r>
              <a:rPr lang="en-US" dirty="0"/>
              <a:t> months, AL</a:t>
            </a:r>
            <a:r>
              <a:rPr lang="en-US" dirty="0" smtClean="0"/>
              <a:t>;		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/>
              <a:t>EAX = …………….</a:t>
            </a:r>
            <a:r>
              <a:rPr lang="en-US" b="1" dirty="0" smtClean="0"/>
              <a:t>0000_0000_0000_0100</a:t>
            </a:r>
            <a:r>
              <a:rPr lang="en-US" b="1" dirty="0" smtClean="0">
                <a:solidFill>
                  <a:srgbClr val="C00000"/>
                </a:solidFill>
              </a:rPr>
              <a:t> </a:t>
            </a:r>
            <a:r>
              <a:rPr lang="en-US" b="1" dirty="0"/>
              <a:t>= </a:t>
            </a:r>
            <a:r>
              <a:rPr lang="en-US" b="1" dirty="0" smtClean="0"/>
              <a:t>0004 </a:t>
            </a:r>
          </a:p>
          <a:p>
            <a:endParaRPr lang="en-US" dirty="0"/>
          </a:p>
          <a:p>
            <a:r>
              <a:rPr lang="en-US" dirty="0" err="1"/>
              <a:t>mov</a:t>
            </a:r>
            <a:r>
              <a:rPr lang="en-US" dirty="0"/>
              <a:t> AX, </a:t>
            </a:r>
            <a:r>
              <a:rPr lang="en-US" dirty="0" err="1"/>
              <a:t>packedDate</a:t>
            </a:r>
            <a:r>
              <a:rPr lang="en-US" dirty="0" smtClean="0"/>
              <a:t>;	</a:t>
            </a:r>
            <a:r>
              <a:rPr lang="en-US" dirty="0"/>
              <a:t> </a:t>
            </a:r>
            <a:r>
              <a:rPr lang="en-US" b="1" dirty="0">
                <a:solidFill>
                  <a:srgbClr val="FF0000"/>
                </a:solidFill>
              </a:rPr>
              <a:t>EAX = …………….</a:t>
            </a:r>
            <a:r>
              <a:rPr lang="en-US" b="1" dirty="0" smtClean="0">
                <a:solidFill>
                  <a:srgbClr val="FF0000"/>
                </a:solidFill>
              </a:rPr>
              <a:t>0100_0111_1110_0011</a:t>
            </a:r>
            <a:r>
              <a:rPr lang="en-US" b="1" dirty="0" smtClean="0">
                <a:solidFill>
                  <a:srgbClr val="C00000"/>
                </a:solidFill>
              </a:rPr>
              <a:t> </a:t>
            </a:r>
            <a:r>
              <a:rPr lang="en-US" b="1" dirty="0"/>
              <a:t>= </a:t>
            </a:r>
            <a:r>
              <a:rPr lang="en-US" b="1" dirty="0" smtClean="0"/>
              <a:t>47E3</a:t>
            </a:r>
          </a:p>
          <a:p>
            <a:r>
              <a:rPr lang="en-US" b="1" dirty="0"/>
              <a:t>	</a:t>
            </a:r>
            <a:r>
              <a:rPr lang="en-US" b="1" dirty="0" smtClean="0"/>
              <a:t>0x0f80</a:t>
            </a:r>
            <a:r>
              <a:rPr lang="en-US" b="1" dirty="0"/>
              <a:t>;		 EAX = …………….</a:t>
            </a:r>
            <a:r>
              <a:rPr lang="en-US" b="1" dirty="0" smtClean="0"/>
              <a:t>0000_1111_1000_0000 </a:t>
            </a:r>
            <a:r>
              <a:rPr lang="en-US" b="1" dirty="0"/>
              <a:t>= </a:t>
            </a:r>
            <a:r>
              <a:rPr lang="en-US" b="1" dirty="0" smtClean="0"/>
              <a:t>0F80  </a:t>
            </a:r>
            <a:endParaRPr lang="en-US" dirty="0"/>
          </a:p>
          <a:p>
            <a:r>
              <a:rPr lang="en-US" b="1" dirty="0">
                <a:solidFill>
                  <a:srgbClr val="00B050"/>
                </a:solidFill>
              </a:rPr>
              <a:t>and AX, 0x0f80</a:t>
            </a:r>
            <a:r>
              <a:rPr lang="en-US" b="1" dirty="0" smtClean="0">
                <a:solidFill>
                  <a:srgbClr val="00B050"/>
                </a:solidFill>
              </a:rPr>
              <a:t>;		</a:t>
            </a:r>
            <a:r>
              <a:rPr lang="en-US" b="1" dirty="0">
                <a:solidFill>
                  <a:srgbClr val="00B050"/>
                </a:solidFill>
              </a:rPr>
              <a:t> EAX = …………….</a:t>
            </a:r>
            <a:r>
              <a:rPr lang="en-US" b="1" dirty="0" smtClean="0">
                <a:solidFill>
                  <a:srgbClr val="00B050"/>
                </a:solidFill>
              </a:rPr>
              <a:t>0000_0111_1000_0000 </a:t>
            </a:r>
            <a:r>
              <a:rPr lang="en-US" b="1" dirty="0">
                <a:solidFill>
                  <a:srgbClr val="00B050"/>
                </a:solidFill>
              </a:rPr>
              <a:t>= </a:t>
            </a:r>
            <a:r>
              <a:rPr lang="en-US" b="1" dirty="0" smtClean="0">
                <a:solidFill>
                  <a:srgbClr val="00B050"/>
                </a:solidFill>
              </a:rPr>
              <a:t>0780</a:t>
            </a:r>
            <a:r>
              <a:rPr lang="en-US" b="1" dirty="0">
                <a:solidFill>
                  <a:srgbClr val="00B050"/>
                </a:solidFill>
              </a:rPr>
              <a:t> </a:t>
            </a:r>
            <a:r>
              <a:rPr lang="en-US" b="1" dirty="0" smtClean="0">
                <a:solidFill>
                  <a:srgbClr val="00B050"/>
                </a:solidFill>
              </a:rPr>
              <a:t> AND </a:t>
            </a:r>
            <a:r>
              <a:rPr lang="en-US" b="1" dirty="0">
                <a:solidFill>
                  <a:srgbClr val="00B050"/>
                </a:solidFill>
              </a:rPr>
              <a:t>CLEAR</a:t>
            </a:r>
          </a:p>
          <a:p>
            <a:r>
              <a:rPr lang="en-US" dirty="0" err="1"/>
              <a:t>ror</a:t>
            </a:r>
            <a:r>
              <a:rPr lang="en-US" dirty="0"/>
              <a:t> AX, 7</a:t>
            </a:r>
            <a:r>
              <a:rPr lang="en-US" dirty="0" smtClean="0"/>
              <a:t>;			</a:t>
            </a:r>
            <a:r>
              <a:rPr lang="en-US" b="1" dirty="0"/>
              <a:t> </a:t>
            </a:r>
            <a:r>
              <a:rPr lang="en-US" b="1" dirty="0">
                <a:solidFill>
                  <a:srgbClr val="FF0000"/>
                </a:solidFill>
              </a:rPr>
              <a:t>EAX = …………….</a:t>
            </a:r>
            <a:r>
              <a:rPr lang="en-US" b="1" dirty="0" smtClean="0">
                <a:solidFill>
                  <a:srgbClr val="FF0000"/>
                </a:solidFill>
              </a:rPr>
              <a:t>0000_0000_0000_1111</a:t>
            </a:r>
            <a:r>
              <a:rPr lang="en-US" b="1" dirty="0" smtClean="0"/>
              <a:t> </a:t>
            </a:r>
            <a:r>
              <a:rPr lang="en-US" b="1" dirty="0"/>
              <a:t>= </a:t>
            </a:r>
            <a:r>
              <a:rPr lang="en-US" b="1" dirty="0" smtClean="0"/>
              <a:t>000F</a:t>
            </a:r>
          </a:p>
          <a:p>
            <a:endParaRPr lang="en-US" dirty="0"/>
          </a:p>
          <a:p>
            <a:r>
              <a:rPr lang="en-US" dirty="0" err="1"/>
              <a:t>mov</a:t>
            </a:r>
            <a:r>
              <a:rPr lang="en-US" dirty="0"/>
              <a:t> days, AL</a:t>
            </a:r>
            <a:r>
              <a:rPr lang="en-US" dirty="0" smtClean="0"/>
              <a:t>;		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/>
              <a:t>EAX = …………….</a:t>
            </a:r>
            <a:r>
              <a:rPr lang="en-US" b="1" dirty="0" smtClean="0"/>
              <a:t>0000_0000_0000_1111</a:t>
            </a:r>
            <a:r>
              <a:rPr lang="en-US" b="1" dirty="0" smtClean="0">
                <a:solidFill>
                  <a:srgbClr val="C00000"/>
                </a:solidFill>
              </a:rPr>
              <a:t> </a:t>
            </a:r>
            <a:r>
              <a:rPr lang="en-US" b="1" dirty="0"/>
              <a:t>= </a:t>
            </a:r>
            <a:r>
              <a:rPr lang="en-US" b="1" dirty="0" smtClean="0"/>
              <a:t>000F = 15 DAY</a:t>
            </a:r>
            <a:endParaRPr lang="en-US" dirty="0"/>
          </a:p>
          <a:p>
            <a:endParaRPr lang="en-US" dirty="0" smtClean="0"/>
          </a:p>
          <a:p>
            <a:r>
              <a:rPr lang="en-US" dirty="0" err="1" smtClean="0"/>
              <a:t>mov</a:t>
            </a:r>
            <a:r>
              <a:rPr lang="en-US" dirty="0" smtClean="0"/>
              <a:t> </a:t>
            </a:r>
            <a:r>
              <a:rPr lang="en-US" dirty="0"/>
              <a:t>AX, </a:t>
            </a:r>
            <a:r>
              <a:rPr lang="en-US" dirty="0" err="1"/>
              <a:t>packedDate</a:t>
            </a:r>
            <a:r>
              <a:rPr lang="en-US" dirty="0" smtClean="0"/>
              <a:t>;	</a:t>
            </a:r>
            <a:r>
              <a:rPr lang="en-US" b="1" dirty="0"/>
              <a:t> </a:t>
            </a:r>
            <a:r>
              <a:rPr lang="en-US" b="1" dirty="0">
                <a:solidFill>
                  <a:srgbClr val="FF0000"/>
                </a:solidFill>
              </a:rPr>
              <a:t>EAX = …………….</a:t>
            </a:r>
            <a:r>
              <a:rPr lang="en-US" b="1" dirty="0" smtClean="0">
                <a:solidFill>
                  <a:srgbClr val="FF0000"/>
                </a:solidFill>
              </a:rPr>
              <a:t>0100_0111_1110_0011</a:t>
            </a:r>
            <a:r>
              <a:rPr lang="en-US" b="1" dirty="0" smtClean="0">
                <a:solidFill>
                  <a:srgbClr val="C00000"/>
                </a:solidFill>
              </a:rPr>
              <a:t> </a:t>
            </a:r>
            <a:r>
              <a:rPr lang="en-US" b="1" dirty="0"/>
              <a:t>= 47E3</a:t>
            </a:r>
            <a:endParaRPr lang="en-US" dirty="0"/>
          </a:p>
          <a:p>
            <a:r>
              <a:rPr lang="en-US" dirty="0"/>
              <a:t>	</a:t>
            </a:r>
            <a:r>
              <a:rPr lang="en-US" dirty="0" smtClean="0"/>
              <a:t> </a:t>
            </a:r>
            <a:r>
              <a:rPr lang="en-US" b="1" dirty="0"/>
              <a:t>0x007f</a:t>
            </a:r>
            <a:r>
              <a:rPr lang="en-US" dirty="0" smtClean="0"/>
              <a:t>;		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/>
              <a:t>EAX = …………….</a:t>
            </a:r>
            <a:r>
              <a:rPr lang="en-US" b="1" dirty="0" smtClean="0"/>
              <a:t>0000_0000_0111_1111</a:t>
            </a:r>
            <a:r>
              <a:rPr lang="en-US" b="1" dirty="0" smtClean="0">
                <a:solidFill>
                  <a:srgbClr val="C00000"/>
                </a:solidFill>
              </a:rPr>
              <a:t> </a:t>
            </a:r>
            <a:r>
              <a:rPr lang="en-US" b="1" dirty="0"/>
              <a:t>= </a:t>
            </a:r>
            <a:r>
              <a:rPr lang="en-US" b="1" dirty="0" smtClean="0"/>
              <a:t>007F</a:t>
            </a:r>
          </a:p>
          <a:p>
            <a:r>
              <a:rPr lang="en-US" b="1" dirty="0">
                <a:solidFill>
                  <a:srgbClr val="00B050"/>
                </a:solidFill>
              </a:rPr>
              <a:t>and AX,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b="1" dirty="0">
                <a:solidFill>
                  <a:srgbClr val="00B050"/>
                </a:solidFill>
              </a:rPr>
              <a:t>0x007f</a:t>
            </a:r>
            <a:r>
              <a:rPr lang="en-US" dirty="0">
                <a:solidFill>
                  <a:srgbClr val="00B050"/>
                </a:solidFill>
              </a:rPr>
              <a:t>;		</a:t>
            </a:r>
            <a:r>
              <a:rPr lang="en-US" b="1" dirty="0">
                <a:solidFill>
                  <a:srgbClr val="00B050"/>
                </a:solidFill>
              </a:rPr>
              <a:t> EAX = …………….</a:t>
            </a:r>
            <a:r>
              <a:rPr lang="en-US" b="1" dirty="0" smtClean="0">
                <a:solidFill>
                  <a:srgbClr val="00B050"/>
                </a:solidFill>
              </a:rPr>
              <a:t>0000_0000_0110_0011 </a:t>
            </a:r>
            <a:r>
              <a:rPr lang="en-US" b="1" dirty="0">
                <a:solidFill>
                  <a:srgbClr val="00B050"/>
                </a:solidFill>
              </a:rPr>
              <a:t>= </a:t>
            </a:r>
            <a:r>
              <a:rPr lang="en-US" b="1" dirty="0" smtClean="0">
                <a:solidFill>
                  <a:srgbClr val="00B050"/>
                </a:solidFill>
              </a:rPr>
              <a:t>0063 </a:t>
            </a:r>
            <a:r>
              <a:rPr lang="en-US" b="1" dirty="0">
                <a:solidFill>
                  <a:srgbClr val="00B050"/>
                </a:solidFill>
              </a:rPr>
              <a:t>AND CLEAR</a:t>
            </a:r>
            <a:endParaRPr lang="en-US" dirty="0">
              <a:solidFill>
                <a:srgbClr val="00B050"/>
              </a:solidFill>
            </a:endParaRPr>
          </a:p>
          <a:p>
            <a:endParaRPr lang="en-US" dirty="0"/>
          </a:p>
          <a:p>
            <a:r>
              <a:rPr lang="en-US" dirty="0" err="1"/>
              <a:t>mov</a:t>
            </a:r>
            <a:r>
              <a:rPr lang="en-US" dirty="0"/>
              <a:t> years, AL</a:t>
            </a:r>
            <a:r>
              <a:rPr lang="en-US" dirty="0" smtClean="0"/>
              <a:t>;	</a:t>
            </a:r>
            <a:r>
              <a:rPr lang="en-US" b="1" dirty="0"/>
              <a:t> </a:t>
            </a:r>
            <a:r>
              <a:rPr lang="en-US" b="1" dirty="0" smtClean="0"/>
              <a:t>                  </a:t>
            </a:r>
            <a:r>
              <a:rPr lang="en-US" b="1" dirty="0" smtClean="0">
                <a:solidFill>
                  <a:srgbClr val="FF0000"/>
                </a:solidFill>
              </a:rPr>
              <a:t>EAX </a:t>
            </a:r>
            <a:r>
              <a:rPr lang="en-US" b="1" dirty="0">
                <a:solidFill>
                  <a:srgbClr val="FF0000"/>
                </a:solidFill>
              </a:rPr>
              <a:t>= …………….</a:t>
            </a:r>
            <a:r>
              <a:rPr lang="en-US" b="1" dirty="0" smtClean="0">
                <a:solidFill>
                  <a:srgbClr val="FF0000"/>
                </a:solidFill>
              </a:rPr>
              <a:t>0000_0000_0110_0011</a:t>
            </a:r>
            <a:r>
              <a:rPr lang="en-US" b="1" dirty="0" smtClean="0"/>
              <a:t> </a:t>
            </a:r>
            <a:r>
              <a:rPr lang="en-US" b="1" dirty="0"/>
              <a:t>= </a:t>
            </a:r>
            <a:r>
              <a:rPr lang="en-US" b="1" dirty="0" smtClean="0"/>
              <a:t>0063 = 99 YEAR </a:t>
            </a:r>
            <a:r>
              <a:rPr lang="en-US" dirty="0" smtClean="0"/>
              <a:t>	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2895600" y="971550"/>
            <a:ext cx="4799610" cy="552450"/>
          </a:xfrm>
          <a:prstGeom prst="rect">
            <a:avLst/>
          </a:prstGeom>
          <a:solidFill>
            <a:schemeClr val="accent1">
              <a:alpha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2895600" y="2895600"/>
            <a:ext cx="4799610" cy="552450"/>
          </a:xfrm>
          <a:prstGeom prst="rect">
            <a:avLst/>
          </a:prstGeom>
          <a:solidFill>
            <a:schemeClr val="accent1">
              <a:alpha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2895600" y="4800600"/>
            <a:ext cx="4799610" cy="552450"/>
          </a:xfrm>
          <a:prstGeom prst="rect">
            <a:avLst/>
          </a:prstGeom>
          <a:solidFill>
            <a:schemeClr val="accent1">
              <a:alpha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838200" y="0"/>
            <a:ext cx="735637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LABORATORY No 9 EXAMPLE 9.1 FOR 16-BIT  MOTH, DAY, YEAR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51006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27709" y="0"/>
            <a:ext cx="9199418" cy="374073"/>
          </a:xfrm>
        </p:spPr>
        <p:txBody>
          <a:bodyPr>
            <a:noAutofit/>
          </a:bodyPr>
          <a:lstStyle/>
          <a:p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457977" y="0"/>
            <a:ext cx="56614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FLOWCHART FOR LABORATORY 9 EXAMPLE 9.1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399" y="369332"/>
            <a:ext cx="8845797" cy="64886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104038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52400" y="76200"/>
            <a:ext cx="8594539" cy="51244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C00000"/>
                </a:solidFill>
              </a:rPr>
              <a:t>STUDENTS’S  ASSIGNMENT</a:t>
            </a:r>
          </a:p>
          <a:p>
            <a:pPr algn="ctr"/>
            <a:r>
              <a:rPr lang="en-US" sz="2800" b="1" dirty="0">
                <a:solidFill>
                  <a:srgbClr val="C00000"/>
                </a:solidFill>
              </a:rPr>
              <a:t>FOR LABORTORY </a:t>
            </a:r>
            <a:r>
              <a:rPr lang="en-US" sz="2800" b="1" dirty="0" smtClean="0">
                <a:solidFill>
                  <a:srgbClr val="C00000"/>
                </a:solidFill>
              </a:rPr>
              <a:t>9</a:t>
            </a:r>
            <a:r>
              <a:rPr lang="en-US" sz="2800" b="1" dirty="0" smtClean="0">
                <a:solidFill>
                  <a:srgbClr val="C00000"/>
                </a:solidFill>
              </a:rPr>
              <a:t>.1 </a:t>
            </a:r>
            <a:r>
              <a:rPr lang="en-US" sz="2800" b="1" dirty="0" smtClean="0">
                <a:solidFill>
                  <a:srgbClr val="C00000"/>
                </a:solidFill>
              </a:rPr>
              <a:t>MANIPULATION AND MASK DESIGN</a:t>
            </a:r>
            <a:endParaRPr lang="en-US" sz="2800" b="1" dirty="0">
              <a:solidFill>
                <a:srgbClr val="C00000"/>
              </a:solidFill>
            </a:endParaRPr>
          </a:p>
          <a:p>
            <a:endParaRPr lang="en-US" sz="2800" b="1" dirty="0"/>
          </a:p>
          <a:p>
            <a:r>
              <a:rPr lang="en-US" sz="2800" b="1" dirty="0"/>
              <a:t>The students should get </a:t>
            </a:r>
            <a:r>
              <a:rPr lang="en-US" sz="2800" b="1" dirty="0" smtClean="0"/>
              <a:t>ONE console </a:t>
            </a:r>
            <a:r>
              <a:rPr lang="en-US" sz="2800" b="1" dirty="0"/>
              <a:t>output result operations </a:t>
            </a:r>
            <a:r>
              <a:rPr lang="en-US" sz="2800" b="1" dirty="0" smtClean="0"/>
              <a:t>using : </a:t>
            </a:r>
            <a:endParaRPr lang="en-US" sz="2800" b="1" dirty="0"/>
          </a:p>
          <a:p>
            <a:r>
              <a:rPr lang="en-US" sz="2800" b="1" dirty="0"/>
              <a:t> 	</a:t>
            </a:r>
            <a:endParaRPr lang="en-US" sz="2800" b="1" dirty="0" smtClean="0"/>
          </a:p>
          <a:p>
            <a:pPr algn="ctr"/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Bitwise AND, OR, XOR, NOT </a:t>
            </a:r>
          </a:p>
          <a:p>
            <a:pPr algn="ctr"/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Bitwise SHL, SHR, ROL,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ROR </a:t>
            </a:r>
            <a:r>
              <a:rPr lang="en-US" sz="2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en-US" sz="25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endParaRPr lang="en-US" sz="2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en-US" sz="2500" b="1" dirty="0"/>
          </a:p>
          <a:p>
            <a:pPr algn="ctr"/>
            <a:r>
              <a:rPr lang="en-US" sz="2800" b="1" dirty="0"/>
              <a:t>Total of </a:t>
            </a:r>
            <a:r>
              <a:rPr lang="en-US" sz="2800" b="1" dirty="0" smtClean="0"/>
              <a:t>1 </a:t>
            </a:r>
            <a:r>
              <a:rPr lang="en-US" sz="2800" b="1" dirty="0"/>
              <a:t>outputs</a:t>
            </a:r>
          </a:p>
        </p:txBody>
      </p:sp>
    </p:spTree>
    <p:extLst>
      <p:ext uri="{BB962C8B-B14F-4D97-AF65-F5344CB8AC3E}">
        <p14:creationId xmlns:p14="http://schemas.microsoft.com/office/powerpoint/2010/main" val="64002816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457200"/>
            <a:ext cx="8458200" cy="568611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328565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57845966-6EFC-468A-9CC7-BAB4B95854E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1"/>
            <a:ext cx="9144000" cy="6858000"/>
          </a:xfrm>
          <a:prstGeom prst="rect">
            <a:avLst/>
          </a:prstGeom>
          <a:gradFill>
            <a:gsLst>
              <a:gs pos="0">
                <a:schemeClr val="accent1">
                  <a:lumMod val="100000"/>
                  <a:alpha val="82000"/>
                </a:schemeClr>
              </a:gs>
              <a:gs pos="25000">
                <a:schemeClr val="accent1">
                  <a:alpha val="60000"/>
                </a:schemeClr>
              </a:gs>
              <a:gs pos="94000">
                <a:schemeClr val="bg2">
                  <a:lumMod val="75000"/>
                </a:schemeClr>
              </a:gs>
              <a:gs pos="100000">
                <a:schemeClr val="bg2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xmlns="" id="{75554383-98AF-4A47-BB65-705FAAA4BE6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0" r="12500"/>
          <a:stretch/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2" name="Freeform: Shape 11">
            <a:extLst>
              <a:ext uri="{FF2B5EF4-FFF2-40B4-BE49-F238E27FC236}">
                <a16:creationId xmlns:a16="http://schemas.microsoft.com/office/drawing/2014/main" xmlns="" id="{ADAD1991-FFD1-4E94-ABAB-7560D33008E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655410" y="-3970"/>
            <a:ext cx="7748362" cy="6874811"/>
          </a:xfrm>
          <a:custGeom>
            <a:avLst/>
            <a:gdLst>
              <a:gd name="connsiteX0" fmla="*/ 2232159 w 7837716"/>
              <a:gd name="connsiteY0" fmla="*/ 0 h 6858000"/>
              <a:gd name="connsiteX1" fmla="*/ 5605557 w 7837716"/>
              <a:gd name="connsiteY1" fmla="*/ 0 h 6858000"/>
              <a:gd name="connsiteX2" fmla="*/ 5617845 w 7837716"/>
              <a:gd name="connsiteY2" fmla="*/ 5384 h 6858000"/>
              <a:gd name="connsiteX3" fmla="*/ 7837716 w 7837716"/>
              <a:gd name="connsiteY3" fmla="*/ 3429000 h 6858000"/>
              <a:gd name="connsiteX4" fmla="*/ 5617845 w 7837716"/>
              <a:gd name="connsiteY4" fmla="*/ 6852616 h 6858000"/>
              <a:gd name="connsiteX5" fmla="*/ 5605557 w 7837716"/>
              <a:gd name="connsiteY5" fmla="*/ 6858000 h 6858000"/>
              <a:gd name="connsiteX6" fmla="*/ 2232159 w 7837716"/>
              <a:gd name="connsiteY6" fmla="*/ 6858000 h 6858000"/>
              <a:gd name="connsiteX7" fmla="*/ 2219871 w 7837716"/>
              <a:gd name="connsiteY7" fmla="*/ 6852616 h 6858000"/>
              <a:gd name="connsiteX8" fmla="*/ 0 w 7837716"/>
              <a:gd name="connsiteY8" fmla="*/ 3429000 h 6858000"/>
              <a:gd name="connsiteX9" fmla="*/ 2219871 w 7837716"/>
              <a:gd name="connsiteY9" fmla="*/ 538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837716" h="6858000">
                <a:moveTo>
                  <a:pt x="2232159" y="0"/>
                </a:moveTo>
                <a:lnTo>
                  <a:pt x="5605557" y="0"/>
                </a:lnTo>
                <a:lnTo>
                  <a:pt x="5617845" y="5384"/>
                </a:lnTo>
                <a:cubicBezTo>
                  <a:pt x="6931322" y="618789"/>
                  <a:pt x="7837716" y="1921305"/>
                  <a:pt x="7837716" y="3429000"/>
                </a:cubicBezTo>
                <a:cubicBezTo>
                  <a:pt x="7837716" y="4936696"/>
                  <a:pt x="6931322" y="6239212"/>
                  <a:pt x="5617845" y="6852616"/>
                </a:cubicBezTo>
                <a:lnTo>
                  <a:pt x="5605557" y="6858000"/>
                </a:lnTo>
                <a:lnTo>
                  <a:pt x="2232159" y="6858000"/>
                </a:lnTo>
                <a:lnTo>
                  <a:pt x="2219871" y="6852616"/>
                </a:lnTo>
                <a:cubicBezTo>
                  <a:pt x="906394" y="6239212"/>
                  <a:pt x="0" y="4936696"/>
                  <a:pt x="0" y="3429000"/>
                </a:cubicBezTo>
                <a:cubicBezTo>
                  <a:pt x="0" y="1921305"/>
                  <a:pt x="906394" y="618789"/>
                  <a:pt x="2219871" y="5384"/>
                </a:cubicBezTo>
                <a:close/>
              </a:path>
            </a:pathLst>
          </a:custGeom>
          <a:solidFill>
            <a:schemeClr val="bg1"/>
          </a:solidFill>
          <a:ln>
            <a:gradFill>
              <a:gsLst>
                <a:gs pos="0">
                  <a:schemeClr val="accent1">
                    <a:lumMod val="40000"/>
                    <a:lumOff val="60000"/>
                  </a:schemeClr>
                </a:gs>
                <a:gs pos="23000">
                  <a:schemeClr val="accent1">
                    <a:lumMod val="45000"/>
                    <a:lumOff val="55000"/>
                  </a:schemeClr>
                </a:gs>
                <a:gs pos="83000">
                  <a:schemeClr val="bg2">
                    <a:lumMod val="82000"/>
                  </a:schemeClr>
                </a:gs>
                <a:gs pos="100000">
                  <a:schemeClr val="bg2">
                    <a:lumMod val="87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/>
          </a:p>
        </p:txBody>
      </p:sp>
      <p:pic>
        <p:nvPicPr>
          <p:cNvPr id="3" name="Picture 4" descr="MCj04344110000[1]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519476" y="1172029"/>
            <a:ext cx="4020229" cy="45139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243702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Rectangle 73">
            <a:extLst>
              <a:ext uri="{FF2B5EF4-FFF2-40B4-BE49-F238E27FC236}">
                <a16:creationId xmlns:a16="http://schemas.microsoft.com/office/drawing/2014/main" xmlns="" id="{23962611-DFD5-4092-AAFD-559E3DFCE2C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356616" y="0"/>
            <a:ext cx="8182719" cy="6858000"/>
          </a:xfrm>
          <a:prstGeom prst="rect">
            <a:avLst/>
          </a:prstGeom>
          <a:gradFill>
            <a:gsLst>
              <a:gs pos="0">
                <a:schemeClr val="accent1"/>
              </a:gs>
              <a:gs pos="25000">
                <a:schemeClr val="accent1"/>
              </a:gs>
              <a:gs pos="94000">
                <a:schemeClr val="accent5"/>
              </a:gs>
              <a:gs pos="100000">
                <a:schemeClr val="accent5"/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6" name="Picture 75">
            <a:extLst>
              <a:ext uri="{FF2B5EF4-FFF2-40B4-BE49-F238E27FC236}">
                <a16:creationId xmlns:a16="http://schemas.microsoft.com/office/drawing/2014/main" xmlns="" id="{2270F1FA-0425-408F-9861-80BF5AFB276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86021" name="WordArt 5"/>
          <p:cNvSpPr>
            <a:spLocks noChangeArrowheads="1" noChangeShapeType="1" noTextEdit="1"/>
          </p:cNvSpPr>
          <p:nvPr/>
        </p:nvSpPr>
        <p:spPr bwMode="auto">
          <a:xfrm>
            <a:off x="2284026" y="2043663"/>
            <a:ext cx="4578895" cy="2031055"/>
          </a:xfrm>
          <a:prstGeom prst="rect">
            <a:avLst/>
          </a:prstGeom>
        </p:spPr>
        <p:txBody>
          <a:bodyPr vert="horz" lIns="91440" tIns="45720" rIns="91440" bIns="45720" rtlCol="0" fromWordArt="1" anchor="b">
            <a:prstTxWarp prst="textPlain">
              <a:avLst>
                <a:gd name="adj" fmla="val 50000"/>
              </a:avLst>
            </a:prstTxWarp>
            <a:normAutofit/>
          </a:bodyPr>
          <a:lstStyle/>
          <a:p>
            <a:pPr algn="ctr" fontAlgn="auto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000" i="1" kern="1200">
                <a:ln w="9525">
                  <a:solidFill>
                    <a:srgbClr val="800000"/>
                  </a:solidFill>
                  <a:round/>
                  <a:headEnd/>
                  <a:tailEnd/>
                </a:ln>
                <a:solidFill>
                  <a:srgbClr val="FFFFFF"/>
                </a:solidFill>
                <a:effectLst>
                  <a:outerShdw dist="35921" dir="2700000" algn="ctr" rotWithShape="0">
                    <a:srgbClr val="B2B2B2">
                      <a:alpha val="80000"/>
                    </a:srgbClr>
                  </a:outerShdw>
                </a:effectLst>
                <a:latin typeface="+mj-lt"/>
                <a:ea typeface="+mj-ea"/>
                <a:cs typeface="+mj-cs"/>
              </a:rPr>
              <a:t>Thanks</a:t>
            </a:r>
          </a:p>
        </p:txBody>
      </p:sp>
    </p:spTree>
    <p:extLst>
      <p:ext uri="{BB962C8B-B14F-4D97-AF65-F5344CB8AC3E}">
        <p14:creationId xmlns:p14="http://schemas.microsoft.com/office/powerpoint/2010/main" val="8028836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4676</TotalTime>
  <Words>441</Words>
  <Application>Microsoft Office PowerPoint</Application>
  <PresentationFormat>On-screen Show (4:3)</PresentationFormat>
  <Paragraphs>172</Paragraphs>
  <Slides>23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4" baseType="lpstr">
      <vt:lpstr>Office Theme</vt:lpstr>
      <vt:lpstr>LABORATORY No 9</vt:lpstr>
      <vt:lpstr> </vt:lpstr>
      <vt:lpstr> </vt:lpstr>
      <vt:lpstr>PowerPoint Presentation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Ruben Velasquez</dc:creator>
  <cp:lastModifiedBy>Windows User</cp:lastModifiedBy>
  <cp:revision>298</cp:revision>
  <dcterms:created xsi:type="dcterms:W3CDTF">2019-01-03T03:42:08Z</dcterms:created>
  <dcterms:modified xsi:type="dcterms:W3CDTF">2021-04-20T14:12:35Z</dcterms:modified>
</cp:coreProperties>
</file>