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8" r:id="rId3"/>
    <p:sldId id="303" r:id="rId4"/>
    <p:sldId id="309" r:id="rId5"/>
    <p:sldId id="310" r:id="rId6"/>
    <p:sldId id="306" r:id="rId7"/>
    <p:sldId id="30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26" y="-1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79EECFE-814E-4B68-96A7-86A795BD22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06F847C8-7801-44D8-8CCA-CDBA7AD91A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xmlns="" id="{AF180F00-B4B2-4196-BB1C-ECD21B03F0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6E600F8C-C8F3-420C-9D3B-E1FBE7BAE4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518" y="1383527"/>
            <a:ext cx="4554249" cy="4175166"/>
          </a:xfrm>
        </p:spPr>
        <p:txBody>
          <a:bodyPr anchor="ctr">
            <a:normAutofit/>
          </a:bodyPr>
          <a:lstStyle/>
          <a:p>
            <a:pPr algn="r"/>
            <a:r>
              <a:rPr lang="en-US" sz="5900" dirty="0"/>
              <a:t>LABORATORY No </a:t>
            </a:r>
            <a:r>
              <a:rPr lang="en-US" sz="5900" dirty="0" smtClean="0"/>
              <a:t>7</a:t>
            </a:r>
            <a:endParaRPr lang="en-US" sz="59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2038" y="2581835"/>
            <a:ext cx="2492976" cy="1778552"/>
          </a:xfrm>
        </p:spPr>
        <p:txBody>
          <a:bodyPr anchor="ctr">
            <a:normAutofit fontScale="55000" lnSpcReduction="20000"/>
          </a:bodyPr>
          <a:lstStyle/>
          <a:p>
            <a:r>
              <a:rPr lang="en-US" sz="2800" dirty="0"/>
              <a:t>Integer Arithmetic Operation :</a:t>
            </a:r>
          </a:p>
          <a:p>
            <a:r>
              <a:rPr lang="en-US" sz="2800" dirty="0"/>
              <a:t>Addition: ADD, INC</a:t>
            </a:r>
          </a:p>
          <a:p>
            <a:r>
              <a:rPr lang="en-US" sz="2800" dirty="0"/>
              <a:t>Subtraction :SUB, DEC, NEG</a:t>
            </a:r>
          </a:p>
          <a:p>
            <a:r>
              <a:rPr lang="en-US" sz="2800" dirty="0"/>
              <a:t>Multiplication: MUL, IMUL</a:t>
            </a:r>
          </a:p>
          <a:p>
            <a:r>
              <a:rPr lang="en-US" sz="2800" dirty="0"/>
              <a:t>Division: DIV, IDIV</a:t>
            </a:r>
            <a:endParaRPr lang="en-US" sz="3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7AA55BF2-380C-4942-8AB1-55A6A52A35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65099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29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79EECFE-814E-4B68-96A7-86A795BD22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06F847C8-7801-44D8-8CCA-CDBA7AD91A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xmlns="" id="{AF180F00-B4B2-4196-BB1C-ECD21B03F0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6E600F8C-C8F3-420C-9D3B-E1FBE7BAE4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518" y="1383527"/>
            <a:ext cx="4554249" cy="4175166"/>
          </a:xfrm>
        </p:spPr>
        <p:txBody>
          <a:bodyPr anchor="ctr">
            <a:normAutofit/>
          </a:bodyPr>
          <a:lstStyle/>
          <a:p>
            <a:pPr algn="r"/>
            <a:r>
              <a:rPr lang="en-US" sz="5900" dirty="0"/>
              <a:t>LABORATORY No </a:t>
            </a:r>
            <a:r>
              <a:rPr lang="en-US" sz="5900" dirty="0" smtClean="0"/>
              <a:t>7</a:t>
            </a:r>
            <a:endParaRPr lang="en-US" sz="59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2038" y="1981200"/>
            <a:ext cx="2492976" cy="2256865"/>
          </a:xfrm>
        </p:spPr>
        <p:txBody>
          <a:bodyPr anchor="ctr">
            <a:normAutofit fontScale="77500" lnSpcReduction="20000"/>
          </a:bodyPr>
          <a:lstStyle/>
          <a:p>
            <a:r>
              <a:rPr lang="en-US" sz="2800" dirty="0" smtClean="0"/>
              <a:t>7.1 </a:t>
            </a:r>
            <a:r>
              <a:rPr lang="en-US" sz="2800" dirty="0"/>
              <a:t>Signed Integers:</a:t>
            </a:r>
          </a:p>
          <a:p>
            <a:r>
              <a:rPr lang="en-US" sz="2800" dirty="0" smtClean="0"/>
              <a:t>7.1 </a:t>
            </a:r>
            <a:r>
              <a:rPr lang="en-US" sz="2800" dirty="0"/>
              <a:t>unsigned Integers :</a:t>
            </a:r>
          </a:p>
          <a:p>
            <a:endParaRPr lang="en-US" sz="2800" dirty="0"/>
          </a:p>
          <a:p>
            <a:r>
              <a:rPr lang="en-US" sz="2800" dirty="0"/>
              <a:t>BY USING A MENU AND A SUBMENU</a:t>
            </a:r>
            <a:endParaRPr lang="en-US" sz="3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7AA55BF2-380C-4942-8AB1-55A6A52A35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65099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36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7948" y="76200"/>
            <a:ext cx="8598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FLOWCHART  FOR THE  EXAMPLE 7.1 UNSIGNED/SIGNED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942975"/>
            <a:ext cx="9134475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61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2033" y="-76200"/>
            <a:ext cx="8553367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EXAMPLE 7.1 FOR 16-BITS</a:t>
            </a:r>
          </a:p>
          <a:p>
            <a:endParaRPr lang="en-US" sz="2800" b="1" dirty="0" smtClean="0"/>
          </a:p>
          <a:p>
            <a:r>
              <a:rPr lang="en-US" sz="2600" b="1" dirty="0" smtClean="0"/>
              <a:t>BEFORE YOU  SUBMIT YOU LABORATORY REPORT MAKE </a:t>
            </a:r>
          </a:p>
          <a:p>
            <a:r>
              <a:rPr lang="en-US" sz="2600" b="1" dirty="0" smtClean="0"/>
              <a:t>SURE TO CHECK FOR THE FOLLOWING:</a:t>
            </a:r>
            <a:endParaRPr lang="en-US" sz="2600" b="1" dirty="0"/>
          </a:p>
          <a:p>
            <a:endParaRPr lang="en-US" sz="2600" b="1" dirty="0" smtClean="0"/>
          </a:p>
          <a:p>
            <a:r>
              <a:rPr lang="en-US" sz="2600" b="1" dirty="0" smtClean="0"/>
              <a:t>MAKE SURE YOUR OUTPUT CONSOLE IS CLEAR AND NOT </a:t>
            </a:r>
          </a:p>
          <a:p>
            <a:r>
              <a:rPr lang="en-US" sz="2600" b="1" dirty="0" smtClean="0"/>
              <a:t>BLURRY FOR YOUR PROFESSOR TO SEE. </a:t>
            </a:r>
          </a:p>
          <a:p>
            <a:endParaRPr lang="en-US" sz="2600" b="1" dirty="0"/>
          </a:p>
          <a:p>
            <a:r>
              <a:rPr lang="en-US" sz="2600" b="1" dirty="0" smtClean="0"/>
              <a:t>IF YOU SUBMIT A BLURRY-UNCLEAR CONSOLE RESULT, I WILL</a:t>
            </a:r>
          </a:p>
          <a:p>
            <a:r>
              <a:rPr lang="en-US" sz="2600" b="1" dirty="0" smtClean="0"/>
              <a:t>NOT CHECK YOUR RESULT AND YOUR  REPORT WILL BE </a:t>
            </a:r>
          </a:p>
          <a:p>
            <a:r>
              <a:rPr lang="en-US" sz="2600" b="1" dirty="0" smtClean="0">
                <a:solidFill>
                  <a:srgbClr val="C00000"/>
                </a:solidFill>
              </a:rPr>
              <a:t>50 POINTS</a:t>
            </a:r>
            <a:r>
              <a:rPr lang="en-US" sz="2600" b="1" dirty="0" smtClean="0"/>
              <a:t> LOWER.</a:t>
            </a:r>
          </a:p>
          <a:p>
            <a:endParaRPr lang="en-US" sz="2600" b="1" dirty="0"/>
          </a:p>
          <a:p>
            <a:r>
              <a:rPr lang="en-US" sz="2600" b="1" dirty="0" smtClean="0"/>
              <a:t>MAKE SURE NOT TO COPY THE OUTPUT CONSOLE RESULT </a:t>
            </a:r>
          </a:p>
          <a:p>
            <a:r>
              <a:rPr lang="en-US" sz="2600" b="1" dirty="0" smtClean="0"/>
              <a:t>FROM YOUR LABORATORY MANUAL TO YOUR LABORATORY </a:t>
            </a:r>
          </a:p>
          <a:p>
            <a:r>
              <a:rPr lang="en-US" sz="2600" b="1" dirty="0" smtClean="0"/>
              <a:t>REPORT, OTHERWISE, YOU REPORT WILL BE </a:t>
            </a:r>
            <a:r>
              <a:rPr lang="en-US" sz="2600" b="1" dirty="0" smtClean="0">
                <a:solidFill>
                  <a:srgbClr val="C00000"/>
                </a:solidFill>
              </a:rPr>
              <a:t>60 POINTS</a:t>
            </a:r>
            <a:r>
              <a:rPr lang="en-US" sz="2600" b="1" dirty="0" smtClean="0"/>
              <a:t> </a:t>
            </a:r>
          </a:p>
          <a:p>
            <a:r>
              <a:rPr lang="en-US" sz="2600" b="1" dirty="0" smtClean="0"/>
              <a:t>LOWER. </a:t>
            </a:r>
          </a:p>
        </p:txBody>
      </p:sp>
    </p:spTree>
    <p:extLst>
      <p:ext uri="{BB962C8B-B14F-4D97-AF65-F5344CB8AC3E}">
        <p14:creationId xmlns:p14="http://schemas.microsoft.com/office/powerpoint/2010/main" val="341776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8706" y="-76200"/>
            <a:ext cx="871052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EXAMPLE 7.1 FOR 16-BITS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The students should get one output for operation 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Signed integer: 	One for addition 		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-36,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r>
              <a:rPr lang="en-US" sz="2800" b="1" dirty="0" smtClean="0"/>
              <a:t>			One for subtraction 	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-36, -5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r>
              <a:rPr lang="en-US" sz="2800" b="1" dirty="0"/>
              <a:t>	</a:t>
            </a:r>
            <a:r>
              <a:rPr lang="en-US" sz="2800" b="1" dirty="0" smtClean="0"/>
              <a:t>		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r>
              <a:rPr lang="en-US" sz="2800" b="1" dirty="0" smtClean="0"/>
              <a:t>Unsigned integer:</a:t>
            </a:r>
            <a:r>
              <a:rPr lang="en-US" sz="2800" b="1" dirty="0"/>
              <a:t> </a:t>
            </a:r>
            <a:r>
              <a:rPr lang="en-US" sz="2800" b="1" dirty="0" smtClean="0"/>
              <a:t>	One </a:t>
            </a:r>
            <a:r>
              <a:rPr lang="en-US" sz="2800" b="1" dirty="0"/>
              <a:t>for </a:t>
            </a:r>
            <a:r>
              <a:rPr lang="en-US" sz="2800" b="1" dirty="0" smtClean="0"/>
              <a:t>addition 		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	</a:t>
            </a:r>
            <a:r>
              <a:rPr lang="en-US" sz="2800" b="1" dirty="0" smtClean="0"/>
              <a:t>		One </a:t>
            </a:r>
            <a:r>
              <a:rPr lang="en-US" sz="2800" b="1" dirty="0"/>
              <a:t>for </a:t>
            </a:r>
            <a:r>
              <a:rPr lang="en-US" sz="2800" b="1" dirty="0" smtClean="0"/>
              <a:t>subtraction 	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800" b="1" dirty="0" smtClean="0"/>
          </a:p>
          <a:p>
            <a:r>
              <a:rPr lang="en-US" sz="2800" b="1" dirty="0" smtClean="0"/>
              <a:t>			</a:t>
            </a:r>
          </a:p>
          <a:p>
            <a:pPr algn="ctr"/>
            <a:r>
              <a:rPr lang="en-US" sz="2800" b="1" dirty="0" smtClean="0"/>
              <a:t>Total </a:t>
            </a:r>
            <a:r>
              <a:rPr lang="en-US" sz="2800" b="1" smtClean="0"/>
              <a:t>of </a:t>
            </a:r>
            <a:r>
              <a:rPr lang="en-US" sz="2800" b="1" smtClean="0"/>
              <a:t>1outputs</a:t>
            </a:r>
            <a:endParaRPr lang="en-US" sz="2800" b="1" dirty="0" smtClean="0"/>
          </a:p>
          <a:p>
            <a:endParaRPr lang="en-US" sz="2800" b="1" dirty="0" smtClean="0"/>
          </a:p>
          <a:p>
            <a:r>
              <a:rPr lang="en-US" sz="2800" b="1" dirty="0"/>
              <a:t>You must use those numbers showed above, if you do </a:t>
            </a:r>
          </a:p>
          <a:p>
            <a:r>
              <a:rPr lang="en-US" sz="2800" b="1" dirty="0"/>
              <a:t>not use the suggested numbers </a:t>
            </a:r>
            <a:r>
              <a:rPr lang="en-US" sz="2800" b="1" dirty="0">
                <a:solidFill>
                  <a:srgbClr val="C00000"/>
                </a:solidFill>
              </a:rPr>
              <a:t>40 point</a:t>
            </a:r>
            <a:r>
              <a:rPr lang="en-US" sz="2800" b="1" dirty="0"/>
              <a:t> will be deducted</a:t>
            </a:r>
          </a:p>
          <a:p>
            <a:r>
              <a:rPr lang="en-US" sz="2800" b="1" dirty="0"/>
              <a:t>from you laboratory report grade.</a:t>
            </a:r>
          </a:p>
        </p:txBody>
      </p:sp>
    </p:spTree>
    <p:extLst>
      <p:ext uri="{BB962C8B-B14F-4D97-AF65-F5344CB8AC3E}">
        <p14:creationId xmlns:p14="http://schemas.microsoft.com/office/powerpoint/2010/main" val="81082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1856" y="1172029"/>
            <a:ext cx="401546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116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xmlns="" id="{934F1179-B481-4F9E-BCA3-AFB972070F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ight Triangle 84">
            <a:extLst>
              <a:ext uri="{FF2B5EF4-FFF2-40B4-BE49-F238E27FC236}">
                <a16:creationId xmlns:a16="http://schemas.microsoft.com/office/drawing/2014/main" xmlns="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963930" y="1008993"/>
            <a:ext cx="6923558" cy="354204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07716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158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LABORATORY No 7</vt:lpstr>
      <vt:lpstr>LABORATORY No 7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Velasquez</dc:creator>
  <cp:lastModifiedBy>Windows User</cp:lastModifiedBy>
  <cp:revision>194</cp:revision>
  <dcterms:created xsi:type="dcterms:W3CDTF">2019-01-03T03:42:08Z</dcterms:created>
  <dcterms:modified xsi:type="dcterms:W3CDTF">2021-04-08T12:51:04Z</dcterms:modified>
</cp:coreProperties>
</file>