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2" r:id="rId2"/>
    <p:sldId id="265" r:id="rId3"/>
    <p:sldId id="270" r:id="rId4"/>
    <p:sldId id="271" r:id="rId5"/>
    <p:sldId id="272" r:id="rId6"/>
    <p:sldId id="273" r:id="rId7"/>
    <p:sldId id="304" r:id="rId8"/>
    <p:sldId id="305" r:id="rId9"/>
    <p:sldId id="306" r:id="rId10"/>
    <p:sldId id="301" r:id="rId11"/>
    <p:sldId id="307" r:id="rId12"/>
    <p:sldId id="294" r:id="rId13"/>
    <p:sldId id="277" r:id="rId14"/>
    <p:sldId id="278" r:id="rId15"/>
    <p:sldId id="282" r:id="rId16"/>
    <p:sldId id="290" r:id="rId17"/>
    <p:sldId id="288" r:id="rId18"/>
    <p:sldId id="280" r:id="rId19"/>
    <p:sldId id="274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62" y="17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B0241-5115-4B5B-8571-3C9DB521969F}" type="datetimeFigureOut">
              <a:rPr lang="es-CO" smtClean="0"/>
              <a:t>10/03/2021</a:t>
            </a:fld>
            <a:endParaRPr lang="es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F48D7-E7B3-4193-9DF3-CA29AA73716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088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F48D7-E7B3-4193-9DF3-CA29AA73716D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8518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5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9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00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7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73B2-0B86-436F-A23D-2271D3305795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32AC5-03BD-4C07-B78B-7BF6F191B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0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3962611-DFD5-4092-AAFD-559E3DFCE2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270F1FA-0425-408F-9861-80BF5AFB27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4026" y="2043663"/>
            <a:ext cx="4578895" cy="203105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LABORATORY No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4026" y="4074718"/>
            <a:ext cx="4578895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89977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066800"/>
            <a:ext cx="819211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LABORATORY No_03:</a:t>
            </a:r>
            <a:r>
              <a:rPr lang="en-US" dirty="0"/>
              <a:t>  Data were transferred from memory to register and vice-versa.</a:t>
            </a:r>
          </a:p>
          <a:p>
            <a:r>
              <a:rPr lang="en-US" dirty="0"/>
              <a:t>		MOV  BL, 'a';</a:t>
            </a:r>
          </a:p>
          <a:p>
            <a:r>
              <a:rPr lang="en-US" dirty="0"/>
              <a:t>		MOV  BH, 'A';</a:t>
            </a:r>
          </a:p>
          <a:p>
            <a:r>
              <a:rPr lang="en-US" dirty="0"/>
              <a:t>		MOV  r1, BL;</a:t>
            </a:r>
          </a:p>
          <a:p>
            <a:r>
              <a:rPr lang="en-US" dirty="0"/>
              <a:t>		MOV  r2, BH;</a:t>
            </a:r>
          </a:p>
          <a:p>
            <a:r>
              <a:rPr lang="en-US" dirty="0"/>
              <a:t>		MOV  r, BX;</a:t>
            </a:r>
          </a:p>
          <a:p>
            <a:endParaRPr lang="en-US" dirty="0"/>
          </a:p>
          <a:p>
            <a:r>
              <a:rPr lang="en-US" dirty="0"/>
              <a:t>		MOV  temp, BH;</a:t>
            </a:r>
          </a:p>
          <a:p>
            <a:r>
              <a:rPr lang="en-US" dirty="0"/>
              <a:t>		MOV  BH, BL;</a:t>
            </a:r>
          </a:p>
          <a:p>
            <a:r>
              <a:rPr lang="en-US" dirty="0"/>
              <a:t>		MOV  BL, temp</a:t>
            </a:r>
          </a:p>
          <a:p>
            <a:r>
              <a:rPr lang="en-US" dirty="0"/>
              <a:t>		MOV  r1, BL;</a:t>
            </a:r>
          </a:p>
          <a:p>
            <a:r>
              <a:rPr lang="en-US" dirty="0"/>
              <a:t>		MOV  r2, BH;</a:t>
            </a:r>
          </a:p>
          <a:p>
            <a:r>
              <a:rPr lang="en-US" dirty="0"/>
              <a:t>		MOV  r, BX;</a:t>
            </a:r>
          </a:p>
          <a:p>
            <a:endParaRPr lang="en-US" dirty="0"/>
          </a:p>
          <a:p>
            <a:r>
              <a:rPr lang="en-US" dirty="0"/>
              <a:t>		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27709" y="0"/>
            <a:ext cx="9199418" cy="3740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FROM PREVIOUS LABORATORY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18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FROM PREVIOUS LABORATORY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045488"/>
            <a:ext cx="831759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LABORATORY No_04</a:t>
            </a:r>
            <a:r>
              <a:rPr lang="en-US" dirty="0"/>
              <a:t>: Data were transferred from CPU to memory to assign address </a:t>
            </a:r>
          </a:p>
          <a:p>
            <a:r>
              <a:rPr lang="en-US" dirty="0"/>
              <a:t>		 </a:t>
            </a:r>
            <a:r>
              <a:rPr lang="en-US" dirty="0" smtClean="0"/>
              <a:t>   </a:t>
            </a:r>
            <a:r>
              <a:rPr lang="en-US" dirty="0"/>
              <a:t>and data by using pointers. </a:t>
            </a:r>
            <a:r>
              <a:rPr lang="en-US" dirty="0" smtClean="0"/>
              <a:t> Pointers are used to store addresses 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for a particular data.</a:t>
            </a:r>
            <a:endParaRPr lang="en-US" dirty="0"/>
          </a:p>
          <a:p>
            <a:endParaRPr lang="en-US" dirty="0"/>
          </a:p>
          <a:p>
            <a:r>
              <a:rPr lang="en-US" dirty="0"/>
              <a:t>		svPtr0 = &amp;</a:t>
            </a:r>
            <a:r>
              <a:rPr lang="en-US" dirty="0" smtClean="0"/>
              <a:t>sh8_arr[0</a:t>
            </a:r>
            <a:r>
              <a:rPr lang="en-US" dirty="0"/>
              <a:t>];</a:t>
            </a:r>
          </a:p>
          <a:p>
            <a:r>
              <a:rPr lang="en-US" dirty="0"/>
              <a:t>		svPtr1 = &amp;</a:t>
            </a:r>
            <a:r>
              <a:rPr lang="en-US" dirty="0" smtClean="0"/>
              <a:t>sh8_arr[1</a:t>
            </a:r>
            <a:r>
              <a:rPr lang="en-US" dirty="0"/>
              <a:t>];</a:t>
            </a:r>
          </a:p>
          <a:p>
            <a:r>
              <a:rPr lang="en-US" dirty="0"/>
              <a:t>		svPtr2 = &amp;</a:t>
            </a:r>
            <a:r>
              <a:rPr lang="en-US" dirty="0" smtClean="0"/>
              <a:t>sh8_arr[2</a:t>
            </a:r>
            <a:r>
              <a:rPr lang="en-US" dirty="0"/>
              <a:t>];</a:t>
            </a:r>
          </a:p>
          <a:p>
            <a:r>
              <a:rPr lang="en-US" dirty="0"/>
              <a:t>		svPtr3 = &amp;</a:t>
            </a:r>
            <a:r>
              <a:rPr lang="en-US" dirty="0" smtClean="0"/>
              <a:t>sh8_arr[3</a:t>
            </a:r>
            <a:r>
              <a:rPr lang="en-US" dirty="0"/>
              <a:t>];</a:t>
            </a:r>
          </a:p>
          <a:p>
            <a:endParaRPr lang="en-US" dirty="0"/>
          </a:p>
          <a:p>
            <a:r>
              <a:rPr lang="en-US" dirty="0"/>
              <a:t>		svPtr0 = &amp;sh16_arr[0];</a:t>
            </a:r>
          </a:p>
          <a:p>
            <a:r>
              <a:rPr lang="en-US" dirty="0"/>
              <a:t>		svPtr1 = &amp;sh16_arr[1];</a:t>
            </a:r>
          </a:p>
          <a:p>
            <a:r>
              <a:rPr lang="en-US" dirty="0"/>
              <a:t>		svPtr2 = &amp;sh16_arr[2];</a:t>
            </a:r>
          </a:p>
          <a:p>
            <a:r>
              <a:rPr lang="en-US" dirty="0"/>
              <a:t>		svPtr3 = &amp;sh16_arr[3];</a:t>
            </a:r>
          </a:p>
          <a:p>
            <a:endParaRPr lang="en-US" dirty="0"/>
          </a:p>
          <a:p>
            <a:r>
              <a:rPr lang="nn-NO" dirty="0"/>
              <a:t>		ivPtr0 = &amp;i32_arr[0];</a:t>
            </a:r>
          </a:p>
          <a:p>
            <a:r>
              <a:rPr lang="nn-NO" dirty="0"/>
              <a:t>		ivPtr1 = &amp;i32_arr[1];</a:t>
            </a:r>
          </a:p>
          <a:p>
            <a:r>
              <a:rPr lang="nn-NO" dirty="0"/>
              <a:t>		ivPtr2 = &amp;i32_arr[2];</a:t>
            </a:r>
          </a:p>
          <a:p>
            <a:r>
              <a:rPr lang="nn-NO" dirty="0"/>
              <a:t>		ivPtr3 = &amp;i32_arr[3];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7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05 EXAMPLE  5.1 NOT FOR SUBMISSION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457200"/>
            <a:ext cx="886777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LABORATORY No_05:</a:t>
            </a:r>
            <a:r>
              <a:rPr lang="en-US" dirty="0"/>
              <a:t> Data are transferred  by </a:t>
            </a:r>
            <a:r>
              <a:rPr lang="en-US" b="1" i="1" dirty="0"/>
              <a:t>addressing modes</a:t>
            </a:r>
            <a:r>
              <a:rPr lang="en-US" dirty="0"/>
              <a:t> in conjunction </a:t>
            </a:r>
          </a:p>
          <a:p>
            <a:r>
              <a:rPr lang="en-US" dirty="0"/>
              <a:t>		   with pointers such as: </a:t>
            </a:r>
          </a:p>
          <a:p>
            <a:r>
              <a:rPr lang="en-US" b="1" dirty="0">
                <a:solidFill>
                  <a:srgbClr val="00B050"/>
                </a:solidFill>
              </a:rPr>
              <a:t>register  addressing mode</a:t>
            </a:r>
            <a:r>
              <a:rPr lang="en-US" dirty="0"/>
              <a:t> 	 	 </a:t>
            </a:r>
            <a:r>
              <a:rPr lang="en-US" dirty="0">
                <a:solidFill>
                  <a:srgbClr val="00B050"/>
                </a:solidFill>
              </a:rPr>
              <a:t>MOV EDI, EBX;</a:t>
            </a:r>
          </a:p>
          <a:p>
            <a:r>
              <a:rPr lang="en-US" b="1" dirty="0">
                <a:solidFill>
                  <a:srgbClr val="FF0000"/>
                </a:solidFill>
              </a:rPr>
              <a:t>register direct addressing mode</a:t>
            </a:r>
            <a:r>
              <a:rPr lang="en-US" dirty="0"/>
              <a:t> 	 </a:t>
            </a:r>
            <a:r>
              <a:rPr lang="en-US" dirty="0">
                <a:solidFill>
                  <a:srgbClr val="FF0000"/>
                </a:solidFill>
              </a:rPr>
              <a:t>MOV EBX, </a:t>
            </a:r>
            <a:r>
              <a:rPr lang="en-US" dirty="0" err="1">
                <a:solidFill>
                  <a:srgbClr val="FF0000"/>
                </a:solidFill>
              </a:rPr>
              <a:t>uPtr</a:t>
            </a:r>
            <a:r>
              <a:rPr lang="en-US" dirty="0">
                <a:solidFill>
                  <a:srgbClr val="FF0000"/>
                </a:solidFill>
              </a:rPr>
              <a:t>;</a:t>
            </a:r>
            <a:r>
              <a:rPr lang="en-US" dirty="0"/>
              <a:t> </a:t>
            </a:r>
          </a:p>
          <a:p>
            <a:r>
              <a:rPr lang="en-US" b="1" dirty="0"/>
              <a:t>register indirect addressing mode</a:t>
            </a:r>
            <a:r>
              <a:rPr lang="en-US" dirty="0"/>
              <a:t> 	 MOV AX, [EBX];</a:t>
            </a:r>
          </a:p>
          <a:p>
            <a:r>
              <a:rPr lang="en-US" b="1" dirty="0">
                <a:solidFill>
                  <a:srgbClr val="0070C0"/>
                </a:solidFill>
              </a:rPr>
              <a:t>register relative addressing mode</a:t>
            </a:r>
            <a:r>
              <a:rPr lang="en-US" dirty="0"/>
              <a:t> 	</a:t>
            </a:r>
            <a:r>
              <a:rPr lang="en-US" dirty="0">
                <a:solidFill>
                  <a:srgbClr val="0070C0"/>
                </a:solidFill>
              </a:rPr>
              <a:t> MOV AX, [EBX + 2H];</a:t>
            </a:r>
          </a:p>
          <a:p>
            <a:endParaRPr lang="en-US" dirty="0"/>
          </a:p>
          <a:p>
            <a:r>
              <a:rPr lang="en-US" dirty="0"/>
              <a:t>Objective</a:t>
            </a:r>
            <a:r>
              <a:rPr lang="en-US" dirty="0" smtClean="0"/>
              <a:t>:  </a:t>
            </a:r>
            <a:r>
              <a:rPr lang="en-US" b="1" dirty="0"/>
              <a:t>Example 5.2</a:t>
            </a:r>
            <a:r>
              <a:rPr lang="en-US" dirty="0"/>
              <a:t> data transferred in </a:t>
            </a:r>
            <a:r>
              <a:rPr lang="en-US" b="1" dirty="0"/>
              <a:t>32-bit</a:t>
            </a:r>
            <a:r>
              <a:rPr lang="en-US" dirty="0"/>
              <a:t>  </a:t>
            </a:r>
            <a:r>
              <a:rPr lang="en-US" b="1" dirty="0"/>
              <a:t>unsigned</a:t>
            </a:r>
            <a:r>
              <a:rPr lang="en-US" dirty="0"/>
              <a:t> array increased by </a:t>
            </a:r>
            <a:r>
              <a:rPr lang="en-US" b="1" dirty="0"/>
              <a:t>4H</a:t>
            </a:r>
            <a:r>
              <a:rPr lang="en-US" dirty="0"/>
              <a:t>.</a:t>
            </a:r>
          </a:p>
          <a:p>
            <a:r>
              <a:rPr lang="en-US" dirty="0"/>
              <a:t> 	   </a:t>
            </a:r>
            <a:r>
              <a:rPr lang="en-US" b="1" dirty="0"/>
              <a:t>Example 5.2</a:t>
            </a:r>
            <a:r>
              <a:rPr lang="en-US" dirty="0"/>
              <a:t> data transferred in </a:t>
            </a:r>
            <a:r>
              <a:rPr lang="en-US" b="1" dirty="0"/>
              <a:t>32-bit</a:t>
            </a:r>
            <a:r>
              <a:rPr lang="en-US" dirty="0"/>
              <a:t>  </a:t>
            </a:r>
            <a:r>
              <a:rPr lang="en-US" b="1" dirty="0"/>
              <a:t>signed</a:t>
            </a:r>
            <a:r>
              <a:rPr lang="en-US" dirty="0"/>
              <a:t> array increased by </a:t>
            </a:r>
            <a:r>
              <a:rPr lang="en-US" b="1" dirty="0"/>
              <a:t>4H</a:t>
            </a:r>
            <a:r>
              <a:rPr lang="en-US" dirty="0"/>
              <a:t>.</a:t>
            </a:r>
          </a:p>
          <a:p>
            <a:r>
              <a:rPr lang="en-US" dirty="0"/>
              <a:t>                   </a:t>
            </a:r>
          </a:p>
          <a:p>
            <a:r>
              <a:rPr lang="en-US" b="1" dirty="0" smtClean="0"/>
              <a:t>EXAMPLE 5.2</a:t>
            </a:r>
            <a:endParaRPr lang="en-US" b="1" dirty="0"/>
          </a:p>
          <a:p>
            <a:r>
              <a:rPr lang="en-US" dirty="0" smtClean="0"/>
              <a:t>unsigned </a:t>
            </a:r>
            <a:r>
              <a:rPr lang="en-US" dirty="0" err="1"/>
              <a:t>int</a:t>
            </a:r>
            <a:r>
              <a:rPr lang="en-US" dirty="0"/>
              <a:t> u32_arr[n] = { 0x00000041, 0x00000052, 0xabcd1169, '1234', '</a:t>
            </a:r>
            <a:r>
              <a:rPr lang="en-US" dirty="0" err="1"/>
              <a:t>aABc</a:t>
            </a:r>
            <a:r>
              <a:rPr lang="en-US" dirty="0"/>
              <a:t>' }; </a:t>
            </a:r>
          </a:p>
          <a:p>
            <a:r>
              <a:rPr lang="en-US" dirty="0" smtClean="0"/>
              <a:t>unsigned </a:t>
            </a:r>
            <a:r>
              <a:rPr lang="en-US" dirty="0" err="1"/>
              <a:t>int</a:t>
            </a:r>
            <a:r>
              <a:rPr lang="en-US" dirty="0"/>
              <a:t> u0, u1, u2, u3, u4;</a:t>
            </a:r>
          </a:p>
          <a:p>
            <a:r>
              <a:rPr lang="en-US" dirty="0" smtClean="0"/>
              <a:t>unsigned </a:t>
            </a:r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uPtr</a:t>
            </a:r>
            <a:r>
              <a:rPr lang="en-US" dirty="0"/>
              <a:t>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u0_addr, u1_addr, u2_addr, u3_addr, u4_addr;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i;         </a:t>
            </a:r>
            <a:r>
              <a:rPr lang="en-US" dirty="0" smtClean="0"/>
              <a:t>       </a:t>
            </a:r>
            <a:endParaRPr lang="en-US" dirty="0"/>
          </a:p>
          <a:p>
            <a:endParaRPr lang="en-US" dirty="0"/>
          </a:p>
          <a:p>
            <a:r>
              <a:rPr lang="en-US" dirty="0"/>
              <a:t>//EBX holds the address of element 0 in the array from the </a:t>
            </a:r>
            <a:r>
              <a:rPr lang="en-US" b="1" dirty="0"/>
              <a:t>direct addressing mode</a:t>
            </a:r>
          </a:p>
          <a:p>
            <a:r>
              <a:rPr lang="en-US" dirty="0"/>
              <a:t>	MOV EBX, </a:t>
            </a:r>
            <a:r>
              <a:rPr lang="en-US" dirty="0" err="1"/>
              <a:t>uPtr</a:t>
            </a:r>
            <a:r>
              <a:rPr lang="en-US" dirty="0"/>
              <a:t>;   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82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05 EXAMPLE 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5.2 FOR SUBMISSION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1925" y="542925"/>
            <a:ext cx="8572988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//</a:t>
            </a:r>
            <a:r>
              <a:rPr lang="en-US" dirty="0" smtClean="0"/>
              <a:t>u1 </a:t>
            </a:r>
            <a:r>
              <a:rPr lang="en-US" dirty="0"/>
              <a:t>holds the retrieved value resulted from the </a:t>
            </a:r>
            <a:r>
              <a:rPr lang="en-US" b="1" dirty="0"/>
              <a:t>indirect addressing mode</a:t>
            </a:r>
            <a:r>
              <a:rPr lang="en-US" dirty="0"/>
              <a:t>  contained</a:t>
            </a:r>
          </a:p>
          <a:p>
            <a:r>
              <a:rPr lang="en-US" dirty="0"/>
              <a:t>in register EBX</a:t>
            </a:r>
          </a:p>
          <a:p>
            <a:r>
              <a:rPr lang="en-US" dirty="0"/>
              <a:t>	 MOV </a:t>
            </a:r>
            <a:r>
              <a:rPr lang="en-US" dirty="0" smtClean="0"/>
              <a:t>EAX</a:t>
            </a:r>
            <a:r>
              <a:rPr lang="en-US" dirty="0"/>
              <a:t>, [EBX]; </a:t>
            </a:r>
          </a:p>
          <a:p>
            <a:r>
              <a:rPr lang="en-US" dirty="0"/>
              <a:t>	 MOV </a:t>
            </a:r>
            <a:r>
              <a:rPr lang="en-US" dirty="0" smtClean="0"/>
              <a:t>u1</a:t>
            </a:r>
            <a:r>
              <a:rPr lang="en-US" dirty="0" smtClean="0"/>
              <a:t>, </a:t>
            </a:r>
            <a:r>
              <a:rPr lang="en-US" dirty="0"/>
              <a:t>E</a:t>
            </a:r>
            <a:r>
              <a:rPr lang="en-US" dirty="0" smtClean="0"/>
              <a:t>AX</a:t>
            </a:r>
            <a:r>
              <a:rPr lang="en-US" dirty="0"/>
              <a:t>;</a:t>
            </a:r>
          </a:p>
          <a:p>
            <a:r>
              <a:rPr lang="en-US" dirty="0"/>
              <a:t>	 MOV </a:t>
            </a:r>
            <a:r>
              <a:rPr lang="en-US" dirty="0" smtClean="0"/>
              <a:t>u1_addr</a:t>
            </a:r>
            <a:r>
              <a:rPr lang="en-US" dirty="0"/>
              <a:t>, EBX;</a:t>
            </a:r>
          </a:p>
          <a:p>
            <a:endParaRPr lang="en-US" dirty="0"/>
          </a:p>
          <a:p>
            <a:r>
              <a:rPr lang="en-US" dirty="0"/>
              <a:t>//EBX is increased by </a:t>
            </a:r>
            <a:r>
              <a:rPr lang="en-US" dirty="0" smtClean="0"/>
              <a:t>4 </a:t>
            </a:r>
            <a:r>
              <a:rPr lang="en-US" dirty="0"/>
              <a:t>due to </a:t>
            </a:r>
            <a:r>
              <a:rPr lang="en-US" dirty="0" smtClean="0"/>
              <a:t>u32_arr </a:t>
            </a:r>
            <a:r>
              <a:rPr lang="en-US" dirty="0"/>
              <a:t>is an </a:t>
            </a:r>
            <a:r>
              <a:rPr lang="en-US" dirty="0" smtClean="0"/>
              <a:t>unsigned </a:t>
            </a:r>
            <a:r>
              <a:rPr lang="en-US" dirty="0" err="1" smtClean="0"/>
              <a:t>int</a:t>
            </a:r>
            <a:r>
              <a:rPr lang="en-US" dirty="0" smtClean="0"/>
              <a:t> array (4 </a:t>
            </a:r>
            <a:r>
              <a:rPr lang="en-US" dirty="0"/>
              <a:t>bytes)</a:t>
            </a:r>
          </a:p>
          <a:p>
            <a:r>
              <a:rPr lang="en-US" dirty="0"/>
              <a:t>EBX holds the address of  element 1 in the array from the immediate addressing mode.</a:t>
            </a:r>
          </a:p>
          <a:p>
            <a:r>
              <a:rPr lang="en-US" dirty="0"/>
              <a:t>	 MOV ECX, </a:t>
            </a:r>
            <a:r>
              <a:rPr lang="en-US" dirty="0" smtClean="0"/>
              <a:t>4H</a:t>
            </a:r>
            <a:r>
              <a:rPr lang="en-US" dirty="0"/>
              <a:t>; </a:t>
            </a:r>
          </a:p>
          <a:p>
            <a:r>
              <a:rPr lang="en-US" dirty="0"/>
              <a:t>	</a:t>
            </a:r>
            <a:r>
              <a:rPr lang="en-US" dirty="0" smtClean="0"/>
              <a:t> ADD EBX</a:t>
            </a:r>
            <a:r>
              <a:rPr lang="en-US" dirty="0"/>
              <a:t>, ECX;</a:t>
            </a:r>
          </a:p>
          <a:p>
            <a:endParaRPr lang="en-US" dirty="0"/>
          </a:p>
          <a:p>
            <a:r>
              <a:rPr lang="en-US" dirty="0"/>
              <a:t>//u1 holds the retrieved value from the </a:t>
            </a:r>
            <a:r>
              <a:rPr lang="en-US" b="1" dirty="0"/>
              <a:t>indirect addressing  mode</a:t>
            </a:r>
            <a:r>
              <a:rPr lang="en-US" dirty="0"/>
              <a:t> contained</a:t>
            </a:r>
          </a:p>
          <a:p>
            <a:r>
              <a:rPr lang="en-US" dirty="0"/>
              <a:t>in register EBX</a:t>
            </a:r>
          </a:p>
          <a:p>
            <a:r>
              <a:rPr lang="en-US" dirty="0"/>
              <a:t>	 MOV </a:t>
            </a:r>
            <a:r>
              <a:rPr lang="en-US" dirty="0" smtClean="0"/>
              <a:t>EAX</a:t>
            </a:r>
            <a:r>
              <a:rPr lang="en-US" dirty="0"/>
              <a:t>, [EBX];</a:t>
            </a:r>
          </a:p>
          <a:p>
            <a:r>
              <a:rPr lang="en-US" dirty="0"/>
              <a:t>	 MOV u1, </a:t>
            </a:r>
            <a:r>
              <a:rPr lang="en-US" dirty="0" smtClean="0"/>
              <a:t>EAX</a:t>
            </a:r>
            <a:r>
              <a:rPr lang="en-US" dirty="0"/>
              <a:t>;</a:t>
            </a:r>
          </a:p>
          <a:p>
            <a:r>
              <a:rPr lang="en-US" dirty="0"/>
              <a:t>	 MOV u1_addr, EBX;</a:t>
            </a:r>
          </a:p>
          <a:p>
            <a:endParaRPr lang="en-US" dirty="0"/>
          </a:p>
          <a:p>
            <a:r>
              <a:rPr lang="en-US" dirty="0"/>
              <a:t>//EBX + </a:t>
            </a:r>
            <a:r>
              <a:rPr lang="en-US" dirty="0" smtClean="0"/>
              <a:t>4H </a:t>
            </a:r>
            <a:r>
              <a:rPr lang="en-US" dirty="0"/>
              <a:t>holds the address of element 2 in the array </a:t>
            </a:r>
            <a:r>
              <a:rPr lang="en-US" dirty="0" smtClean="0"/>
              <a:t>, </a:t>
            </a:r>
            <a:r>
              <a:rPr lang="en-US" dirty="0"/>
              <a:t>u2 holds the retrieved value from </a:t>
            </a:r>
          </a:p>
          <a:p>
            <a:r>
              <a:rPr lang="en-US" dirty="0"/>
              <a:t>   the </a:t>
            </a:r>
            <a:r>
              <a:rPr lang="en-US" b="1" dirty="0"/>
              <a:t>register relative addressing mode</a:t>
            </a:r>
            <a:r>
              <a:rPr lang="en-US" dirty="0"/>
              <a:t>.</a:t>
            </a:r>
          </a:p>
          <a:p>
            <a:r>
              <a:rPr lang="en-US" dirty="0"/>
              <a:t>	 MOV </a:t>
            </a:r>
            <a:r>
              <a:rPr lang="en-US" dirty="0" smtClean="0"/>
              <a:t>EAX</a:t>
            </a:r>
            <a:r>
              <a:rPr lang="en-US" dirty="0"/>
              <a:t>, [EBX + </a:t>
            </a:r>
            <a:r>
              <a:rPr lang="en-US" dirty="0" smtClean="0"/>
              <a:t>4H</a:t>
            </a:r>
            <a:r>
              <a:rPr lang="en-US" dirty="0"/>
              <a:t>];</a:t>
            </a:r>
          </a:p>
          <a:p>
            <a:r>
              <a:rPr lang="en-US" dirty="0"/>
              <a:t>	 MOV u2, </a:t>
            </a:r>
            <a:r>
              <a:rPr lang="en-US" dirty="0" smtClean="0"/>
              <a:t>EAX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75591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05 EXAMPLE 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5.2 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SUBMISSION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609600"/>
            <a:ext cx="873123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//EDI holds the address of element 2 in the array within </a:t>
            </a:r>
            <a:r>
              <a:rPr lang="en-US" b="1" dirty="0"/>
              <a:t>register addressing mode</a:t>
            </a:r>
            <a:r>
              <a:rPr lang="en-US" dirty="0"/>
              <a:t> </a:t>
            </a:r>
          </a:p>
          <a:p>
            <a:r>
              <a:rPr lang="en-US" dirty="0"/>
              <a:t>	MOV EDI, EBX;</a:t>
            </a:r>
          </a:p>
          <a:p>
            <a:r>
              <a:rPr lang="en-US" dirty="0"/>
              <a:t>	</a:t>
            </a:r>
            <a:r>
              <a:rPr lang="en-US" dirty="0" smtClean="0"/>
              <a:t>ADD </a:t>
            </a:r>
            <a:r>
              <a:rPr lang="en-US" dirty="0"/>
              <a:t>EDI, </a:t>
            </a:r>
            <a:r>
              <a:rPr lang="en-US" dirty="0" smtClean="0"/>
              <a:t>4H</a:t>
            </a:r>
            <a:r>
              <a:rPr lang="en-US" dirty="0"/>
              <a:t>;</a:t>
            </a:r>
          </a:p>
          <a:p>
            <a:r>
              <a:rPr lang="en-US" dirty="0"/>
              <a:t>	MOV u2_addr, EDI;</a:t>
            </a:r>
          </a:p>
          <a:p>
            <a:endParaRPr lang="en-US" dirty="0"/>
          </a:p>
          <a:p>
            <a:r>
              <a:rPr lang="en-US" dirty="0"/>
              <a:t>//EBX + </a:t>
            </a:r>
            <a:r>
              <a:rPr lang="en-US" dirty="0" smtClean="0"/>
              <a:t>8H </a:t>
            </a:r>
            <a:r>
              <a:rPr lang="en-US" dirty="0"/>
              <a:t>holds the address of element 3 in the </a:t>
            </a:r>
            <a:r>
              <a:rPr lang="en-US" dirty="0" smtClean="0"/>
              <a:t>array,  </a:t>
            </a:r>
            <a:r>
              <a:rPr lang="en-US" dirty="0"/>
              <a:t>u3 holds the retrieved value from </a:t>
            </a:r>
          </a:p>
          <a:p>
            <a:r>
              <a:rPr lang="en-US" dirty="0"/>
              <a:t>   the </a:t>
            </a:r>
            <a:r>
              <a:rPr lang="en-US" b="1" dirty="0"/>
              <a:t>register relative addressing mode</a:t>
            </a:r>
          </a:p>
          <a:p>
            <a:r>
              <a:rPr lang="en-US" dirty="0"/>
              <a:t>	MOV </a:t>
            </a:r>
            <a:r>
              <a:rPr lang="en-US" dirty="0" smtClean="0"/>
              <a:t>EAX</a:t>
            </a:r>
            <a:r>
              <a:rPr lang="en-US" dirty="0"/>
              <a:t>, [EBX + </a:t>
            </a:r>
            <a:r>
              <a:rPr lang="en-US" dirty="0" smtClean="0"/>
              <a:t>8H</a:t>
            </a:r>
            <a:r>
              <a:rPr lang="en-US" dirty="0"/>
              <a:t>];</a:t>
            </a:r>
          </a:p>
          <a:p>
            <a:r>
              <a:rPr lang="en-US" dirty="0"/>
              <a:t>	MOV u3, </a:t>
            </a:r>
            <a:r>
              <a:rPr lang="en-US" dirty="0" smtClean="0"/>
              <a:t>EAX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//EDI holds the address of element 3 in the array within </a:t>
            </a:r>
            <a:r>
              <a:rPr lang="en-US" b="1" dirty="0"/>
              <a:t>register addressing mode</a:t>
            </a:r>
          </a:p>
          <a:p>
            <a:r>
              <a:rPr lang="en-US" dirty="0"/>
              <a:t>	 MOV EDI, EBX;</a:t>
            </a:r>
          </a:p>
          <a:p>
            <a:r>
              <a:rPr lang="en-US" dirty="0"/>
              <a:t>	 ADD EDI, </a:t>
            </a:r>
            <a:r>
              <a:rPr lang="en-US" dirty="0" smtClean="0"/>
              <a:t>8H</a:t>
            </a:r>
            <a:r>
              <a:rPr lang="en-US" dirty="0"/>
              <a:t>;</a:t>
            </a:r>
          </a:p>
          <a:p>
            <a:r>
              <a:rPr lang="en-US" dirty="0"/>
              <a:t>	 MOV u3_addr, EDI;</a:t>
            </a:r>
          </a:p>
          <a:p>
            <a:endParaRPr lang="en-US" dirty="0"/>
          </a:p>
          <a:p>
            <a:r>
              <a:rPr lang="en-US" dirty="0"/>
              <a:t>//EBX + </a:t>
            </a:r>
            <a:r>
              <a:rPr lang="en-US" b="1" dirty="0" smtClean="0">
                <a:solidFill>
                  <a:srgbClr val="C00000"/>
                </a:solidFill>
              </a:rPr>
              <a:t>12H</a:t>
            </a:r>
            <a:r>
              <a:rPr lang="en-US" dirty="0" smtClean="0"/>
              <a:t> </a:t>
            </a:r>
            <a:r>
              <a:rPr lang="en-US" dirty="0"/>
              <a:t>holds the address of element 4 in the </a:t>
            </a:r>
            <a:r>
              <a:rPr lang="en-US" dirty="0" smtClean="0"/>
              <a:t>array,  </a:t>
            </a:r>
            <a:r>
              <a:rPr lang="en-US" dirty="0"/>
              <a:t>u4 holds the retrieved value from </a:t>
            </a:r>
          </a:p>
          <a:p>
            <a:r>
              <a:rPr lang="en-US" dirty="0"/>
              <a:t>  the </a:t>
            </a:r>
            <a:r>
              <a:rPr lang="en-US" b="1" dirty="0"/>
              <a:t>register relative addressing mode</a:t>
            </a:r>
          </a:p>
          <a:p>
            <a:r>
              <a:rPr lang="en-US" dirty="0"/>
              <a:t>	 MOV </a:t>
            </a:r>
            <a:r>
              <a:rPr lang="en-US" dirty="0" smtClean="0"/>
              <a:t>EAX</a:t>
            </a:r>
            <a:r>
              <a:rPr lang="en-US" dirty="0"/>
              <a:t>, [EBX +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12H</a:t>
            </a:r>
            <a:r>
              <a:rPr lang="en-US" dirty="0"/>
              <a:t>];</a:t>
            </a:r>
          </a:p>
          <a:p>
            <a:r>
              <a:rPr lang="en-US" dirty="0"/>
              <a:t>	 MOV u4, </a:t>
            </a:r>
            <a:r>
              <a:rPr lang="en-US" dirty="0" smtClean="0"/>
              <a:t>EAX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52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730508"/>
            <a:ext cx="862761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DATA: 	  </a:t>
            </a: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(OPERAND DESTINATION), (OPERAND SOURCE)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                SOURCE</a:t>
            </a:r>
          </a:p>
          <a:p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operand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EBX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 operand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</a:p>
          <a:p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same way when using 8-bits and 16-bits registers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operands.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124200" y="2286000"/>
            <a:ext cx="1219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-27709" y="0"/>
            <a:ext cx="919941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 INSTRUCTIONS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38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" y="783134"/>
            <a:ext cx="9208675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DATA: 	  </a:t>
            </a: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EAX, J</a:t>
            </a:r>
          </a:p>
          <a:p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MOV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AX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‘A’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(OPERAND DESTINATION), (OPERAND SOURCE)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                SOURCE</a:t>
            </a:r>
          </a:p>
          <a:p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MEMORY variable J to an operand destination </a:t>
            </a: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EAX register.</a:t>
            </a:r>
          </a:p>
          <a:p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ource MEMORY character ‘A’ to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destination </a:t>
            </a:r>
            <a:endParaRPr lang="en-US" sz="28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EAX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lang="en-US" sz="2800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895600" y="2819400"/>
            <a:ext cx="1219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-27709" y="0"/>
            <a:ext cx="919941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 INSTRUCTIONS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27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783134"/>
            <a:ext cx="9129551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DATA: 	 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EAX, [EBX]</a:t>
            </a:r>
          </a:p>
          <a:p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EAX, [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EBX +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10H]</a:t>
            </a:r>
            <a:endParaRPr lang="en-US" sz="2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EBX, 34</a:t>
            </a:r>
          </a:p>
          <a:p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(OPERAND DESTINATION), (OPERAND SOURCE)</a:t>
            </a:r>
          </a:p>
          <a:p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                             SOURCE</a:t>
            </a:r>
          </a:p>
          <a:p>
            <a:endParaRPr lang="en-US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copies an operand source  DATA MEMORY  </a:t>
            </a:r>
          </a:p>
          <a:p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ADDRESS 32-bits EBX register to an operand destination 32-bit EAX </a:t>
            </a:r>
          </a:p>
          <a:p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</a:p>
          <a:p>
            <a:endParaRPr lang="en-US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copies an operand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  <a:p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ADDRESS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32-bits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EBX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DISPLACED 10H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operand </a:t>
            </a:r>
          </a:p>
          <a:p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lang="en-US" sz="2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Mnemonic MOV instruction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endParaRPr lang="en-US" sz="2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34 to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operand destination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EBX 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lang="en-US" sz="2200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971800" y="2362200"/>
            <a:ext cx="1219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-27709" y="0"/>
            <a:ext cx="919941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 INSTRUCTIONS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72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05 EXAMPLE 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5.2 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SUBMISSION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609600"/>
            <a:ext cx="891449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//</a:t>
            </a:r>
            <a:r>
              <a:rPr lang="en-US" dirty="0"/>
              <a:t>EBX + </a:t>
            </a:r>
            <a:r>
              <a:rPr lang="en-US" b="1" dirty="0">
                <a:solidFill>
                  <a:srgbClr val="C00000"/>
                </a:solidFill>
              </a:rPr>
              <a:t>8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 </a:t>
            </a:r>
            <a:r>
              <a:rPr lang="en-US" dirty="0"/>
              <a:t>holds the address of element 3 in the </a:t>
            </a:r>
            <a:r>
              <a:rPr lang="en-US" dirty="0" smtClean="0"/>
              <a:t>array,  </a:t>
            </a:r>
            <a:r>
              <a:rPr lang="en-US" dirty="0"/>
              <a:t>u3 holds the retrieved value from </a:t>
            </a:r>
          </a:p>
          <a:p>
            <a:r>
              <a:rPr lang="en-US" dirty="0"/>
              <a:t>   the </a:t>
            </a:r>
            <a:r>
              <a:rPr lang="en-US" b="1" dirty="0"/>
              <a:t>register relative addressing mode</a:t>
            </a:r>
          </a:p>
          <a:p>
            <a:r>
              <a:rPr lang="en-US" dirty="0"/>
              <a:t>	</a:t>
            </a:r>
            <a:r>
              <a:rPr lang="en-US" b="1" dirty="0"/>
              <a:t>MOV </a:t>
            </a:r>
            <a:r>
              <a:rPr lang="en-US" b="1" dirty="0" smtClean="0"/>
              <a:t>EAX</a:t>
            </a:r>
            <a:r>
              <a:rPr lang="en-US" b="1" dirty="0"/>
              <a:t>, [EBX + </a:t>
            </a:r>
            <a:r>
              <a:rPr lang="en-US" b="1" dirty="0" smtClean="0"/>
              <a:t>8H</a:t>
            </a:r>
            <a:r>
              <a:rPr lang="en-US" b="1" dirty="0" smtClean="0"/>
              <a:t>]</a:t>
            </a:r>
            <a:r>
              <a:rPr lang="en-US" dirty="0" smtClean="0"/>
              <a:t>;</a:t>
            </a:r>
            <a:r>
              <a:rPr lang="en-US" b="1" dirty="0"/>
              <a:t> MOV EAX, </a:t>
            </a:r>
            <a:endParaRPr lang="en-US" dirty="0"/>
          </a:p>
          <a:p>
            <a:r>
              <a:rPr lang="en-US" dirty="0"/>
              <a:t>	MOV u3, </a:t>
            </a:r>
            <a:r>
              <a:rPr lang="en-US" dirty="0" smtClean="0"/>
              <a:t>EAX</a:t>
            </a:r>
            <a:r>
              <a:rPr lang="en-US" dirty="0"/>
              <a:t>;</a:t>
            </a:r>
          </a:p>
          <a:p>
            <a:endParaRPr lang="en-US" dirty="0" smtClean="0"/>
          </a:p>
          <a:p>
            <a:r>
              <a:rPr lang="es-CO" b="1" dirty="0"/>
              <a:t>ASSUMING DATA IN POSITION GIVEN:</a:t>
            </a:r>
          </a:p>
          <a:p>
            <a:r>
              <a:rPr lang="es-CO" b="1" dirty="0"/>
              <a:t>0xFFFF7FF3  </a:t>
            </a:r>
            <a:r>
              <a:rPr lang="es-CO" b="1" dirty="0">
                <a:solidFill>
                  <a:srgbClr val="C00000"/>
                </a:solidFill>
              </a:rPr>
              <a:t>AF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23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AC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6D 11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00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CA</a:t>
            </a:r>
            <a:r>
              <a:rPr lang="es-CO" b="1" dirty="0"/>
              <a:t>  .......</a:t>
            </a:r>
          </a:p>
          <a:p>
            <a:r>
              <a:rPr lang="es-CO" b="1" dirty="0"/>
              <a:t>0xFFFF7FFA  ?? ?? ?? ?? ?? ?? ??  .......</a:t>
            </a:r>
          </a:p>
          <a:p>
            <a:r>
              <a:rPr lang="es-CO" b="1" dirty="0"/>
              <a:t>0xFFFF8001  ?? ?? ?? ?? ?? ?? ??  .......</a:t>
            </a:r>
          </a:p>
          <a:p>
            <a:r>
              <a:rPr lang="es-CO" b="1" dirty="0"/>
              <a:t>0xFFFF8008  ?? ?? ?? ?? ?? ?? ??  .......</a:t>
            </a:r>
          </a:p>
          <a:p>
            <a:r>
              <a:rPr lang="es-CO" b="1" dirty="0"/>
              <a:t>0xFFFF800F  ?? ?? ?? ?? ?? ?? ??  .......</a:t>
            </a:r>
          </a:p>
          <a:p>
            <a:r>
              <a:rPr lang="es-CO" b="1" dirty="0"/>
              <a:t>0xFFFF8016  ?? ?? ?? ?? ?? ?? ??  .......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EXAMPLE:</a:t>
            </a:r>
            <a:r>
              <a:rPr lang="en-US" b="1" dirty="0" smtClean="0"/>
              <a:t> </a:t>
            </a:r>
            <a:r>
              <a:rPr lang="en-US" b="1" dirty="0"/>
              <a:t>MOV EAX, [EBX + 8H</a:t>
            </a:r>
            <a:r>
              <a:rPr lang="en-US" b="1" dirty="0" smtClean="0"/>
              <a:t>]</a:t>
            </a:r>
            <a:r>
              <a:rPr lang="en-US" dirty="0" smtClean="0"/>
              <a:t> ASSUMING FROM PREVIOUS SLICE  THAT THE ADDRESS FOR </a:t>
            </a:r>
          </a:p>
          <a:p>
            <a:r>
              <a:rPr lang="en-US" dirty="0" smtClean="0"/>
              <a:t>                   EBX IS </a:t>
            </a:r>
            <a:r>
              <a:rPr lang="en-US" b="1" dirty="0" smtClean="0"/>
              <a:t>  </a:t>
            </a:r>
            <a:r>
              <a:rPr lang="es-CO" b="1" dirty="0" smtClean="0"/>
              <a:t>0xFFFF7FF3 </a:t>
            </a:r>
            <a:r>
              <a:rPr lang="es-CO" dirty="0" smtClean="0"/>
              <a:t>THEN ADDING</a:t>
            </a:r>
            <a:r>
              <a:rPr lang="es-CO" b="1" dirty="0" smtClean="0"/>
              <a:t> 8 TO THE LEAST </a:t>
            </a:r>
            <a:r>
              <a:rPr lang="es-CO" b="1" dirty="0" smtClean="0"/>
              <a:t>SIGNIFICANT </a:t>
            </a:r>
            <a:r>
              <a:rPr lang="es-CO" b="1" dirty="0" smtClean="0"/>
              <a:t>NIBLLE </a:t>
            </a:r>
            <a:r>
              <a:rPr lang="es-CO" dirty="0" smtClean="0"/>
              <a:t>WOULD </a:t>
            </a:r>
          </a:p>
          <a:p>
            <a:r>
              <a:rPr lang="es-CO" dirty="0"/>
              <a:t> </a:t>
            </a:r>
            <a:r>
              <a:rPr lang="es-CO" dirty="0" smtClean="0"/>
              <a:t>                  BE</a:t>
            </a:r>
            <a:r>
              <a:rPr lang="es-CO" b="1" dirty="0" smtClean="0"/>
              <a:t> 3 + 8=11</a:t>
            </a:r>
            <a:r>
              <a:rPr lang="es-CO" dirty="0" smtClean="0"/>
              <a:t>, BUT 11 IN HEXADECIMAL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 B </a:t>
            </a:r>
            <a:r>
              <a:rPr lang="en-US" b="1" dirty="0" smtClean="0"/>
              <a:t>THE NEW ADDRESS FOR THE NEW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LOCATION DATA WOULD BE </a:t>
            </a:r>
            <a:r>
              <a:rPr lang="es-CO" b="1" dirty="0" smtClean="0"/>
              <a:t>0xFFFF7FF</a:t>
            </a:r>
            <a:r>
              <a:rPr lang="es-CO" b="1" dirty="0" smtClean="0">
                <a:solidFill>
                  <a:srgbClr val="C00000"/>
                </a:solidFill>
              </a:rPr>
              <a:t>B </a:t>
            </a:r>
            <a:r>
              <a:rPr lang="es-CO" b="1" dirty="0" smtClean="0"/>
              <a:t>THEREFORE THE DATA IS </a:t>
            </a:r>
            <a:r>
              <a:rPr lang="es-CO" b="1" dirty="0" smtClean="0">
                <a:solidFill>
                  <a:srgbClr val="C00000"/>
                </a:solidFill>
              </a:rPr>
              <a:t>23</a:t>
            </a:r>
            <a:r>
              <a:rPr lang="es-CO" b="1" dirty="0" smtClean="0"/>
              <a:t>.</a:t>
            </a:r>
          </a:p>
          <a:p>
            <a:r>
              <a:rPr lang="es-CO" b="1" dirty="0" smtClean="0"/>
              <a:t>                   </a:t>
            </a:r>
            <a:r>
              <a:rPr lang="es-CO" b="1" dirty="0"/>
              <a:t>0xFFFF7FF3  </a:t>
            </a:r>
            <a:r>
              <a:rPr lang="es-CO" b="1" dirty="0">
                <a:solidFill>
                  <a:srgbClr val="C00000"/>
                </a:solidFill>
              </a:rPr>
              <a:t>AF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23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AC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6D 11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00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CA</a:t>
            </a:r>
            <a:r>
              <a:rPr lang="es-CO" b="1" dirty="0"/>
              <a:t>  </a:t>
            </a:r>
            <a:r>
              <a:rPr lang="es-CO" b="1" dirty="0" smtClean="0"/>
              <a:t>...... SO </a:t>
            </a:r>
            <a:r>
              <a:rPr lang="es-CO" b="1" dirty="0">
                <a:solidFill>
                  <a:srgbClr val="C00000"/>
                </a:solidFill>
              </a:rPr>
              <a:t>EAX = </a:t>
            </a:r>
            <a:r>
              <a:rPr lang="es-CO" b="1" dirty="0" smtClean="0">
                <a:solidFill>
                  <a:srgbClr val="C00000"/>
                </a:solidFill>
              </a:rPr>
              <a:t>23.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90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05 EXAMPLE 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5.2 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SUBMISSION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609600"/>
            <a:ext cx="914795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//</a:t>
            </a:r>
            <a:r>
              <a:rPr lang="en-US" dirty="0"/>
              <a:t>EBX + </a:t>
            </a:r>
            <a:r>
              <a:rPr lang="en-US" b="1" dirty="0" smtClean="0">
                <a:solidFill>
                  <a:srgbClr val="C00000"/>
                </a:solidFill>
              </a:rPr>
              <a:t>15H</a:t>
            </a:r>
            <a:r>
              <a:rPr lang="en-US" dirty="0" smtClean="0"/>
              <a:t> </a:t>
            </a:r>
            <a:r>
              <a:rPr lang="en-US" dirty="0"/>
              <a:t>holds the address of element 4 in the </a:t>
            </a:r>
            <a:r>
              <a:rPr lang="en-US" dirty="0" smtClean="0"/>
              <a:t>array,  </a:t>
            </a:r>
            <a:r>
              <a:rPr lang="en-US" dirty="0"/>
              <a:t>u4 holds the retrieved value from </a:t>
            </a:r>
          </a:p>
          <a:p>
            <a:r>
              <a:rPr lang="en-US" dirty="0"/>
              <a:t>  the </a:t>
            </a:r>
            <a:r>
              <a:rPr lang="en-US" b="1" dirty="0"/>
              <a:t>register relative addressing mode</a:t>
            </a:r>
          </a:p>
          <a:p>
            <a:r>
              <a:rPr lang="en-US" dirty="0"/>
              <a:t>	 MOV AX, [EBX +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15H</a:t>
            </a:r>
            <a:r>
              <a:rPr lang="en-US" dirty="0"/>
              <a:t>];</a:t>
            </a:r>
          </a:p>
          <a:p>
            <a:r>
              <a:rPr lang="en-US" dirty="0"/>
              <a:t>	 MOV u4, </a:t>
            </a:r>
            <a:r>
              <a:rPr lang="en-US" dirty="0" smtClean="0"/>
              <a:t>EAX;</a:t>
            </a:r>
          </a:p>
          <a:p>
            <a:endParaRPr lang="en-US" dirty="0"/>
          </a:p>
          <a:p>
            <a:r>
              <a:rPr lang="es-CO" b="1" dirty="0"/>
              <a:t>ASSUMING DATA IN POSITION GIVEN:</a:t>
            </a:r>
          </a:p>
          <a:p>
            <a:r>
              <a:rPr lang="es-CO" b="1" dirty="0"/>
              <a:t>0xFFFF7FF3  </a:t>
            </a:r>
            <a:r>
              <a:rPr lang="es-CO" b="1" dirty="0">
                <a:solidFill>
                  <a:srgbClr val="C00000"/>
                </a:solidFill>
              </a:rPr>
              <a:t>AF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23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AC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6D 11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00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CA</a:t>
            </a:r>
            <a:r>
              <a:rPr lang="es-CO" b="1" dirty="0"/>
              <a:t> .................................... </a:t>
            </a:r>
            <a:r>
              <a:rPr lang="es-CO" b="1" dirty="0" smtClean="0">
                <a:solidFill>
                  <a:srgbClr val="C00000"/>
                </a:solidFill>
              </a:rPr>
              <a:t>56(</a:t>
            </a:r>
            <a:r>
              <a:rPr lang="es-CO" b="1" dirty="0" smtClean="0"/>
              <a:t>0xFFFF800</a:t>
            </a:r>
            <a:r>
              <a:rPr lang="es-CO" b="1" dirty="0" smtClean="0">
                <a:solidFill>
                  <a:srgbClr val="C00000"/>
                </a:solidFill>
              </a:rPr>
              <a:t>2)</a:t>
            </a:r>
            <a:endParaRPr lang="es-CO" b="1" dirty="0"/>
          </a:p>
          <a:p>
            <a:r>
              <a:rPr lang="es-CO" b="1" dirty="0"/>
              <a:t>0xFFFF7FFA  ?? ?? ?? ?? ?? ?? ??  .......</a:t>
            </a:r>
          </a:p>
          <a:p>
            <a:r>
              <a:rPr lang="es-CO" b="1" dirty="0"/>
              <a:t>0xFFFF8001  ?? ?? ?? ?? ?? ?? ??  .......</a:t>
            </a:r>
          </a:p>
          <a:p>
            <a:r>
              <a:rPr lang="es-CO" b="1" dirty="0"/>
              <a:t>0xFFFF8008  ?? ?? ?? ?? ?? ?? ??  .......</a:t>
            </a:r>
          </a:p>
          <a:p>
            <a:r>
              <a:rPr lang="es-CO" b="1" dirty="0"/>
              <a:t>0xFFFF800F  ?? ?? ?? ?? ?? ?? ??  .......</a:t>
            </a:r>
          </a:p>
          <a:p>
            <a:r>
              <a:rPr lang="es-CO" b="1" dirty="0"/>
              <a:t>0xFFFF8016  ?? ?? ?? ?? ?? ?? ??  .......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EXAMPLE:</a:t>
            </a:r>
            <a:r>
              <a:rPr lang="en-US" b="1" dirty="0" smtClean="0"/>
              <a:t> </a:t>
            </a:r>
            <a:r>
              <a:rPr lang="en-US" b="1" dirty="0"/>
              <a:t>MOV EAX, [EBX + </a:t>
            </a:r>
            <a:r>
              <a:rPr lang="en-US" b="1" dirty="0" smtClean="0"/>
              <a:t>15H]</a:t>
            </a:r>
            <a:r>
              <a:rPr lang="en-US" dirty="0" smtClean="0"/>
              <a:t> ASSUMING FROM PREVIOUS SLICE  THAT THE ADDRESS FOR </a:t>
            </a:r>
          </a:p>
          <a:p>
            <a:r>
              <a:rPr lang="en-US" dirty="0" smtClean="0"/>
              <a:t>                   EBX IS </a:t>
            </a:r>
            <a:r>
              <a:rPr lang="en-US" b="1" dirty="0" smtClean="0"/>
              <a:t>  </a:t>
            </a:r>
            <a:r>
              <a:rPr lang="es-CO" b="1" dirty="0" smtClean="0"/>
              <a:t>0xFFFF7FF3 </a:t>
            </a:r>
            <a:r>
              <a:rPr lang="es-CO" dirty="0" smtClean="0"/>
              <a:t>THEN ADDING</a:t>
            </a:r>
            <a:r>
              <a:rPr lang="es-CO" b="1" dirty="0" smtClean="0"/>
              <a:t> 15 TO THE LEAST SIGNIFICANT NIBLLE </a:t>
            </a:r>
            <a:r>
              <a:rPr lang="es-CO" dirty="0" smtClean="0"/>
              <a:t>WOULD </a:t>
            </a:r>
          </a:p>
          <a:p>
            <a:r>
              <a:rPr lang="es-CO" dirty="0"/>
              <a:t> </a:t>
            </a:r>
            <a:r>
              <a:rPr lang="es-CO" dirty="0" smtClean="0"/>
              <a:t>                  BE</a:t>
            </a:r>
            <a:r>
              <a:rPr lang="es-CO" b="1" dirty="0" smtClean="0"/>
              <a:t> </a:t>
            </a:r>
            <a:r>
              <a:rPr lang="es-CO" b="1" dirty="0" smtClean="0"/>
              <a:t>3+15=18</a:t>
            </a:r>
            <a:r>
              <a:rPr lang="es-CO" dirty="0" smtClean="0"/>
              <a:t>, BUT 18 IN HEXADECIMAL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 18 -16 = 2 CARRY ONE </a:t>
            </a:r>
            <a:r>
              <a:rPr lang="en-US" b="1" dirty="0" smtClean="0"/>
              <a:t>THE NEW ADDRESS 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FOR THE NEW  LOCATION DATA WOULD BE </a:t>
            </a:r>
            <a:r>
              <a:rPr lang="es-CO" b="1" dirty="0" smtClean="0"/>
              <a:t>0xFFFF800</a:t>
            </a:r>
            <a:r>
              <a:rPr lang="es-CO" b="1" dirty="0" smtClean="0">
                <a:solidFill>
                  <a:srgbClr val="C00000"/>
                </a:solidFill>
              </a:rPr>
              <a:t>2 </a:t>
            </a:r>
            <a:r>
              <a:rPr lang="es-CO" b="1" dirty="0" smtClean="0"/>
              <a:t>THEREFORE THE DATA IS </a:t>
            </a:r>
            <a:r>
              <a:rPr lang="es-CO" b="1" dirty="0" smtClean="0">
                <a:solidFill>
                  <a:srgbClr val="C00000"/>
                </a:solidFill>
              </a:rPr>
              <a:t>56</a:t>
            </a:r>
            <a:r>
              <a:rPr lang="es-CO" b="1" dirty="0" smtClean="0"/>
              <a:t>.</a:t>
            </a:r>
          </a:p>
          <a:p>
            <a:r>
              <a:rPr lang="es-CO" b="1" dirty="0" smtClean="0"/>
              <a:t>                   </a:t>
            </a:r>
            <a:r>
              <a:rPr lang="es-CO" b="1" dirty="0"/>
              <a:t>0xFFFF7FF3  </a:t>
            </a:r>
            <a:r>
              <a:rPr lang="es-CO" b="1" dirty="0">
                <a:solidFill>
                  <a:srgbClr val="C00000"/>
                </a:solidFill>
              </a:rPr>
              <a:t>AF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23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AC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6D 11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00</a:t>
            </a:r>
            <a:r>
              <a:rPr lang="es-CO" b="1" dirty="0"/>
              <a:t> </a:t>
            </a:r>
            <a:r>
              <a:rPr lang="es-CO" b="1" dirty="0">
                <a:solidFill>
                  <a:srgbClr val="C00000"/>
                </a:solidFill>
              </a:rPr>
              <a:t>CA</a:t>
            </a:r>
            <a:r>
              <a:rPr lang="es-CO" b="1" dirty="0"/>
              <a:t>  </a:t>
            </a:r>
            <a:r>
              <a:rPr lang="es-CO" b="1" dirty="0" smtClean="0"/>
              <a:t>.................................... </a:t>
            </a:r>
            <a:r>
              <a:rPr lang="es-CO" b="1" dirty="0" smtClean="0">
                <a:solidFill>
                  <a:srgbClr val="C00000"/>
                </a:solidFill>
              </a:rPr>
              <a:t>56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21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05 EXAMPLE 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5.2 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SUBMISSION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609600"/>
            <a:ext cx="774179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MOV </a:t>
            </a:r>
            <a:r>
              <a:rPr lang="en-US" b="1" dirty="0">
                <a:solidFill>
                  <a:srgbClr val="C00000"/>
                </a:solidFill>
              </a:rPr>
              <a:t>EBX, </a:t>
            </a:r>
            <a:r>
              <a:rPr lang="en-US" b="1" dirty="0" err="1">
                <a:solidFill>
                  <a:srgbClr val="C00000"/>
                </a:solidFill>
              </a:rPr>
              <a:t>uPtr</a:t>
            </a:r>
            <a:r>
              <a:rPr lang="en-US" b="1" dirty="0">
                <a:solidFill>
                  <a:srgbClr val="C00000"/>
                </a:solidFill>
              </a:rPr>
              <a:t>;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 you must use this for 16-bits</a:t>
            </a:r>
            <a:r>
              <a:rPr lang="en-US" dirty="0">
                <a:solidFill>
                  <a:srgbClr val="C00000"/>
                </a:solidFill>
              </a:rPr>
              <a:t> .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MOV </a:t>
            </a:r>
            <a:r>
              <a:rPr lang="en-US" b="1" dirty="0">
                <a:solidFill>
                  <a:srgbClr val="C00000"/>
                </a:solidFill>
              </a:rPr>
              <a:t>BX, </a:t>
            </a:r>
            <a:r>
              <a:rPr lang="en-US" b="1" dirty="0" err="1">
                <a:solidFill>
                  <a:srgbClr val="C00000"/>
                </a:solidFill>
              </a:rPr>
              <a:t>uPtr</a:t>
            </a:r>
            <a:r>
              <a:rPr lang="en-US" b="1" dirty="0">
                <a:solidFill>
                  <a:srgbClr val="C00000"/>
                </a:solidFill>
              </a:rPr>
              <a:t>;   for 16-bit creates size </a:t>
            </a:r>
            <a:r>
              <a:rPr lang="en-US" b="1" dirty="0" smtClean="0">
                <a:solidFill>
                  <a:srgbClr val="C00000"/>
                </a:solidFill>
              </a:rPr>
              <a:t>conflict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NOTE: As you can see  this is for a 16-bit register, but I cannot change the 32-bit</a:t>
            </a:r>
          </a:p>
          <a:p>
            <a:r>
              <a:rPr lang="en-US" b="1" dirty="0">
                <a:solidFill>
                  <a:srgbClr val="C00000"/>
                </a:solidFill>
              </a:rPr>
              <a:t>            registers  EBX, ECX, EDI by BX, CX, DI due to when the program runs </a:t>
            </a:r>
          </a:p>
          <a:p>
            <a:r>
              <a:rPr lang="en-US" b="1" dirty="0">
                <a:solidFill>
                  <a:srgbClr val="C00000"/>
                </a:solidFill>
              </a:rPr>
              <a:t>            MOV BX, </a:t>
            </a:r>
            <a:r>
              <a:rPr lang="en-US" b="1" dirty="0" err="1">
                <a:solidFill>
                  <a:srgbClr val="C00000"/>
                </a:solidFill>
              </a:rPr>
              <a:t>uPtr</a:t>
            </a:r>
            <a:r>
              <a:rPr lang="en-US" b="1" dirty="0">
                <a:solidFill>
                  <a:srgbClr val="C00000"/>
                </a:solidFill>
              </a:rPr>
              <a:t> will  detect a conflict in size.</a:t>
            </a:r>
            <a:r>
              <a:rPr lang="en-US" dirty="0" smtClean="0"/>
              <a:t>  </a:t>
            </a:r>
            <a:endParaRPr lang="en-US" dirty="0"/>
          </a:p>
          <a:p>
            <a:endParaRPr lang="en-US" dirty="0"/>
          </a:p>
          <a:p>
            <a:r>
              <a:rPr lang="en-US" dirty="0"/>
              <a:t>HEADERS TO USE:</a:t>
            </a:r>
          </a:p>
          <a:p>
            <a:r>
              <a:rPr lang="en-US" dirty="0"/>
              <a:t>		#include "</a:t>
            </a:r>
            <a:r>
              <a:rPr lang="en-US" dirty="0" err="1" smtClean="0"/>
              <a:t>stdafx.h</a:t>
            </a:r>
            <a:r>
              <a:rPr lang="en-US" dirty="0" smtClean="0"/>
              <a:t>“  In some version this is not needed.</a:t>
            </a:r>
            <a:endParaRPr lang="en-US" dirty="0"/>
          </a:p>
          <a:p>
            <a:r>
              <a:rPr lang="en-US" dirty="0"/>
              <a:t>		#include &lt;</a:t>
            </a:r>
            <a:r>
              <a:rPr lang="en-US" dirty="0" err="1"/>
              <a:t>stdio.h</a:t>
            </a:r>
            <a:r>
              <a:rPr lang="en-US" dirty="0" smtClean="0"/>
              <a:t>&gt;    This probably not needed.</a:t>
            </a:r>
            <a:endParaRPr lang="en-US" dirty="0"/>
          </a:p>
          <a:p>
            <a:r>
              <a:rPr lang="en-US" dirty="0"/>
              <a:t>		#include &lt;</a:t>
            </a:r>
            <a:r>
              <a:rPr lang="en-US" dirty="0" err="1"/>
              <a:t>iostream</a:t>
            </a:r>
            <a:r>
              <a:rPr lang="en-US" dirty="0" smtClean="0"/>
              <a:t>&gt; This is needed.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855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762000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05 EXAMPLE  5.2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UNSIGNED 32-BITS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SUBMISSION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2229683"/>
            <a:ext cx="838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// For unsigned data 32-bit 	</a:t>
            </a:r>
          </a:p>
          <a:p>
            <a:r>
              <a:rPr lang="en-US" b="1" dirty="0" err="1"/>
              <a:t>const</a:t>
            </a:r>
            <a:r>
              <a:rPr lang="en-US" b="1" dirty="0"/>
              <a:t> </a:t>
            </a:r>
            <a:r>
              <a:rPr lang="en-US" b="1" dirty="0" err="1"/>
              <a:t>int</a:t>
            </a:r>
            <a:r>
              <a:rPr lang="en-US" b="1" dirty="0"/>
              <a:t> n = 5; </a:t>
            </a:r>
          </a:p>
          <a:p>
            <a:r>
              <a:rPr lang="en-US" b="1" dirty="0"/>
              <a:t>unsigned </a:t>
            </a:r>
            <a:r>
              <a:rPr lang="en-US" b="1" dirty="0" err="1"/>
              <a:t>int</a:t>
            </a:r>
            <a:r>
              <a:rPr lang="en-US" b="1" dirty="0"/>
              <a:t> u32_arr[n] = { 0x00000041, 0x00000052, 0xabcd1169, '1234', '</a:t>
            </a:r>
            <a:r>
              <a:rPr lang="en-US" b="1" dirty="0" err="1"/>
              <a:t>aABc</a:t>
            </a:r>
            <a:r>
              <a:rPr lang="en-US" b="1" dirty="0"/>
              <a:t>' }; </a:t>
            </a:r>
          </a:p>
          <a:p>
            <a:r>
              <a:rPr lang="en-US" b="1" dirty="0"/>
              <a:t>unsigned </a:t>
            </a:r>
            <a:r>
              <a:rPr lang="en-US" b="1" dirty="0" err="1"/>
              <a:t>int</a:t>
            </a:r>
            <a:r>
              <a:rPr lang="en-US" b="1" dirty="0"/>
              <a:t> u0, u1, u2, u3, u4;</a:t>
            </a:r>
          </a:p>
          <a:p>
            <a:r>
              <a:rPr lang="en-US" b="1" dirty="0"/>
              <a:t>unsigned </a:t>
            </a:r>
            <a:r>
              <a:rPr lang="en-US" b="1" dirty="0" err="1"/>
              <a:t>int</a:t>
            </a:r>
            <a:r>
              <a:rPr lang="en-US" b="1" dirty="0"/>
              <a:t> *</a:t>
            </a:r>
            <a:r>
              <a:rPr lang="en-US" b="1" dirty="0" err="1"/>
              <a:t>uPtr</a:t>
            </a:r>
            <a:r>
              <a:rPr lang="en-US" b="1" dirty="0"/>
              <a:t>;</a:t>
            </a:r>
          </a:p>
          <a:p>
            <a:r>
              <a:rPr lang="en-US" b="1" dirty="0" err="1"/>
              <a:t>int</a:t>
            </a:r>
            <a:r>
              <a:rPr lang="en-US" b="1" dirty="0"/>
              <a:t> u0_addr, u1_addr, u2_addr, u3_addr, u4_addr;</a:t>
            </a:r>
          </a:p>
          <a:p>
            <a:r>
              <a:rPr lang="en-US" b="1" dirty="0" err="1"/>
              <a:t>int</a:t>
            </a:r>
            <a:r>
              <a:rPr lang="en-US" b="1" dirty="0"/>
              <a:t> i;   </a:t>
            </a:r>
            <a:r>
              <a:rPr lang="en-US" b="1" dirty="0" smtClean="0"/>
              <a:t> </a:t>
            </a:r>
            <a:r>
              <a:rPr lang="en-US" dirty="0" smtClean="0"/>
              <a:t>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755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812800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No 05 EXAMPLE  5.2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SIGNED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32-BITS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SUBMISSION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2278082"/>
            <a:ext cx="80645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// For signed data 	32-bit</a:t>
            </a:r>
          </a:p>
          <a:p>
            <a:r>
              <a:rPr lang="en-US" b="1" dirty="0" err="1"/>
              <a:t>const</a:t>
            </a:r>
            <a:r>
              <a:rPr lang="en-US" b="1" dirty="0"/>
              <a:t> </a:t>
            </a:r>
            <a:r>
              <a:rPr lang="en-US" b="1" dirty="0" err="1"/>
              <a:t>int</a:t>
            </a:r>
            <a:r>
              <a:rPr lang="en-US" b="1" dirty="0"/>
              <a:t> n = 5; </a:t>
            </a:r>
          </a:p>
          <a:p>
            <a:r>
              <a:rPr lang="en-US" b="1" dirty="0"/>
              <a:t>signed </a:t>
            </a:r>
            <a:r>
              <a:rPr lang="en-US" b="1" dirty="0" err="1"/>
              <a:t>int</a:t>
            </a:r>
            <a:r>
              <a:rPr lang="en-US" b="1" dirty="0"/>
              <a:t> i32_arr[n] = { 0x00000041, 0x00000052, 0xabcd1169, '1234', '</a:t>
            </a:r>
            <a:r>
              <a:rPr lang="en-US" b="1" dirty="0" err="1"/>
              <a:t>aABc</a:t>
            </a:r>
            <a:r>
              <a:rPr lang="en-US" b="1" dirty="0"/>
              <a:t>' }; </a:t>
            </a:r>
          </a:p>
          <a:p>
            <a:r>
              <a:rPr lang="en-US" b="1" dirty="0"/>
              <a:t>signed </a:t>
            </a:r>
            <a:r>
              <a:rPr lang="en-US" b="1" dirty="0" err="1"/>
              <a:t>int</a:t>
            </a:r>
            <a:r>
              <a:rPr lang="en-US" b="1" dirty="0"/>
              <a:t> i0, i1, i2, i3, i4;</a:t>
            </a:r>
          </a:p>
          <a:p>
            <a:r>
              <a:rPr lang="en-US" b="1" dirty="0"/>
              <a:t>signed </a:t>
            </a:r>
            <a:r>
              <a:rPr lang="en-US" b="1" dirty="0" err="1"/>
              <a:t>int</a:t>
            </a:r>
            <a:r>
              <a:rPr lang="en-US" b="1" dirty="0"/>
              <a:t> *</a:t>
            </a:r>
            <a:r>
              <a:rPr lang="en-US" b="1" dirty="0" err="1"/>
              <a:t>iPtr</a:t>
            </a:r>
            <a:r>
              <a:rPr lang="en-US" b="1" dirty="0"/>
              <a:t>;</a:t>
            </a:r>
          </a:p>
          <a:p>
            <a:r>
              <a:rPr lang="en-US" b="1" dirty="0" err="1"/>
              <a:t>int</a:t>
            </a:r>
            <a:r>
              <a:rPr lang="en-US" b="1" dirty="0"/>
              <a:t> i0_addr, i1_addr, i2_addr, i3_addr, i4_addr;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689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125" y="76200"/>
            <a:ext cx="9029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FLOWCHART  FOR THE  EXAMPLE 5.2 FOR 32-BITS UNSIGNED AND SIGNED NUMBES</a:t>
            </a:r>
            <a:endParaRPr lang="en-US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EAF1CEE1-4C5E-4423-A72F-B1E7323FB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83" y="533400"/>
            <a:ext cx="7902717" cy="624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75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27709" y="0"/>
            <a:ext cx="9199418" cy="723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5.2 FOR 32-BITS UNSIGNED AND SIGNED ARRAY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ONLY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DIRECT ADDRESSING MODE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7215188" y="1828800"/>
            <a:ext cx="155448" cy="1600200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490460" y="2118360"/>
            <a:ext cx="1383712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Output from</a:t>
            </a:r>
          </a:p>
          <a:p>
            <a:r>
              <a:rPr lang="en-US" dirty="0"/>
              <a:t>5.1 unsigned</a:t>
            </a:r>
          </a:p>
        </p:txBody>
      </p:sp>
      <p:sp>
        <p:nvSpPr>
          <p:cNvPr id="6" name="Right Brace 5"/>
          <p:cNvSpPr/>
          <p:nvPr/>
        </p:nvSpPr>
        <p:spPr>
          <a:xfrm>
            <a:off x="7239000" y="3505200"/>
            <a:ext cx="144780" cy="3200400"/>
          </a:xfrm>
          <a:prstGeom prst="righ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531688" y="4763869"/>
            <a:ext cx="1383712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Output from</a:t>
            </a:r>
          </a:p>
          <a:p>
            <a:r>
              <a:rPr lang="en-US" dirty="0"/>
              <a:t>5.2 unsigned</a:t>
            </a:r>
          </a:p>
          <a:p>
            <a:r>
              <a:rPr lang="en-US" dirty="0"/>
              <a:t>and signed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71625"/>
            <a:ext cx="6800850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4197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7709" y="0"/>
            <a:ext cx="9199418" cy="37407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 LECTURE CHAPTER No 02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83324"/>
            <a:ext cx="8508124" cy="59698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9082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1646" y="228600"/>
            <a:ext cx="9197518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STUDENTS’S  ASSIGNMENT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EXAMPLE 5.2 FOR 32-BITS ONLY</a:t>
            </a:r>
          </a:p>
          <a:p>
            <a:endParaRPr lang="en-US" sz="2800" b="1" dirty="0"/>
          </a:p>
          <a:p>
            <a:r>
              <a:rPr lang="en-US" sz="2800" b="1" dirty="0"/>
              <a:t>The students should get one output </a:t>
            </a:r>
            <a:r>
              <a:rPr lang="en-US" sz="2800" b="1" dirty="0" smtClean="0"/>
              <a:t>console result for 32-bit </a:t>
            </a:r>
          </a:p>
          <a:p>
            <a:r>
              <a:rPr lang="en-US" sz="2800" b="1" dirty="0"/>
              <a:t>f</a:t>
            </a:r>
            <a:r>
              <a:rPr lang="en-US" sz="2800" b="1" dirty="0" smtClean="0"/>
              <a:t>or unsigned and signed integer numbers.</a:t>
            </a:r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			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/>
              <a:t>Unsigned- Signed </a:t>
            </a:r>
            <a:r>
              <a:rPr lang="en-US" sz="2800" b="1" dirty="0" smtClean="0"/>
              <a:t>integer for 32-bits:</a:t>
            </a:r>
            <a:endParaRPr lang="en-US" sz="2800" b="1" dirty="0"/>
          </a:p>
          <a:p>
            <a:r>
              <a:rPr lang="en-US" sz="2800" b="1" dirty="0">
                <a:solidFill>
                  <a:srgbClr val="C00000"/>
                </a:solidFill>
              </a:rPr>
              <a:t>			Hexadecimal </a:t>
            </a:r>
            <a:r>
              <a:rPr lang="en-US" sz="2800" b="1" dirty="0" smtClean="0">
                <a:solidFill>
                  <a:srgbClr val="C00000"/>
                </a:solidFill>
              </a:rPr>
              <a:t>and its </a:t>
            </a:r>
            <a:r>
              <a:rPr lang="en-US" sz="2800" b="1" dirty="0">
                <a:solidFill>
                  <a:srgbClr val="C00000"/>
                </a:solidFill>
              </a:rPr>
              <a:t>bytes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			Hexadecimal and </a:t>
            </a:r>
            <a:r>
              <a:rPr lang="en-US" sz="2800" b="1" dirty="0" smtClean="0">
                <a:solidFill>
                  <a:srgbClr val="C00000"/>
                </a:solidFill>
              </a:rPr>
              <a:t>its addresses</a:t>
            </a:r>
            <a:endParaRPr lang="en-US" sz="2800" b="1" dirty="0">
              <a:solidFill>
                <a:srgbClr val="C00000"/>
              </a:solidFill>
            </a:endParaRPr>
          </a:p>
          <a:p>
            <a:endParaRPr lang="en-US" sz="2800" b="1" dirty="0"/>
          </a:p>
          <a:p>
            <a:endParaRPr lang="en-US" sz="2800" b="1" dirty="0"/>
          </a:p>
          <a:p>
            <a:pPr algn="ctr"/>
            <a:r>
              <a:rPr lang="en-US" sz="2800" b="1" dirty="0"/>
              <a:t>Total of </a:t>
            </a:r>
            <a:r>
              <a:rPr lang="en-US" sz="2800" b="1" dirty="0" smtClean="0"/>
              <a:t>1 output console result.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9445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7845966-6EFC-468A-9CC7-BAB4B95854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75554383-98AF-4A47-BB65-705FAAA4BE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DAD1991-FFD1-4E94-ABAB-7560D33008E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Picture 4" descr="MCj043441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1856" y="1172029"/>
            <a:ext cx="4015469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0570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="" xmlns:a16="http://schemas.microsoft.com/office/drawing/2014/main" id="{23962611-DFD5-4092-AAFD-559E3DFCE2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56616" y="0"/>
            <a:ext cx="818271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="" xmlns:a16="http://schemas.microsoft.com/office/drawing/2014/main" id="{2270F1FA-0425-408F-9861-80BF5AFB27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6021" name="WordArt 5"/>
          <p:cNvSpPr>
            <a:spLocks noChangeArrowheads="1" noChangeShapeType="1" noTextEdit="1"/>
          </p:cNvSpPr>
          <p:nvPr/>
        </p:nvSpPr>
        <p:spPr bwMode="auto">
          <a:xfrm>
            <a:off x="2284026" y="2043663"/>
            <a:ext cx="4578895" cy="2031055"/>
          </a:xfrm>
          <a:prstGeom prst="rect">
            <a:avLst/>
          </a:prstGeom>
        </p:spPr>
        <p:txBody>
          <a:bodyPr vert="horz" lIns="91440" tIns="45720" rIns="91440" bIns="45720" rtlCol="0" fromWordArt="1" anchor="b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1" kern="1200">
                <a:ln w="9525">
                  <a:solidFill>
                    <a:srgbClr val="8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B2B2B2">
                      <a:alpha val="80000"/>
                    </a:srgbClr>
                  </a:outerShdw>
                </a:effectLst>
                <a:latin typeface="+mj-lt"/>
                <a:ea typeface="+mj-ea"/>
                <a:cs typeface="+mj-cs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30992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292</Words>
  <Application>Microsoft Office PowerPoint</Application>
  <PresentationFormat>On-screen Show (4:3)</PresentationFormat>
  <Paragraphs>245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LABORATORY No 5</vt:lpstr>
      <vt:lpstr>PowerPoint Presentation</vt:lpstr>
      <vt:lpstr>REVIEW FROM PREVIOUS LABORATORY</vt:lpstr>
      <vt:lpstr>LABORATORY No 05 EXAMPLE  5.1 NOT FOR SUBMISSION </vt:lpstr>
      <vt:lpstr>LABORATORY No 05 EXAMPLE  5.2 FOR SUBMISSION</vt:lpstr>
      <vt:lpstr>LABORATORY No 05 EXAMPLE  5.2  FOR SUBMISSION</vt:lpstr>
      <vt:lpstr>PowerPoint Presentation</vt:lpstr>
      <vt:lpstr>PowerPoint Presentation</vt:lpstr>
      <vt:lpstr>PowerPoint Presentation</vt:lpstr>
      <vt:lpstr>LABORATORY No 05 EXAMPLE  5.2  FOR SUBMISSION</vt:lpstr>
      <vt:lpstr>LABORATORY No 05 EXAMPLE  5.2  FOR SUBMISSION</vt:lpstr>
      <vt:lpstr>LABORATORY No 05 EXAMPLE  5.2  FOR SUBMISSION</vt:lpstr>
      <vt:lpstr>LABORATORY No 05 EXAMPLE  5.2 UNSIGNED 32-BITS FOR SUBMISSION</vt:lpstr>
      <vt:lpstr>LABORATORY No 05 EXAMPLE  5.2 SIGNED 32-BITS FOR SUBMISSION</vt:lpstr>
      <vt:lpstr>PowerPoint Presentation</vt:lpstr>
      <vt:lpstr>PowerPoint Presentation</vt:lpstr>
      <vt:lpstr>APPENDIX LECTURE CHAPTER No 02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No 5</dc:title>
  <dc:creator>Ruben Velasquez-Rios</dc:creator>
  <cp:lastModifiedBy>Windows User</cp:lastModifiedBy>
  <cp:revision>62</cp:revision>
  <dcterms:created xsi:type="dcterms:W3CDTF">2020-09-30T18:48:51Z</dcterms:created>
  <dcterms:modified xsi:type="dcterms:W3CDTF">2021-03-11T01:11:31Z</dcterms:modified>
</cp:coreProperties>
</file>